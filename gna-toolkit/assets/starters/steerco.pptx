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64.xml" ContentType="application/vnd.openxmlformats-officedocument.presentationml.slide+xml"/>
  <Override PartName="/ppt/slides/slide80.xml" ContentType="application/vnd.openxmlformats-officedocument.presentationml.slide+xml"/>
  <Override PartName="/ppt/slides/slide84.xml" ContentType="application/vnd.openxmlformats-officedocument.presentationml.slide+xml"/>
  <Override PartName="/ppt/slides/slide86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  <Override PartName="/ppt/tags/gnatag2.xml" ContentType="application/vnd.openxmlformats-officedocument.presentationml.tags+xml"/>
  <Override PartName="/ppt/tags/gnatag3.xml" ContentType="application/vnd.openxmlformats-officedocument.presentationml.tags+xml"/>
  <Override PartName="/ppt/tags/gnatag4.xml" ContentType="application/vnd.openxmlformats-officedocument.presentationml.tags+xml"/>
  <Override PartName="/ppt/tags/gnatag5.xml" ContentType="application/vnd.openxmlformats-officedocument.presentationml.tags+xml"/>
  <Override PartName="/ppt/tags/gnatag6.xml" ContentType="application/vnd.openxmlformats-officedocument.presentationml.tags+xml"/>
  <Override PartName="/ppt/tags/gnatag7.xml" ContentType="application/vnd.openxmlformats-officedocument.presentationml.tags+xml"/>
  <Override PartName="/ppt/tags/gnatag8.xml" ContentType="application/vnd.openxmlformats-officedocument.presentationml.tags+xml"/>
  <Override PartName="/ppt/tags/gnatag9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41" r:id="rId8"/>
    <p:sldId id="2147473431" r:id="rId84"/>
    <p:sldId id="2147473382" r:id="rId39"/>
    <p:sldId id="2147473412" r:id="rId68"/>
    <p:sldId id="2147473435" r:id="rId88"/>
    <p:sldId id="2147473437" r:id="rId90"/>
    <p:sldId id="2147473440" r:id="rId93"/>
    <p:sldId id="2147471110" r:id="rId94"/>
    <p:sldId id="2147473423" r:id="rId9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102" Type="http://schemas.openxmlformats.org/officeDocument/2006/relationships/theme" Target="theme/theme1.xml"/><Relationship Id="rId90" Type="http://schemas.openxmlformats.org/officeDocument/2006/relationships/slide" Target="slides/slide86.xml"/><Relationship Id="rId103" Type="http://schemas.openxmlformats.org/officeDocument/2006/relationships/tableStyles" Target="tableStyles.xml"/><Relationship Id="rId88" Type="http://schemas.openxmlformats.org/officeDocument/2006/relationships/slide" Target="slides/slide84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94" Type="http://schemas.openxmlformats.org/officeDocument/2006/relationships/slide" Target="slides/slide90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39" Type="http://schemas.openxmlformats.org/officeDocument/2006/relationships/slide" Target="slides/slide35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93" Type="http://schemas.openxmlformats.org/officeDocument/2006/relationships/slide" Target="slides/slide89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35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150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5.emf"/><Relationship Id="rId4" Type="http://schemas.openxmlformats.org/officeDocument/2006/relationships/tags" Target="../tags/tag54.xml"/><Relationship Id="rId9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image" Target="../media/image1.png"/><Relationship Id="rId2" Type="http://schemas.openxmlformats.org/officeDocument/2006/relationships/tags" Target="../tags/tag66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image" Target="../media/image1.png"/><Relationship Id="rId2" Type="http://schemas.openxmlformats.org/officeDocument/2006/relationships/tags" Target="../tags/tag81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10" Type="http://schemas.openxmlformats.org/officeDocument/2006/relationships/tags" Target="../tags/tag104.xml"/><Relationship Id="rId19" Type="http://schemas.openxmlformats.org/officeDocument/2006/relationships/image" Target="../media/image1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10" Type="http://schemas.openxmlformats.org/officeDocument/2006/relationships/tags" Target="../tags/tag121.xml"/><Relationship Id="rId19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19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image" Target="../media/image1.png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7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78.xml"/><Relationship Id="rId9" Type="http://schemas.openxmlformats.org/officeDocument/2006/relationships/tags" Target="../tags/tag18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tags" Target="../tags/tag210.xml"/><Relationship Id="rId18" Type="http://schemas.openxmlformats.org/officeDocument/2006/relationships/image" Target="../media/image1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tags" Target="../tags/tag209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99.xml"/><Relationship Id="rId16" Type="http://schemas.openxmlformats.org/officeDocument/2006/relationships/tags" Target="../tags/tag213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5" Type="http://schemas.openxmlformats.org/officeDocument/2006/relationships/tags" Target="../tags/tag202.xml"/><Relationship Id="rId15" Type="http://schemas.openxmlformats.org/officeDocument/2006/relationships/tags" Target="../tags/tag212.xml"/><Relationship Id="rId10" Type="http://schemas.openxmlformats.org/officeDocument/2006/relationships/tags" Target="../tags/tag207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tags" Target="../tags/tag21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2" Type="http://schemas.openxmlformats.org/officeDocument/2006/relationships/tags" Target="../tags/tag215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tags" Target="../tags/tag228.xml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tags" Target="../tags/tag227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10" Type="http://schemas.openxmlformats.org/officeDocument/2006/relationships/tags" Target="../tags/tag238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13" Type="http://schemas.openxmlformats.org/officeDocument/2006/relationships/tags" Target="../tags/tag25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12" Type="http://schemas.openxmlformats.org/officeDocument/2006/relationships/tags" Target="../tags/tag257.xml"/><Relationship Id="rId17" Type="http://schemas.openxmlformats.org/officeDocument/2006/relationships/tags" Target="../tags/tag262.xml"/><Relationship Id="rId2" Type="http://schemas.openxmlformats.org/officeDocument/2006/relationships/tags" Target="../tags/tag247.xml"/><Relationship Id="rId16" Type="http://schemas.openxmlformats.org/officeDocument/2006/relationships/tags" Target="../tags/tag261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tags" Target="../tags/tag256.xml"/><Relationship Id="rId5" Type="http://schemas.openxmlformats.org/officeDocument/2006/relationships/tags" Target="../tags/tag250.xml"/><Relationship Id="rId15" Type="http://schemas.openxmlformats.org/officeDocument/2006/relationships/tags" Target="../tags/tag260.xml"/><Relationship Id="rId10" Type="http://schemas.openxmlformats.org/officeDocument/2006/relationships/tags" Target="../tags/tag255.xml"/><Relationship Id="rId19" Type="http://schemas.openxmlformats.org/officeDocument/2006/relationships/image" Target="../media/image1.png"/><Relationship Id="rId4" Type="http://schemas.openxmlformats.org/officeDocument/2006/relationships/tags" Target="../tags/tag249.xml"/><Relationship Id="rId9" Type="http://schemas.openxmlformats.org/officeDocument/2006/relationships/tags" Target="../tags/tag254.xml"/><Relationship Id="rId14" Type="http://schemas.openxmlformats.org/officeDocument/2006/relationships/tags" Target="../tags/tag25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70.xml"/><Relationship Id="rId13" Type="http://schemas.openxmlformats.org/officeDocument/2006/relationships/tags" Target="../tags/tag27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65.xml"/><Relationship Id="rId7" Type="http://schemas.openxmlformats.org/officeDocument/2006/relationships/tags" Target="../tags/tag269.xml"/><Relationship Id="rId12" Type="http://schemas.openxmlformats.org/officeDocument/2006/relationships/tags" Target="../tags/tag274.xml"/><Relationship Id="rId17" Type="http://schemas.openxmlformats.org/officeDocument/2006/relationships/tags" Target="../tags/tag279.xml"/><Relationship Id="rId2" Type="http://schemas.openxmlformats.org/officeDocument/2006/relationships/tags" Target="../tags/tag264.xml"/><Relationship Id="rId16" Type="http://schemas.openxmlformats.org/officeDocument/2006/relationships/tags" Target="../tags/tag278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tags" Target="../tags/tag273.xml"/><Relationship Id="rId5" Type="http://schemas.openxmlformats.org/officeDocument/2006/relationships/tags" Target="../tags/tag267.xml"/><Relationship Id="rId15" Type="http://schemas.openxmlformats.org/officeDocument/2006/relationships/tags" Target="../tags/tag277.xml"/><Relationship Id="rId10" Type="http://schemas.openxmlformats.org/officeDocument/2006/relationships/tags" Target="../tags/tag272.xml"/><Relationship Id="rId4" Type="http://schemas.openxmlformats.org/officeDocument/2006/relationships/tags" Target="../tags/tag266.xml"/><Relationship Id="rId9" Type="http://schemas.openxmlformats.org/officeDocument/2006/relationships/tags" Target="../tags/tag271.xml"/><Relationship Id="rId14" Type="http://schemas.openxmlformats.org/officeDocument/2006/relationships/tags" Target="../tags/tag27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87.xml"/><Relationship Id="rId13" Type="http://schemas.openxmlformats.org/officeDocument/2006/relationships/tags" Target="../tags/tag292.xml"/><Relationship Id="rId3" Type="http://schemas.openxmlformats.org/officeDocument/2006/relationships/tags" Target="../tags/tag282.xml"/><Relationship Id="rId7" Type="http://schemas.openxmlformats.org/officeDocument/2006/relationships/tags" Target="../tags/tag286.xml"/><Relationship Id="rId12" Type="http://schemas.openxmlformats.org/officeDocument/2006/relationships/tags" Target="../tags/tag291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11" Type="http://schemas.openxmlformats.org/officeDocument/2006/relationships/tags" Target="../tags/tag290.xml"/><Relationship Id="rId5" Type="http://schemas.openxmlformats.org/officeDocument/2006/relationships/tags" Target="../tags/tag284.xml"/><Relationship Id="rId10" Type="http://schemas.openxmlformats.org/officeDocument/2006/relationships/tags" Target="../tags/tag289.xml"/><Relationship Id="rId4" Type="http://schemas.openxmlformats.org/officeDocument/2006/relationships/tags" Target="../tags/tag283.xml"/><Relationship Id="rId9" Type="http://schemas.openxmlformats.org/officeDocument/2006/relationships/tags" Target="../tags/tag288.xml"/><Relationship Id="rId1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295.xml"/><Relationship Id="rId7" Type="http://schemas.openxmlformats.org/officeDocument/2006/relationships/oleObject" Target="../embeddings/oleObject2.bin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7.xml"/><Relationship Id="rId4" Type="http://schemas.openxmlformats.org/officeDocument/2006/relationships/tags" Target="../tags/tag29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2370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NA wave" descr="Decorative wave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7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29" name="GNA footer logo" descr="GNA 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9359" b="7017"/>
          <a:stretch>
            <a:fillRect/>
          </a:stretch>
        </p:blipFill>
        <p:spPr>
          <a:xfrm>
            <a:off x="2743200" y="2011680"/>
            <a:ext cx="9448495" cy="4846320"/>
          </a:xfrm>
          <a:prstGeom prst="rect">
            <a:avLst/>
          </a:prstGeom>
        </p:spPr>
      </p:pic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+mn-lt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81940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78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2504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8342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87970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NA wave" descr="Decorative wave"/>
          <p:cNvPicPr>
            <a:picLocks noChangeAspect="1"/>
          </p:cNvPicPr>
          <p:nvPr userDrawn="1"/>
        </p:nvPicPr>
        <p:blipFill>
          <a:blip r:embed="rId3"/>
          <a:srcRect l="10714" b="8928"/>
          <a:stretch>
            <a:fillRect/>
          </a:stretch>
        </p:blipFill>
        <p:spPr>
          <a:xfrm>
            <a:off x="0" y="2194560"/>
            <a:ext cx="4571999" cy="4663440"/>
          </a:xfrm>
          <a:prstGeom prst="rect">
            <a:avLst/>
          </a:prstGeom>
        </p:spPr>
      </p:pic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6138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0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38" r:id="rId27"/>
    <p:sldLayoutId id="2147484239" r:id="rId28"/>
    <p:sldLayoutId id="2147484240" r:id="rId29"/>
    <p:sldLayoutId id="2147484241" r:id="rId30"/>
    <p:sldLayoutId id="2147484242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.xml"/></Relationships>
</file>

<file path=ppt/slides/_rels/slide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Gna1" Type="http://schemas.openxmlformats.org/officeDocument/2006/relationships/tags" Target="../tags/gnatag3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4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2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5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6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7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8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9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NA wave" descr="Decorative wave"/>
          <p:cNvPicPr>
            <a:picLocks noChangeAspect="1"/>
          </p:cNvPicPr>
          <p:nvPr/>
        </p:nvPicPr>
        <p:blipFill>
          <a:blip r:embed="rId2"/>
          <a:srcRect r="9359" b="7017"/>
          <a:stretch>
            <a:fillRect/>
          </a:stretch>
        </p:blipFill>
        <p:spPr>
          <a:xfrm>
            <a:off x="-609600" y="-20870"/>
            <a:ext cx="13411200" cy="6878870"/>
          </a:xfrm>
          <a:prstGeom prst="rect">
            <a:avLst/>
          </a:prstGeom>
        </p:spPr>
      </p:pic>
      <p:pic>
        <p:nvPicPr>
          <p:cNvPr id="51" name="GNA cover logo" descr="Gheen &amp; Noyes Advisor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[Insert date]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[Subtitle]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[Title of document]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AEE01-5410-059F-1921-9B2FBF62F13E}"/>
              </a:ext>
            </a:extLst>
          </p:cNvPr>
          <p:cNvSpPr txBox="1"/>
          <p:nvPr/>
        </p:nvSpPr>
        <p:spPr>
          <a:xfrm>
            <a:off x="7001301" y="542498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607538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5806D-170E-EC9D-EC96-D24D1149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[Assessment or status overview / Insert action title]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269D688-DBE2-F38C-1F0C-74ECD45E84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41F702-BD1C-5BB3-2BBD-1FFF4F51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107138"/>
              </p:ext>
            </p:extLst>
          </p:nvPr>
        </p:nvGraphicFramePr>
        <p:xfrm>
          <a:off x="509334" y="1447023"/>
          <a:ext cx="11090275" cy="4554868"/>
        </p:xfrm>
        <a:graphic>
          <a:graphicData uri="http://schemas.openxmlformats.org/drawingml/2006/table">
            <a:tbl>
              <a:tblPr firstRow="1" bandRow="1"/>
              <a:tblGrid>
                <a:gridCol w="1529328">
                  <a:extLst>
                    <a:ext uri="{9D8B030D-6E8A-4147-A177-3AD203B41FA5}">
                      <a16:colId xmlns:a16="http://schemas.microsoft.com/office/drawing/2014/main" val="1671348256"/>
                    </a:ext>
                  </a:extLst>
                </a:gridCol>
                <a:gridCol w="2906782">
                  <a:extLst>
                    <a:ext uri="{9D8B030D-6E8A-4147-A177-3AD203B41FA5}">
                      <a16:colId xmlns:a16="http://schemas.microsoft.com/office/drawing/2014/main" val="3433937100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3674175211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710266631"/>
                    </a:ext>
                  </a:extLst>
                </a:gridCol>
                <a:gridCol w="2628137">
                  <a:extLst>
                    <a:ext uri="{9D8B030D-6E8A-4147-A177-3AD203B41FA5}">
                      <a16:colId xmlns:a16="http://schemas.microsoft.com/office/drawing/2014/main" val="819017608"/>
                    </a:ext>
                  </a:extLst>
                </a:gridCol>
              </a:tblGrid>
              <a:tr h="5466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Key Performance Indicators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Actual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49068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[Area/BU 1]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7082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700658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67490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4673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[Area/BU 2]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32327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002764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dimension]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9900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D9FF77A-D91D-BE7C-9D55-04767980A47F}"/>
              </a:ext>
            </a:extLst>
          </p:cNvPr>
          <p:cNvSpPr/>
          <p:nvPr/>
        </p:nvSpPr>
        <p:spPr>
          <a:xfrm>
            <a:off x="11164566" y="2171351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D01FA4-D45B-22DE-6C14-5D8A9EDAE042}"/>
              </a:ext>
            </a:extLst>
          </p:cNvPr>
          <p:cNvSpPr/>
          <p:nvPr/>
        </p:nvSpPr>
        <p:spPr>
          <a:xfrm>
            <a:off x="11164566" y="2741762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102AE-EAAA-BFA7-F09B-6D3B11B6E943}"/>
              </a:ext>
            </a:extLst>
          </p:cNvPr>
          <p:cNvSpPr/>
          <p:nvPr/>
        </p:nvSpPr>
        <p:spPr>
          <a:xfrm>
            <a:off x="11164566" y="3312173"/>
            <a:ext cx="288000" cy="288000"/>
          </a:xfrm>
          <a:prstGeom prst="ellipse">
            <a:avLst/>
          </a:prstGeom>
          <a:solidFill>
            <a:srgbClr val="E55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BC513E-9B16-351A-B913-AB919409C240}"/>
              </a:ext>
            </a:extLst>
          </p:cNvPr>
          <p:cNvSpPr/>
          <p:nvPr/>
        </p:nvSpPr>
        <p:spPr>
          <a:xfrm>
            <a:off x="11164566" y="3882584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6CABEA-E6C1-7866-0FF7-27C17334A39D}"/>
              </a:ext>
            </a:extLst>
          </p:cNvPr>
          <p:cNvSpPr/>
          <p:nvPr/>
        </p:nvSpPr>
        <p:spPr>
          <a:xfrm>
            <a:off x="11164566" y="5023406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CD2DBF-5451-9966-19CC-1EFAEC72D536}"/>
              </a:ext>
            </a:extLst>
          </p:cNvPr>
          <p:cNvSpPr/>
          <p:nvPr/>
        </p:nvSpPr>
        <p:spPr>
          <a:xfrm>
            <a:off x="11164566" y="5593815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830A5F-0E10-930C-DD95-E2B1159B0DCE}"/>
              </a:ext>
            </a:extLst>
          </p:cNvPr>
          <p:cNvSpPr/>
          <p:nvPr/>
        </p:nvSpPr>
        <p:spPr>
          <a:xfrm>
            <a:off x="11164566" y="4452995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E77C89-042D-689B-06E9-B34CA7114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33" y="2652477"/>
            <a:ext cx="57150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DB9EB5-9802-8839-D4D2-DFD3C742A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33" y="4671248"/>
            <a:ext cx="571500" cy="571500"/>
          </a:xfrm>
          <a:prstGeom prst="rect">
            <a:avLst/>
          </a:prstGeom>
        </p:spPr>
      </p:pic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277A3174-4E0E-C4A7-AEE3-8AB4A1C6FDE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25043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38;p14">
            <a:extLst>
              <a:ext uri="{FF2B5EF4-FFF2-40B4-BE49-F238E27FC236}">
                <a16:creationId xmlns:a16="http://schemas.microsoft.com/office/drawing/2014/main" id="{E12E75DD-FB2F-734A-38AF-5DD5ABAC7727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solidFill>
                <a:srgbClr val="025043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7642-1A63-A9D6-0F0D-0F9DE019D6D2}"/>
              </a:ext>
            </a:extLst>
          </p:cNvPr>
          <p:cNvSpPr txBox="1"/>
          <p:nvPr/>
        </p:nvSpPr>
        <p:spPr>
          <a:xfrm>
            <a:off x="13563600" y="195430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0019696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Risks mainly in [risk area 1] and [risk area 2]</a:t>
            </a:r>
            <a:endParaRPr lang="en-DK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FE9EF87-A5DD-3AE1-4888-6FED1017C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ECC3D-72A6-52CD-41F7-101546A520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554737" y="2080661"/>
            <a:ext cx="4153742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5208129" y="2080661"/>
            <a:ext cx="4153852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Potential mitigation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554736" y="3223925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554736" y="262892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e.g., proliferation of rumors on why certain teams are downsized]</a:t>
            </a:r>
            <a:endParaRPr kumimoji="0" lang="en-US" sz="120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lang="en-US" sz="9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2CBEE-60EE-2CEE-1DCB-E932F04D47A1}"/>
              </a:ext>
            </a:extLst>
          </p:cNvPr>
          <p:cNvSpPr txBox="1"/>
          <p:nvPr/>
        </p:nvSpPr>
        <p:spPr>
          <a:xfrm>
            <a:off x="554736" y="3384199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8C0CF-B2DC-CA79-261D-41188F8EE430}"/>
              </a:ext>
            </a:extLst>
          </p:cNvPr>
          <p:cNvSpPr txBox="1"/>
          <p:nvPr/>
        </p:nvSpPr>
        <p:spPr>
          <a:xfrm>
            <a:off x="554736" y="413947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6BF78-9C98-4638-6224-3521154E7FBE}"/>
              </a:ext>
            </a:extLst>
          </p:cNvPr>
          <p:cNvSpPr txBox="1"/>
          <p:nvPr/>
        </p:nvSpPr>
        <p:spPr>
          <a:xfrm>
            <a:off x="554736" y="4894749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87DAF-4B0D-41B4-EF55-94BC04884B24}"/>
              </a:ext>
            </a:extLst>
          </p:cNvPr>
          <p:cNvSpPr txBox="1"/>
          <p:nvPr/>
        </p:nvSpPr>
        <p:spPr>
          <a:xfrm>
            <a:off x="554736" y="5650028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339F5-9942-196B-57A9-994F67F159C9}"/>
              </a:ext>
            </a:extLst>
          </p:cNvPr>
          <p:cNvSpPr txBox="1"/>
          <p:nvPr/>
        </p:nvSpPr>
        <p:spPr>
          <a:xfrm>
            <a:off x="5208246" y="262892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e.g., full transparency on cost cutting measures to make rationale clear]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4D4AA-03E9-B2DD-B71F-9574FE254E20}"/>
              </a:ext>
            </a:extLst>
          </p:cNvPr>
          <p:cNvSpPr txBox="1"/>
          <p:nvPr/>
        </p:nvSpPr>
        <p:spPr>
          <a:xfrm>
            <a:off x="5208246" y="3384200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CD754-573A-6DAC-52EA-F1EBC37275FD}"/>
              </a:ext>
            </a:extLst>
          </p:cNvPr>
          <p:cNvSpPr txBox="1"/>
          <p:nvPr/>
        </p:nvSpPr>
        <p:spPr>
          <a:xfrm>
            <a:off x="5208246" y="4139476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BE137-51E7-9422-BD26-0DAF300CC471}"/>
              </a:ext>
            </a:extLst>
          </p:cNvPr>
          <p:cNvSpPr txBox="1"/>
          <p:nvPr/>
        </p:nvSpPr>
        <p:spPr>
          <a:xfrm>
            <a:off x="5208246" y="4894752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88E208-D080-7D08-95B3-EEF04432511C}"/>
              </a:ext>
            </a:extLst>
          </p:cNvPr>
          <p:cNvSpPr txBox="1"/>
          <p:nvPr/>
        </p:nvSpPr>
        <p:spPr>
          <a:xfrm>
            <a:off x="5208246" y="5650028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6341ED-D03D-CE45-0A0A-69DCBC227858}"/>
              </a:ext>
            </a:extLst>
          </p:cNvPr>
          <p:cNvCxnSpPr>
            <a:cxnSpLocks/>
          </p:cNvCxnSpPr>
          <p:nvPr/>
        </p:nvCxnSpPr>
        <p:spPr>
          <a:xfrm flipH="1">
            <a:off x="554736" y="3979200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B9E125-D0F8-2064-F205-C0A2855DC9E4}"/>
              </a:ext>
            </a:extLst>
          </p:cNvPr>
          <p:cNvCxnSpPr>
            <a:cxnSpLocks/>
          </p:cNvCxnSpPr>
          <p:nvPr/>
        </p:nvCxnSpPr>
        <p:spPr>
          <a:xfrm flipH="1">
            <a:off x="554736" y="4734475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C6F76E-8FED-453C-B4CB-109B0080D756}"/>
              </a:ext>
            </a:extLst>
          </p:cNvPr>
          <p:cNvCxnSpPr>
            <a:cxnSpLocks/>
          </p:cNvCxnSpPr>
          <p:nvPr/>
        </p:nvCxnSpPr>
        <p:spPr>
          <a:xfrm flipH="1">
            <a:off x="554736" y="5489750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22">
            <a:extLst>
              <a:ext uri="{FF2B5EF4-FFF2-40B4-BE49-F238E27FC236}">
                <a16:creationId xmlns:a16="http://schemas.microsoft.com/office/drawing/2014/main" id="{46433443-3355-CB7D-B7EA-93B05C20AAFF}"/>
              </a:ext>
            </a:extLst>
          </p:cNvPr>
          <p:cNvSpPr/>
          <p:nvPr/>
        </p:nvSpPr>
        <p:spPr>
          <a:xfrm rot="5400000">
            <a:off x="4815210" y="2743004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4DFBD740-AAE8-22AA-FA3E-B019709B2D36}"/>
              </a:ext>
            </a:extLst>
          </p:cNvPr>
          <p:cNvSpPr/>
          <p:nvPr/>
        </p:nvSpPr>
        <p:spPr>
          <a:xfrm rot="5400000">
            <a:off x="4815210" y="3498280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5060892F-4C9E-141F-318A-905A00A61D2B}"/>
              </a:ext>
            </a:extLst>
          </p:cNvPr>
          <p:cNvSpPr/>
          <p:nvPr/>
        </p:nvSpPr>
        <p:spPr>
          <a:xfrm rot="5400000">
            <a:off x="4815210" y="4253556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6A8BD92B-0725-F1A2-9BB0-3DDB55E01A48}"/>
              </a:ext>
            </a:extLst>
          </p:cNvPr>
          <p:cNvSpPr/>
          <p:nvPr/>
        </p:nvSpPr>
        <p:spPr>
          <a:xfrm rot="5400000">
            <a:off x="4815210" y="5008832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73895E46-D080-70D5-1ECC-81A3F90F0F50}"/>
              </a:ext>
            </a:extLst>
          </p:cNvPr>
          <p:cNvSpPr/>
          <p:nvPr/>
        </p:nvSpPr>
        <p:spPr>
          <a:xfrm rot="5400000">
            <a:off x="4815209" y="5764108"/>
            <a:ext cx="286189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34424-1A59-F582-79D7-D256D270027F}"/>
              </a:ext>
            </a:extLst>
          </p:cNvPr>
          <p:cNvSpPr/>
          <p:nvPr/>
        </p:nvSpPr>
        <p:spPr>
          <a:xfrm>
            <a:off x="9861630" y="2080661"/>
            <a:ext cx="1775633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 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3B86B7-A257-9987-D6B4-60C3762B2694}"/>
              </a:ext>
            </a:extLst>
          </p:cNvPr>
          <p:cNvSpPr/>
          <p:nvPr/>
        </p:nvSpPr>
        <p:spPr>
          <a:xfrm>
            <a:off x="9400265" y="2468650"/>
            <a:ext cx="423082" cy="3674479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BC5CB14-32E5-FFB7-551B-20F9156F9E20}"/>
              </a:ext>
            </a:extLst>
          </p:cNvPr>
          <p:cNvCxnSpPr/>
          <p:nvPr/>
        </p:nvCxnSpPr>
        <p:spPr>
          <a:xfrm>
            <a:off x="9611806" y="2536890"/>
            <a:ext cx="0" cy="3674479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8B5E638-88F3-5DE6-A6F1-9E31BB6DA766}"/>
              </a:ext>
            </a:extLst>
          </p:cNvPr>
          <p:cNvSpPr txBox="1"/>
          <p:nvPr/>
        </p:nvSpPr>
        <p:spPr>
          <a:xfrm>
            <a:off x="9940834" y="1318966"/>
            <a:ext cx="1696430" cy="23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Initial view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A43172-69B5-2336-00B4-968019A25F58}"/>
              </a:ext>
            </a:extLst>
          </p:cNvPr>
          <p:cNvSpPr>
            <a:spLocks noChangeAspect="1"/>
          </p:cNvSpPr>
          <p:nvPr/>
        </p:nvSpPr>
        <p:spPr>
          <a:xfrm>
            <a:off x="10566566" y="2663407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BCAF1B-D13D-7C5F-A585-5F724168A942}"/>
              </a:ext>
            </a:extLst>
          </p:cNvPr>
          <p:cNvSpPr>
            <a:spLocks noChangeAspect="1"/>
          </p:cNvSpPr>
          <p:nvPr/>
        </p:nvSpPr>
        <p:spPr>
          <a:xfrm>
            <a:off x="10566566" y="3418683"/>
            <a:ext cx="365760" cy="36576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D435A20-AA3D-B17B-E712-4F6D00F976D0}"/>
              </a:ext>
            </a:extLst>
          </p:cNvPr>
          <p:cNvSpPr>
            <a:spLocks noChangeAspect="1"/>
          </p:cNvSpPr>
          <p:nvPr/>
        </p:nvSpPr>
        <p:spPr>
          <a:xfrm>
            <a:off x="10566566" y="4173959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F61F9F7-F300-2DA0-2FF3-DF7A5CE7AF84}"/>
              </a:ext>
            </a:extLst>
          </p:cNvPr>
          <p:cNvSpPr>
            <a:spLocks noChangeAspect="1"/>
          </p:cNvSpPr>
          <p:nvPr/>
        </p:nvSpPr>
        <p:spPr>
          <a:xfrm>
            <a:off x="10566566" y="4929235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F04001-65A2-EE9C-7C5F-FDF6AAA831EB}"/>
              </a:ext>
            </a:extLst>
          </p:cNvPr>
          <p:cNvSpPr>
            <a:spLocks noChangeAspect="1"/>
          </p:cNvSpPr>
          <p:nvPr/>
        </p:nvSpPr>
        <p:spPr>
          <a:xfrm>
            <a:off x="10566566" y="5684511"/>
            <a:ext cx="365760" cy="36576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9839853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[Meeting name], [date]: agenda</a:t>
            </a:r>
          </a:p>
        </p:txBody>
      </p:sp>
      <p:graphicFrame>
        <p:nvGraphicFramePr>
          <p:cNvPr id="3" name="Agenda table"/>
          <p:cNvGraphicFramePr>
            <a:graphicFrameLocks noGrp="1"/>
          </p:cNvGraphicFramePr>
          <p:nvPr/>
        </p:nvGraphicFramePr>
        <p:xfrm>
          <a:off x="557784" y="1508760"/>
          <a:ext cx="11082528" cy="37124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Topic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Purpose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Lead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[09:00]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[Welcome and objectives]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[Agree what we need to leave with]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[09:15]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[Where we are today]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[Share progress and findings]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[09:45]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[Options discussion]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[Test the three options against our criteria]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[10:30]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[Break]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[10:45]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[Recommendation]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[Decide on the preferred option]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[11:30]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[Next steps and owners]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[Confirm actions, owners and dates]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Pre-read"/>
          <p:cNvSpPr txBox="1"/>
          <p:nvPr/>
        </p:nvSpPr>
        <p:spPr>
          <a:xfrm>
            <a:off x="557784" y="5440680"/>
            <a:ext cx="110825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Pre-read: </a:t>
            </a:r>
            <a:r>
              <a:rPr sz="1100" b="0" i="0">
                <a:solidFill>
                  <a:srgbClr val="8C8C8C"/>
                </a:solidFill>
              </a:rPr>
              <a:t>[Link or document name, circulated by date]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[Project name] status, week of [date]</a:t>
            </a:r>
          </a:p>
        </p:txBody>
      </p:sp>
      <p:sp>
        <p:nvSpPr>
          <p:cNvPr id="3" name="Status pill"/>
          <p:cNvSpPr/>
          <p:nvPr/>
        </p:nvSpPr>
        <p:spPr>
          <a:xfrm>
            <a:off x="9994392" y="1399032"/>
            <a:ext cx="1645920" cy="310896"/>
          </a:xfrm>
          <a:prstGeom prst="roundRect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4" name="Overall status"/>
          <p:cNvSpPr txBox="1"/>
          <p:nvPr/>
        </p:nvSpPr>
        <p:spPr>
          <a:xfrm>
            <a:off x="557784" y="141732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Overall: </a:t>
            </a:r>
            <a:r>
              <a:rPr sz="1300" b="0" i="0">
                <a:solidFill>
                  <a:srgbClr val="262626"/>
                </a:solidFill>
              </a:rPr>
              <a:t>[One sentence on where the project stands against plan]</a:t>
            </a:r>
          </a:p>
        </p:txBody>
      </p:sp>
      <p:sp>
        <p:nvSpPr>
          <p:cNvPr id="5" name="Column 1 header"/>
          <p:cNvSpPr txBox="1"/>
          <p:nvPr/>
        </p:nvSpPr>
        <p:spPr>
          <a:xfrm>
            <a:off x="557784" y="2148840"/>
            <a:ext cx="3450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Done this period</a:t>
            </a:r>
          </a:p>
        </p:txBody>
      </p:sp>
      <p:cxnSp>
        <p:nvCxnSpPr>
          <p:cNvPr id="6" name="Column 1 rule"/>
          <p:cNvCxnSpPr/>
          <p:nvPr/>
        </p:nvCxnSpPr>
        <p:spPr>
          <a:xfrm>
            <a:off x="557784" y="2542032"/>
            <a:ext cx="3450335" cy="0"/>
          </a:xfrm>
          <a:prstGeom prst="line">
            <a:avLst/>
          </a:prstGeom>
          <a:ln w="15875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lumn 1 items"/>
          <p:cNvSpPr txBox="1"/>
          <p:nvPr/>
        </p:nvSpPr>
        <p:spPr>
          <a:xfrm>
            <a:off x="557784" y="2697480"/>
            <a:ext cx="345033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</p:txBody>
      </p:sp>
      <p:sp>
        <p:nvSpPr>
          <p:cNvPr id="8" name="Column 2 header"/>
          <p:cNvSpPr txBox="1"/>
          <p:nvPr/>
        </p:nvSpPr>
        <p:spPr>
          <a:xfrm>
            <a:off x="4373880" y="2148840"/>
            <a:ext cx="3450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Coming next</a:t>
            </a:r>
          </a:p>
        </p:txBody>
      </p:sp>
      <p:cxnSp>
        <p:nvCxnSpPr>
          <p:cNvPr id="9" name="Column 2 rule"/>
          <p:cNvCxnSpPr/>
          <p:nvPr/>
        </p:nvCxnSpPr>
        <p:spPr>
          <a:xfrm>
            <a:off x="4373880" y="2542032"/>
            <a:ext cx="3450336" cy="0"/>
          </a:xfrm>
          <a:prstGeom prst="line">
            <a:avLst/>
          </a:prstGeom>
          <a:ln w="15875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umn 2 items"/>
          <p:cNvSpPr txBox="1"/>
          <p:nvPr/>
        </p:nvSpPr>
        <p:spPr>
          <a:xfrm>
            <a:off x="4373880" y="2697480"/>
            <a:ext cx="345033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</p:txBody>
      </p:sp>
      <p:sp>
        <p:nvSpPr>
          <p:cNvPr id="11" name="Column 3 header"/>
          <p:cNvSpPr txBox="1"/>
          <p:nvPr/>
        </p:nvSpPr>
        <p:spPr>
          <a:xfrm>
            <a:off x="8189975" y="2148840"/>
            <a:ext cx="3450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C8C8C"/>
                </a:solidFill>
              </a:rPr>
              <a:t>Risks and asks</a:t>
            </a:r>
          </a:p>
        </p:txBody>
      </p:sp>
      <p:cxnSp>
        <p:nvCxnSpPr>
          <p:cNvPr id="12" name="Column 3 rule"/>
          <p:cNvCxnSpPr/>
          <p:nvPr/>
        </p:nvCxnSpPr>
        <p:spPr>
          <a:xfrm>
            <a:off x="8189975" y="2542032"/>
            <a:ext cx="3450336" cy="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lumn 3 items"/>
          <p:cNvSpPr txBox="1"/>
          <p:nvPr/>
        </p:nvSpPr>
        <p:spPr>
          <a:xfrm>
            <a:off x="8189975" y="2697480"/>
            <a:ext cx="345033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tracker</a:t>
            </a:r>
          </a:p>
        </p:txBody>
      </p:sp>
      <p:graphicFrame>
        <p:nvGraphicFramePr>
          <p:cNvPr id="3" name="Action table"/>
          <p:cNvGraphicFramePr>
            <a:graphicFrameLocks noGrp="1"/>
          </p:cNvGraphicFramePr>
          <p:nvPr/>
        </p:nvGraphicFramePr>
        <p:xfrm>
          <a:off x="557784" y="1508760"/>
          <a:ext cx="11082528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Owner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Due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9188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8C8C"/>
                          </a:solidFill>
                        </a:rPr>
                        <a:t>At risk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C8C8C"/>
                          </a:solidFill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On track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[Action, starting with a verb]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[dd mmm]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B9188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Gna1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[Five milestones take us from kick-off to launch / Insert action title]</a:t>
            </a:r>
          </a:p>
        </p:txBody>
      </p:sp>
      <p:cxnSp>
        <p:nvCxnSpPr>
          <p:cNvPr id="3" name="Timeline line"/>
          <p:cNvCxnSpPr/>
          <p:nvPr/>
        </p:nvCxnSpPr>
        <p:spPr>
          <a:xfrm>
            <a:off x="557784" y="3429000"/>
            <a:ext cx="11082527" cy="0"/>
          </a:xfrm>
          <a:prstGeom prst="line">
            <a:avLst/>
          </a:prstGeom>
          <a:ln w="25400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ilestone 1 marker"/>
          <p:cNvSpPr/>
          <p:nvPr/>
        </p:nvSpPr>
        <p:spPr>
          <a:xfrm>
            <a:off x="1271016" y="3227832"/>
            <a:ext cx="402336" cy="402336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Milestone 1 date"/>
          <p:cNvSpPr txBox="1"/>
          <p:nvPr/>
        </p:nvSpPr>
        <p:spPr>
          <a:xfrm>
            <a:off x="466343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25043"/>
                </a:solidFill>
              </a:rPr>
              <a:t>[Month yyyy]</a:t>
            </a:r>
          </a:p>
        </p:txBody>
      </p:sp>
      <p:sp>
        <p:nvSpPr>
          <p:cNvPr id="6" name="Milestone 1 label"/>
          <p:cNvSpPr txBox="1"/>
          <p:nvPr/>
        </p:nvSpPr>
        <p:spPr>
          <a:xfrm>
            <a:off x="420623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1]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7" name="Milestone 2 marker"/>
          <p:cNvSpPr/>
          <p:nvPr/>
        </p:nvSpPr>
        <p:spPr>
          <a:xfrm>
            <a:off x="3584447" y="3227832"/>
            <a:ext cx="402336" cy="402336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Milestone 2 date"/>
          <p:cNvSpPr txBox="1"/>
          <p:nvPr/>
        </p:nvSpPr>
        <p:spPr>
          <a:xfrm>
            <a:off x="2779775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25043"/>
                </a:solidFill>
              </a:rPr>
              <a:t>[Month yyyy]</a:t>
            </a:r>
          </a:p>
        </p:txBody>
      </p:sp>
      <p:sp>
        <p:nvSpPr>
          <p:cNvPr id="9" name="Milestone 2 label"/>
          <p:cNvSpPr txBox="1"/>
          <p:nvPr/>
        </p:nvSpPr>
        <p:spPr>
          <a:xfrm>
            <a:off x="2734056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2]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0" name="Milestone 3 marker"/>
          <p:cNvSpPr/>
          <p:nvPr/>
        </p:nvSpPr>
        <p:spPr>
          <a:xfrm>
            <a:off x="5897880" y="32278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5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25043"/>
                </a:solidFill>
              </a:rPr>
              <a:t>3</a:t>
            </a:r>
          </a:p>
        </p:txBody>
      </p:sp>
      <p:sp>
        <p:nvSpPr>
          <p:cNvPr id="11" name="Milestone 3 date"/>
          <p:cNvSpPr txBox="1"/>
          <p:nvPr/>
        </p:nvSpPr>
        <p:spPr>
          <a:xfrm>
            <a:off x="5093208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</a:rPr>
              <a:t>[Month yyyy]</a:t>
            </a:r>
          </a:p>
        </p:txBody>
      </p:sp>
      <p:sp>
        <p:nvSpPr>
          <p:cNvPr id="12" name="Milestone 3 label"/>
          <p:cNvSpPr txBox="1"/>
          <p:nvPr/>
        </p:nvSpPr>
        <p:spPr>
          <a:xfrm>
            <a:off x="5047488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3]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3" name="Milestone 4 marker"/>
          <p:cNvSpPr/>
          <p:nvPr/>
        </p:nvSpPr>
        <p:spPr>
          <a:xfrm>
            <a:off x="8211311" y="32278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5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25043"/>
                </a:solidFill>
              </a:rPr>
              <a:t>4</a:t>
            </a:r>
          </a:p>
        </p:txBody>
      </p:sp>
      <p:sp>
        <p:nvSpPr>
          <p:cNvPr id="14" name="Milestone 4 date"/>
          <p:cNvSpPr txBox="1"/>
          <p:nvPr/>
        </p:nvSpPr>
        <p:spPr>
          <a:xfrm>
            <a:off x="7406640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</a:rPr>
              <a:t>[Month yyyy]</a:t>
            </a:r>
          </a:p>
        </p:txBody>
      </p:sp>
      <p:sp>
        <p:nvSpPr>
          <p:cNvPr id="15" name="Milestone 4 label"/>
          <p:cNvSpPr txBox="1"/>
          <p:nvPr/>
        </p:nvSpPr>
        <p:spPr>
          <a:xfrm>
            <a:off x="7360919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4]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6" name="Milestone 5 marker"/>
          <p:cNvSpPr/>
          <p:nvPr/>
        </p:nvSpPr>
        <p:spPr>
          <a:xfrm>
            <a:off x="10524743" y="32278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5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025043"/>
                </a:solidFill>
              </a:rPr>
              <a:t>5</a:t>
            </a:r>
          </a:p>
        </p:txBody>
      </p:sp>
      <p:sp>
        <p:nvSpPr>
          <p:cNvPr id="17" name="Milestone 5 date"/>
          <p:cNvSpPr txBox="1"/>
          <p:nvPr/>
        </p:nvSpPr>
        <p:spPr>
          <a:xfrm>
            <a:off x="9720072" y="2377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</a:rPr>
              <a:t>[Month yyyy]</a:t>
            </a:r>
          </a:p>
        </p:txBody>
      </p:sp>
      <p:sp>
        <p:nvSpPr>
          <p:cNvPr id="18" name="Milestone 5 label"/>
          <p:cNvSpPr txBox="1"/>
          <p:nvPr/>
        </p:nvSpPr>
        <p:spPr>
          <a:xfrm>
            <a:off x="9674351" y="38404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62626"/>
                </a:solidFill>
              </a:rPr>
              <a:t>[Milestone 5]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8C8C8C"/>
                </a:solidFill>
              </a:rPr>
              <a:t>[What is true at this point]</a:t>
            </a:r>
          </a:p>
        </p:txBody>
      </p:sp>
      <p:sp>
        <p:nvSpPr>
          <p:cNvPr id="19" name="Today marker"/>
          <p:cNvSpPr/>
          <p:nvPr/>
        </p:nvSpPr>
        <p:spPr>
          <a:xfrm rot="10800000">
            <a:off x="4832603" y="2926080"/>
            <a:ext cx="219456" cy="182880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oday label"/>
          <p:cNvSpPr txBox="1"/>
          <p:nvPr/>
        </p:nvSpPr>
        <p:spPr>
          <a:xfrm>
            <a:off x="4393692" y="2560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</a:rPr>
              <a:t>Today</a:t>
            </a:r>
          </a:p>
        </p:txBody>
      </p:sp>
      <p:sp>
        <p:nvSpPr>
          <p:cNvPr id="21" name="Critical path"/>
          <p:cNvSpPr txBox="1"/>
          <p:nvPr/>
        </p:nvSpPr>
        <p:spPr>
          <a:xfrm>
            <a:off x="557784" y="5486400"/>
            <a:ext cx="11082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5043"/>
                </a:solidFill>
              </a:rPr>
              <a:t>Critical path: </a:t>
            </a:r>
            <a:r>
              <a:rPr sz="1200" b="0" i="0">
                <a:solidFill>
                  <a:srgbClr val="262626"/>
                </a:solidFill>
              </a:rPr>
              <a:t>[The one dependency that could move the launch date]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7A54DB6-C576-7370-85C6-0E509988693E}"/>
              </a:ext>
            </a:extLst>
          </p:cNvPr>
          <p:cNvSpPr/>
          <p:nvPr/>
        </p:nvSpPr>
        <p:spPr>
          <a:xfrm>
            <a:off x="550864" y="1862254"/>
            <a:ext cx="11086400" cy="44716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C7DEF-3BAC-96FE-6DB3-AE61774F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next steps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2A9471-9C5C-9978-9851-9B646AAC9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557EB32-A946-B22D-F226-E3334B519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1E3C7-240F-FFA0-8CBA-5920CDAADD07}"/>
              </a:ext>
            </a:extLst>
          </p:cNvPr>
          <p:cNvSpPr txBox="1"/>
          <p:nvPr/>
        </p:nvSpPr>
        <p:spPr>
          <a:xfrm>
            <a:off x="4362994" y="436299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ED5BB-D710-D909-1246-F805C6C81B19}"/>
              </a:ext>
            </a:extLst>
          </p:cNvPr>
          <p:cNvSpPr txBox="1"/>
          <p:nvPr/>
        </p:nvSpPr>
        <p:spPr>
          <a:xfrm>
            <a:off x="1148576" y="23042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BA9D9-BEB6-2CAA-AA04-0A3D1B4EC2F8}"/>
              </a:ext>
            </a:extLst>
          </p:cNvPr>
          <p:cNvSpPr txBox="1"/>
          <p:nvPr/>
        </p:nvSpPr>
        <p:spPr>
          <a:xfrm>
            <a:off x="1148576" y="313785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A8D24-B155-9B71-C069-A3DF99CC3E0C}"/>
              </a:ext>
            </a:extLst>
          </p:cNvPr>
          <p:cNvSpPr txBox="1"/>
          <p:nvPr/>
        </p:nvSpPr>
        <p:spPr>
          <a:xfrm>
            <a:off x="1148576" y="397147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1EC0C-0997-05FA-C1CC-C8DF5C67CD71}"/>
              </a:ext>
            </a:extLst>
          </p:cNvPr>
          <p:cNvSpPr txBox="1"/>
          <p:nvPr/>
        </p:nvSpPr>
        <p:spPr>
          <a:xfrm>
            <a:off x="1148576" y="480510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0EEC8F-20A1-E02B-8363-72FC5984AE91}"/>
              </a:ext>
            </a:extLst>
          </p:cNvPr>
          <p:cNvSpPr txBox="1"/>
          <p:nvPr/>
        </p:nvSpPr>
        <p:spPr>
          <a:xfrm>
            <a:off x="1148576" y="56387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B3F14D8-8F9B-B5B8-BE44-2A860824A48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23835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9BF1F967-C12C-A930-4E6A-A0A00630DBCB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321712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34807CA8-3DCA-2F3E-3D0B-7DB0294CBD2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05075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4EA1C99-3B87-CD29-1A42-E798C644F701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88437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34A1ECE9-2F48-5F35-3B14-5751DFDA240A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57180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Google Shape;746;p20">
            <a:extLst>
              <a:ext uri="{FF2B5EF4-FFF2-40B4-BE49-F238E27FC236}">
                <a16:creationId xmlns:a16="http://schemas.microsoft.com/office/drawing/2014/main" id="{3221E599-C4D0-8AD4-32B4-9CA4B7CD460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081789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[name]@gheennoyesadvisory.com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[Contact name], [Title]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166B1-5150-EEE1-B625-BE6A33CCA4D9}"/>
              </a:ext>
            </a:extLst>
          </p:cNvPr>
          <p:cNvSpPr txBox="1"/>
          <p:nvPr/>
        </p:nvSpPr>
        <p:spPr>
          <a:xfrm>
            <a:off x="5056496" y="53976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0D94B-BA0B-89F8-1EEC-DCF94F26CA94}"/>
              </a:ext>
            </a:extLst>
          </p:cNvPr>
          <p:cNvSpPr txBox="1"/>
          <p:nvPr/>
        </p:nvSpPr>
        <p:spPr>
          <a:xfrm>
            <a:off x="7001301" y="300250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7832327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"/>
  <p:tag name="GNA_TEMPLATE_VERSION" val="1.0.0"/>
</p:tagLst>
</file>

<file path=ppt/tags/gna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0"/>
  <p:tag name="GNA_TEMPLATE_VERSION" val="1.0.0"/>
</p:tagLst>
</file>

<file path=ppt/tags/gna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5"/>
  <p:tag name="GNA_TEMPLATE_VERSION" val="1.0.0"/>
</p:tagLst>
</file>

<file path=ppt/tags/gna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4"/>
  <p:tag name="GNA_TEMPLATE_VERSION" val="1.0.0"/>
</p:tagLst>
</file>

<file path=ppt/tags/gna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4"/>
  <p:tag name="GNA_TEMPLATE_VERSION" val="1.0.0"/>
</p:tagLst>
</file>

<file path=ppt/tags/gna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6"/>
  <p:tag name="GNA_TEMPLATE_VERSION" val="1.0.0"/>
</p:tagLst>
</file>

<file path=ppt/tags/gna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9"/>
  <p:tag name="GNA_TEMPLATE_VERSION" val="1.0.0"/>
</p:tagLst>
</file>

<file path=ppt/tags/gna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0"/>
  <p:tag name="GNA_TEMPLATE_VERSION" val="1.0.0"/>
</p:tagLst>
</file>

<file path=ppt/tags/gna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9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