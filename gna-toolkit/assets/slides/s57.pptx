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gnatag1.xml" ContentType="application/vnd.openxmlformats-officedocument.presentationml.tags+xml"/>
</Types>
</file>

<file path=_rels/.rels><?xml version="1.0" encoding="UTF-8" standalone="yes"?>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4"/>
  </p:sldMasterIdLst>
  <p:notesMasterIdLst>
    <p:notesMasterId r:id="rId97"/>
  </p:notesMasterIdLst>
  <p:handoutMasterIdLst>
    <p:handoutMasterId r:id="rId98"/>
  </p:handoutMasterIdLst>
  <p:sldIdLst>
    <p:sldId id="2147473397" r:id="rId61"/>
  </p:sldIdLst>
  <p:sldSz cx="12192000" cy="6858000"/>
  <p:notesSz cx="6858000" cy="9144000"/>
  <p:custDataLst>
    <p:tags r:id="rId99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02"/>
    <p:restoredTop sz="93710"/>
  </p:normalViewPr>
  <p:slideViewPr>
    <p:cSldViewPr snapToGrid="0" showGuides="1">
      <p:cViewPr>
        <p:scale>
          <a:sx n="96" d="100"/>
          <a:sy n="96" d="100"/>
        </p:scale>
        <p:origin x="1212" y="252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"1.0" encoding="UTF-8" standalone="yes"?>
<Relationships xmlns="http://schemas.openxmlformats.org/package/2006/relationships"><Relationship Id="rId102" Type="http://schemas.openxmlformats.org/officeDocument/2006/relationships/theme" Target="theme/theme1.xml"/><Relationship Id="rId103" Type="http://schemas.openxmlformats.org/officeDocument/2006/relationships/tableStyles" Target="tableStyles.xml"/><Relationship Id="rId1" Type="http://schemas.openxmlformats.org/officeDocument/2006/relationships/customXml" Target="../customXml/item1.xml"/><Relationship Id="rId99" Type="http://schemas.openxmlformats.org/officeDocument/2006/relationships/tags" Target="tags/tag1.xml"/><Relationship Id="rId10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61" Type="http://schemas.openxmlformats.org/officeDocument/2006/relationships/slide" Target="slides/slide57.xml"/><Relationship Id="rId100" Type="http://schemas.openxmlformats.org/officeDocument/2006/relationships/presProps" Target="presProps.xml"/><Relationship Id="rId98" Type="http://schemas.openxmlformats.org/officeDocument/2006/relationships/handoutMaster" Target="handoutMasters/handoutMaster1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10/14/2026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+mn-lt"/>
              </a:defRPr>
            </a:lvl1pPr>
          </a:lstStyle>
          <a:p>
            <a:fld id="{ADF2B39A-E3F6-634C-B40F-EA6B645C08D7}" type="datetimeFigureOut">
              <a:rPr lang="en-DK" smtClean="0"/>
              <a:pPr/>
              <a:t>10/14/2026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0.xml"/><Relationship Id="rId4" Type="http://schemas.openxmlformats.org/officeDocument/2006/relationships/tags" Target="../tags/tag49.xml"/></Relationships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281940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, 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42" Type="http://schemas.openxmlformats.org/officeDocument/2006/relationships/tags" Target="../tags/tag11.xml"/><Relationship Id="rId47" Type="http://schemas.openxmlformats.org/officeDocument/2006/relationships/tags" Target="../tags/tag16.xml"/><Relationship Id="rId63" Type="http://schemas.openxmlformats.org/officeDocument/2006/relationships/tags" Target="../tags/tag32.xml"/><Relationship Id="rId68" Type="http://schemas.openxmlformats.org/officeDocument/2006/relationships/tags" Target="../tags/tag37.xml"/><Relationship Id="rId2" Type="http://schemas.openxmlformats.org/officeDocument/2006/relationships/slideLayout" Target="../slideLayouts/slideLayout2.xml"/><Relationship Id="rId32" Type="http://schemas.openxmlformats.org/officeDocument/2006/relationships/theme" Target="../theme/theme1.xml"/><Relationship Id="rId37" Type="http://schemas.openxmlformats.org/officeDocument/2006/relationships/tags" Target="../tags/tag6.xml"/><Relationship Id="rId40" Type="http://schemas.openxmlformats.org/officeDocument/2006/relationships/tags" Target="../tags/tag9.xml"/><Relationship Id="rId45" Type="http://schemas.openxmlformats.org/officeDocument/2006/relationships/tags" Target="../tags/tag14.xml"/><Relationship Id="rId53" Type="http://schemas.openxmlformats.org/officeDocument/2006/relationships/tags" Target="../tags/tag22.xml"/><Relationship Id="rId58" Type="http://schemas.openxmlformats.org/officeDocument/2006/relationships/tags" Target="../tags/tag27.xml"/><Relationship Id="rId66" Type="http://schemas.openxmlformats.org/officeDocument/2006/relationships/tags" Target="../tags/tag35.xml"/><Relationship Id="rId61" Type="http://schemas.openxmlformats.org/officeDocument/2006/relationships/tags" Target="../tags/tag30.xml"/><Relationship Id="rId35" Type="http://schemas.openxmlformats.org/officeDocument/2006/relationships/tags" Target="../tags/tag4.xml"/><Relationship Id="rId43" Type="http://schemas.openxmlformats.org/officeDocument/2006/relationships/tags" Target="../tags/tag12.xml"/><Relationship Id="rId48" Type="http://schemas.openxmlformats.org/officeDocument/2006/relationships/tags" Target="../tags/tag17.xml"/><Relationship Id="rId56" Type="http://schemas.openxmlformats.org/officeDocument/2006/relationships/tags" Target="../tags/tag25.xml"/><Relationship Id="rId64" Type="http://schemas.openxmlformats.org/officeDocument/2006/relationships/tags" Target="../tags/tag33.xml"/><Relationship Id="rId69" Type="http://schemas.openxmlformats.org/officeDocument/2006/relationships/tags" Target="../tags/tag38.xml"/><Relationship Id="rId51" Type="http://schemas.openxmlformats.org/officeDocument/2006/relationships/tags" Target="../tags/tag20.xml"/><Relationship Id="rId72" Type="http://schemas.openxmlformats.org/officeDocument/2006/relationships/tags" Target="../tags/tag41.xml"/><Relationship Id="rId33" Type="http://schemas.openxmlformats.org/officeDocument/2006/relationships/tags" Target="../tags/tag2.xml"/><Relationship Id="rId38" Type="http://schemas.openxmlformats.org/officeDocument/2006/relationships/tags" Target="../tags/tag7.xml"/><Relationship Id="rId46" Type="http://schemas.openxmlformats.org/officeDocument/2006/relationships/tags" Target="../tags/tag15.xml"/><Relationship Id="rId59" Type="http://schemas.openxmlformats.org/officeDocument/2006/relationships/tags" Target="../tags/tag28.xml"/><Relationship Id="rId67" Type="http://schemas.openxmlformats.org/officeDocument/2006/relationships/tags" Target="../tags/tag36.xml"/><Relationship Id="rId41" Type="http://schemas.openxmlformats.org/officeDocument/2006/relationships/tags" Target="../tags/tag10.xml"/><Relationship Id="rId54" Type="http://schemas.openxmlformats.org/officeDocument/2006/relationships/tags" Target="../tags/tag23.xml"/><Relationship Id="rId62" Type="http://schemas.openxmlformats.org/officeDocument/2006/relationships/tags" Target="../tags/tag31.xml"/><Relationship Id="rId70" Type="http://schemas.openxmlformats.org/officeDocument/2006/relationships/tags" Target="../tags/tag39.xml"/><Relationship Id="rId36" Type="http://schemas.openxmlformats.org/officeDocument/2006/relationships/tags" Target="../tags/tag5.xml"/><Relationship Id="rId49" Type="http://schemas.openxmlformats.org/officeDocument/2006/relationships/tags" Target="../tags/tag18.xml"/><Relationship Id="rId57" Type="http://schemas.openxmlformats.org/officeDocument/2006/relationships/tags" Target="../tags/tag26.xml"/><Relationship Id="rId44" Type="http://schemas.openxmlformats.org/officeDocument/2006/relationships/tags" Target="../tags/tag13.xml"/><Relationship Id="rId52" Type="http://schemas.openxmlformats.org/officeDocument/2006/relationships/tags" Target="../tags/tag21.xml"/><Relationship Id="rId60" Type="http://schemas.openxmlformats.org/officeDocument/2006/relationships/tags" Target="../tags/tag29.xml"/><Relationship Id="rId65" Type="http://schemas.openxmlformats.org/officeDocument/2006/relationships/tags" Target="../tags/tag34.xml"/><Relationship Id="rId73" Type="http://schemas.openxmlformats.org/officeDocument/2006/relationships/image" Target="../media/image1.png"/><Relationship Id="rId39" Type="http://schemas.openxmlformats.org/officeDocument/2006/relationships/tags" Target="../tags/tag8.xml"/><Relationship Id="rId34" Type="http://schemas.openxmlformats.org/officeDocument/2006/relationships/tags" Target="../tags/tag3.xml"/><Relationship Id="rId50" Type="http://schemas.openxmlformats.org/officeDocument/2006/relationships/tags" Target="../tags/tag19.xml"/><Relationship Id="rId55" Type="http://schemas.openxmlformats.org/officeDocument/2006/relationships/tags" Target="../tags/tag24.xml"/><Relationship Id="rId71" Type="http://schemas.openxmlformats.org/officeDocument/2006/relationships/tags" Target="../tags/tag4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281940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bg1">
                    <a:lumMod val="75000"/>
                  </a:schemeClr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08754"/>
            <a:ext cx="11082528" cy="0"/>
          </a:xfrm>
          <a:prstGeom prst="line">
            <a:avLst/>
          </a:prstGeom>
          <a:ln w="6350">
            <a:solidFill>
              <a:schemeClr val="accent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pic>
        <p:nvPicPr>
          <p:cNvPr id="273" name="GNA footer logo" descr="GNA logo"/>
          <p:cNvPicPr>
            <a:picLocks noChangeAspect="1"/>
          </p:cNvPicPr>
          <p:nvPr userDrawn="1"/>
        </p:nvPicPr>
        <p:blipFill>
          <a:blip r:embed="rId73"/>
          <a:stretch>
            <a:fillRect/>
          </a:stretch>
        </p:blipFill>
        <p:spPr>
          <a:xfrm>
            <a:off x="10934816" y="6490411"/>
            <a:ext cx="268412" cy="173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7" r:id="rId2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, 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Gna1" Type="http://schemas.openxmlformats.org/officeDocument/2006/relationships/tags" Target="../tags/gnatag1.xml"/></Relationships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8A066A6-FCB9-FEF2-E2F8-C1D85353F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[Project] will evolve through four main phases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A703576-0142-C100-4DFE-0F45E0EC3C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9A852880-53BA-5130-2C53-B11491A08FBE}"/>
              </a:ext>
            </a:extLst>
          </p:cNvPr>
          <p:cNvSpPr/>
          <p:nvPr/>
        </p:nvSpPr>
        <p:spPr>
          <a:xfrm>
            <a:off x="2194860" y="1917778"/>
            <a:ext cx="2514331" cy="585216"/>
          </a:xfrm>
          <a:prstGeom prst="homePlate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1]</a:t>
            </a:r>
          </a:p>
        </p:txBody>
      </p:sp>
      <p:sp>
        <p:nvSpPr>
          <p:cNvPr id="8" name="Chevron 7">
            <a:extLst>
              <a:ext uri="{FF2B5EF4-FFF2-40B4-BE49-F238E27FC236}">
                <a16:creationId xmlns:a16="http://schemas.microsoft.com/office/drawing/2014/main" id="{D0BA6521-0D24-E51D-BEF8-C85845D89DFB}"/>
              </a:ext>
            </a:extLst>
          </p:cNvPr>
          <p:cNvSpPr/>
          <p:nvPr/>
        </p:nvSpPr>
        <p:spPr>
          <a:xfrm>
            <a:off x="6813576" y="1917778"/>
            <a:ext cx="2514331" cy="583324"/>
          </a:xfrm>
          <a:prstGeom prst="chevron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3]</a:t>
            </a:r>
          </a:p>
        </p:txBody>
      </p:sp>
      <p:sp>
        <p:nvSpPr>
          <p:cNvPr id="9" name="Chevron 8">
            <a:extLst>
              <a:ext uri="{FF2B5EF4-FFF2-40B4-BE49-F238E27FC236}">
                <a16:creationId xmlns:a16="http://schemas.microsoft.com/office/drawing/2014/main" id="{853E7A68-6FA9-2EB0-FF05-4805C59137DF}"/>
              </a:ext>
            </a:extLst>
          </p:cNvPr>
          <p:cNvSpPr/>
          <p:nvPr/>
        </p:nvSpPr>
        <p:spPr>
          <a:xfrm>
            <a:off x="9122933" y="1917778"/>
            <a:ext cx="2514331" cy="583324"/>
          </a:xfrm>
          <a:prstGeom prst="chevron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4]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D6976F1-F013-3F06-D091-428F91489AF7}"/>
              </a:ext>
            </a:extLst>
          </p:cNvPr>
          <p:cNvSpPr/>
          <p:nvPr/>
        </p:nvSpPr>
        <p:spPr>
          <a:xfrm>
            <a:off x="554736" y="2605034"/>
            <a:ext cx="1589374" cy="488731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tx1"/>
                </a:solidFill>
              </a:rPr>
              <a:t>Key meetings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3FBAE5C-4A2C-3898-88E6-F637F61334A8}"/>
              </a:ext>
            </a:extLst>
          </p:cNvPr>
          <p:cNvSpPr/>
          <p:nvPr/>
        </p:nvSpPr>
        <p:spPr>
          <a:xfrm>
            <a:off x="554736" y="5369943"/>
            <a:ext cx="1589374" cy="100584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Responsible leads and participants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B39ABEC-1E38-5400-D193-EA5DA5E30BC3}"/>
              </a:ext>
            </a:extLst>
          </p:cNvPr>
          <p:cNvSpPr/>
          <p:nvPr/>
        </p:nvSpPr>
        <p:spPr>
          <a:xfrm>
            <a:off x="554735" y="3181931"/>
            <a:ext cx="777240" cy="2099846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 err="1">
                <a:solidFill>
                  <a:schemeClr val="bg1"/>
                </a:solidFill>
              </a:rPr>
              <a:t>Deliverables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FCD1C05-9982-988D-A29D-E7CBDEB3FAAD}"/>
              </a:ext>
            </a:extLst>
          </p:cNvPr>
          <p:cNvSpPr/>
          <p:nvPr/>
        </p:nvSpPr>
        <p:spPr>
          <a:xfrm>
            <a:off x="1366870" y="4275937"/>
            <a:ext cx="777240" cy="1005840"/>
          </a:xfrm>
          <a:prstGeom prst="rect">
            <a:avLst/>
          </a:prstGeom>
          <a:solidFill>
            <a:schemeClr val="accent1">
              <a:alpha val="57685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track]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5AADBCD-CA4A-3746-1CD5-66FFFDB9D2CC}"/>
              </a:ext>
            </a:extLst>
          </p:cNvPr>
          <p:cNvSpPr/>
          <p:nvPr/>
        </p:nvSpPr>
        <p:spPr>
          <a:xfrm>
            <a:off x="1366870" y="3181931"/>
            <a:ext cx="777240" cy="1005840"/>
          </a:xfrm>
          <a:prstGeom prst="rect">
            <a:avLst/>
          </a:prstGeom>
          <a:solidFill>
            <a:schemeClr val="accent1">
              <a:alpha val="57685"/>
            </a:schemeClr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45720" tIns="45720" rIns="4572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[Insert track]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3C13B2-C0F1-C972-2ABB-0C7A854FA397}"/>
              </a:ext>
            </a:extLst>
          </p:cNvPr>
          <p:cNvCxnSpPr>
            <a:cxnSpLocks/>
          </p:cNvCxnSpPr>
          <p:nvPr/>
        </p:nvCxnSpPr>
        <p:spPr>
          <a:xfrm flipH="1">
            <a:off x="554736" y="3137848"/>
            <a:ext cx="11082528" cy="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8DCA8C-9B92-961A-BD9A-4782681E2FD9}"/>
              </a:ext>
            </a:extLst>
          </p:cNvPr>
          <p:cNvCxnSpPr>
            <a:cxnSpLocks/>
          </p:cNvCxnSpPr>
          <p:nvPr/>
        </p:nvCxnSpPr>
        <p:spPr>
          <a:xfrm>
            <a:off x="2194860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326F987-FE90-B686-EFE4-02343DBA4540}"/>
              </a:ext>
            </a:extLst>
          </p:cNvPr>
          <p:cNvSpPr txBox="1"/>
          <p:nvPr/>
        </p:nvSpPr>
        <p:spPr>
          <a:xfrm>
            <a:off x="2733755" y="1650809"/>
            <a:ext cx="1154624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+mn-lt"/>
                <a:cs typeface="Arial" panose="020B0604020202020204" pitchFamily="34" charset="0"/>
              </a:rPr>
              <a:t>[Insert timeline]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E657E00-6BC9-D88B-F571-7885E1A04A9C}"/>
              </a:ext>
            </a:extLst>
          </p:cNvPr>
          <p:cNvCxnSpPr>
            <a:cxnSpLocks/>
          </p:cNvCxnSpPr>
          <p:nvPr/>
        </p:nvCxnSpPr>
        <p:spPr>
          <a:xfrm>
            <a:off x="6813576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086507F-7DAF-9839-41A6-331B5278AB81}"/>
              </a:ext>
            </a:extLst>
          </p:cNvPr>
          <p:cNvCxnSpPr>
            <a:cxnSpLocks/>
          </p:cNvCxnSpPr>
          <p:nvPr/>
        </p:nvCxnSpPr>
        <p:spPr>
          <a:xfrm>
            <a:off x="9122933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4610A29-CD48-AA63-FF8C-571972B78671}"/>
              </a:ext>
            </a:extLst>
          </p:cNvPr>
          <p:cNvSpPr txBox="1"/>
          <p:nvPr/>
        </p:nvSpPr>
        <p:spPr>
          <a:xfrm>
            <a:off x="7352471" y="1650809"/>
            <a:ext cx="1154624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+mn-lt"/>
                <a:cs typeface="Arial" panose="020B0604020202020204" pitchFamily="34" charset="0"/>
              </a:rPr>
              <a:t>[Insert timeline]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C0A97BC-9F05-7141-CBA9-55DFBF66ABC8}"/>
              </a:ext>
            </a:extLst>
          </p:cNvPr>
          <p:cNvSpPr txBox="1"/>
          <p:nvPr/>
        </p:nvSpPr>
        <p:spPr>
          <a:xfrm>
            <a:off x="9523783" y="1650809"/>
            <a:ext cx="1430715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+mn-lt"/>
                <a:cs typeface="Arial" panose="020B0604020202020204" pitchFamily="34" charset="0"/>
              </a:rPr>
              <a:t>[Insert timeline]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553D7A0-978E-45DA-ED9F-BC890CEFCEB8}"/>
              </a:ext>
            </a:extLst>
          </p:cNvPr>
          <p:cNvCxnSpPr>
            <a:cxnSpLocks/>
          </p:cNvCxnSpPr>
          <p:nvPr/>
        </p:nvCxnSpPr>
        <p:spPr>
          <a:xfrm flipH="1">
            <a:off x="554736" y="5325860"/>
            <a:ext cx="11082528" cy="1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250BBEE-E850-72E6-7946-068060D4B1DD}"/>
              </a:ext>
            </a:extLst>
          </p:cNvPr>
          <p:cNvCxnSpPr>
            <a:cxnSpLocks/>
          </p:cNvCxnSpPr>
          <p:nvPr/>
        </p:nvCxnSpPr>
        <p:spPr>
          <a:xfrm flipH="1">
            <a:off x="1366870" y="4231853"/>
            <a:ext cx="10270394" cy="0"/>
          </a:xfrm>
          <a:prstGeom prst="line">
            <a:avLst/>
          </a:prstGeom>
          <a:ln w="158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19CFBD59-FD58-B57F-06E1-EED3A35F86F3}"/>
              </a:ext>
            </a:extLst>
          </p:cNvPr>
          <p:cNvSpPr/>
          <p:nvPr/>
        </p:nvSpPr>
        <p:spPr>
          <a:xfrm>
            <a:off x="2194860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833466FB-34FE-0AAD-78C1-BC10BAC171CC}"/>
              </a:ext>
            </a:extLst>
          </p:cNvPr>
          <p:cNvSpPr/>
          <p:nvPr/>
        </p:nvSpPr>
        <p:spPr>
          <a:xfrm>
            <a:off x="2194860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CF9CA1E-A38B-6AD1-A6FB-7B2CB88E0D2A}"/>
              </a:ext>
            </a:extLst>
          </p:cNvPr>
          <p:cNvSpPr/>
          <p:nvPr/>
        </p:nvSpPr>
        <p:spPr>
          <a:xfrm>
            <a:off x="2194860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7A10671-F6B6-49D8-8D11-74C54D748051}"/>
              </a:ext>
            </a:extLst>
          </p:cNvPr>
          <p:cNvSpPr txBox="1"/>
          <p:nvPr/>
        </p:nvSpPr>
        <p:spPr>
          <a:xfrm>
            <a:off x="3424687" y="367485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3C5DA8A-CCD9-901C-3714-C0B55AD74ECF}"/>
              </a:ext>
            </a:extLst>
          </p:cNvPr>
          <p:cNvSpPr/>
          <p:nvPr/>
        </p:nvSpPr>
        <p:spPr>
          <a:xfrm>
            <a:off x="6813576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AD70C50-2B2E-A4DF-7332-42408BFD3733}"/>
              </a:ext>
            </a:extLst>
          </p:cNvPr>
          <p:cNvSpPr/>
          <p:nvPr/>
        </p:nvSpPr>
        <p:spPr>
          <a:xfrm>
            <a:off x="6813576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C597CF0A-C5EB-9762-9358-0B111CAB2EFB}"/>
              </a:ext>
            </a:extLst>
          </p:cNvPr>
          <p:cNvSpPr/>
          <p:nvPr/>
        </p:nvSpPr>
        <p:spPr>
          <a:xfrm>
            <a:off x="6813576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AFACACAF-DFAB-0572-418C-F3DEFA1FB8DF}"/>
              </a:ext>
            </a:extLst>
          </p:cNvPr>
          <p:cNvSpPr/>
          <p:nvPr/>
        </p:nvSpPr>
        <p:spPr>
          <a:xfrm>
            <a:off x="9122933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5711B61-4B51-4933-A49E-A83ACECA07BF}"/>
              </a:ext>
            </a:extLst>
          </p:cNvPr>
          <p:cNvSpPr/>
          <p:nvPr/>
        </p:nvSpPr>
        <p:spPr>
          <a:xfrm>
            <a:off x="9122933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8499D55-CB3B-2F50-CCC9-3E0F9016BF89}"/>
              </a:ext>
            </a:extLst>
          </p:cNvPr>
          <p:cNvSpPr/>
          <p:nvPr/>
        </p:nvSpPr>
        <p:spPr>
          <a:xfrm>
            <a:off x="9122933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50" name="Triangle 49">
            <a:extLst>
              <a:ext uri="{FF2B5EF4-FFF2-40B4-BE49-F238E27FC236}">
                <a16:creationId xmlns:a16="http://schemas.microsoft.com/office/drawing/2014/main" id="{1EBC5710-C37B-E97F-55B5-DEFE66165E98}"/>
              </a:ext>
            </a:extLst>
          </p:cNvPr>
          <p:cNvSpPr/>
          <p:nvPr/>
        </p:nvSpPr>
        <p:spPr>
          <a:xfrm>
            <a:off x="2828023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1" name="Triangle 50">
            <a:extLst>
              <a:ext uri="{FF2B5EF4-FFF2-40B4-BE49-F238E27FC236}">
                <a16:creationId xmlns:a16="http://schemas.microsoft.com/office/drawing/2014/main" id="{4EC7CB6E-F374-5C35-32AD-81AF949E65FE}"/>
              </a:ext>
            </a:extLst>
          </p:cNvPr>
          <p:cNvSpPr/>
          <p:nvPr/>
        </p:nvSpPr>
        <p:spPr>
          <a:xfrm>
            <a:off x="3582770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5" name="Triangle 54">
            <a:extLst>
              <a:ext uri="{FF2B5EF4-FFF2-40B4-BE49-F238E27FC236}">
                <a16:creationId xmlns:a16="http://schemas.microsoft.com/office/drawing/2014/main" id="{86CF8F54-1FF9-4A3C-EE07-1B673638E985}"/>
              </a:ext>
            </a:extLst>
          </p:cNvPr>
          <p:cNvSpPr/>
          <p:nvPr/>
        </p:nvSpPr>
        <p:spPr>
          <a:xfrm>
            <a:off x="5626036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6" name="Triangle 55">
            <a:extLst>
              <a:ext uri="{FF2B5EF4-FFF2-40B4-BE49-F238E27FC236}">
                <a16:creationId xmlns:a16="http://schemas.microsoft.com/office/drawing/2014/main" id="{AEFB755F-3907-59D6-A153-E4BEC6FBB253}"/>
              </a:ext>
            </a:extLst>
          </p:cNvPr>
          <p:cNvSpPr/>
          <p:nvPr/>
        </p:nvSpPr>
        <p:spPr>
          <a:xfrm>
            <a:off x="6352543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7" name="Triangle 56">
            <a:extLst>
              <a:ext uri="{FF2B5EF4-FFF2-40B4-BE49-F238E27FC236}">
                <a16:creationId xmlns:a16="http://schemas.microsoft.com/office/drawing/2014/main" id="{258C5C3A-6362-9760-2DB7-4BE3FCF1C7C0}"/>
              </a:ext>
            </a:extLst>
          </p:cNvPr>
          <p:cNvSpPr/>
          <p:nvPr/>
        </p:nvSpPr>
        <p:spPr>
          <a:xfrm>
            <a:off x="6654672" y="2532916"/>
            <a:ext cx="228600" cy="225824"/>
          </a:xfrm>
          <a:prstGeom prst="triangl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8" name="Triangle 57">
            <a:extLst>
              <a:ext uri="{FF2B5EF4-FFF2-40B4-BE49-F238E27FC236}">
                <a16:creationId xmlns:a16="http://schemas.microsoft.com/office/drawing/2014/main" id="{FAD9278F-E092-23C1-5084-590DF929EA6F}"/>
              </a:ext>
            </a:extLst>
          </p:cNvPr>
          <p:cNvSpPr/>
          <p:nvPr/>
        </p:nvSpPr>
        <p:spPr>
          <a:xfrm>
            <a:off x="8964029" y="2532916"/>
            <a:ext cx="228600" cy="225824"/>
          </a:xfrm>
          <a:prstGeom prst="triangl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BE478A8-F8A3-033A-87ED-7425F2B9021D}"/>
              </a:ext>
            </a:extLst>
          </p:cNvPr>
          <p:cNvSpPr txBox="1"/>
          <p:nvPr/>
        </p:nvSpPr>
        <p:spPr>
          <a:xfrm>
            <a:off x="7816645" y="557489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F7A6B4A-ACD5-461E-A9B6-EE01D2E9B20D}"/>
              </a:ext>
            </a:extLst>
          </p:cNvPr>
          <p:cNvSpPr txBox="1"/>
          <p:nvPr/>
        </p:nvSpPr>
        <p:spPr>
          <a:xfrm>
            <a:off x="2645502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874248F-9957-42EE-A223-D175EBF448F8}"/>
              </a:ext>
            </a:extLst>
          </p:cNvPr>
          <p:cNvSpPr txBox="1"/>
          <p:nvPr/>
        </p:nvSpPr>
        <p:spPr>
          <a:xfrm>
            <a:off x="3400249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2E4C62B-BDAD-41D5-8028-FE56CF028F07}"/>
              </a:ext>
            </a:extLst>
          </p:cNvPr>
          <p:cNvSpPr txBox="1"/>
          <p:nvPr/>
        </p:nvSpPr>
        <p:spPr>
          <a:xfrm>
            <a:off x="5443286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E891483-85DF-3768-41CC-D3D16330DA99}"/>
              </a:ext>
            </a:extLst>
          </p:cNvPr>
          <p:cNvSpPr txBox="1"/>
          <p:nvPr/>
        </p:nvSpPr>
        <p:spPr>
          <a:xfrm>
            <a:off x="6167214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EF5EA62-A8D3-DFA4-6F4B-59789A728400}"/>
              </a:ext>
            </a:extLst>
          </p:cNvPr>
          <p:cNvSpPr txBox="1"/>
          <p:nvPr/>
        </p:nvSpPr>
        <p:spPr>
          <a:xfrm>
            <a:off x="6423875" y="2931952"/>
            <a:ext cx="690193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/>
              <a:t>[Milestone]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879D904-F980-4C8A-7931-2F9971DEB923}"/>
              </a:ext>
            </a:extLst>
          </p:cNvPr>
          <p:cNvSpPr txBox="1"/>
          <p:nvPr/>
        </p:nvSpPr>
        <p:spPr>
          <a:xfrm>
            <a:off x="8456767" y="2931952"/>
            <a:ext cx="1243123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/>
              <a:t>[Milestone]</a:t>
            </a:r>
          </a:p>
        </p:txBody>
      </p:sp>
      <p:sp>
        <p:nvSpPr>
          <p:cNvPr id="3" name="Chevron 2">
            <a:extLst>
              <a:ext uri="{FF2B5EF4-FFF2-40B4-BE49-F238E27FC236}">
                <a16:creationId xmlns:a16="http://schemas.microsoft.com/office/drawing/2014/main" id="{25D4C780-7C50-026A-6659-AF9A72113620}"/>
              </a:ext>
            </a:extLst>
          </p:cNvPr>
          <p:cNvSpPr/>
          <p:nvPr/>
        </p:nvSpPr>
        <p:spPr>
          <a:xfrm>
            <a:off x="4504218" y="1917778"/>
            <a:ext cx="2514331" cy="583324"/>
          </a:xfrm>
          <a:prstGeom prst="chevron">
            <a:avLst/>
          </a:prstGeom>
          <a:solidFill>
            <a:schemeClr val="accent2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lang="en-US" sz="1200" b="1" dirty="0">
                <a:solidFill>
                  <a:schemeClr val="bg1"/>
                </a:solidFill>
              </a:rPr>
              <a:t>[Phase 2]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E8537E9-0B8D-0902-EABE-C15CD8731612}"/>
              </a:ext>
            </a:extLst>
          </p:cNvPr>
          <p:cNvCxnSpPr>
            <a:cxnSpLocks/>
          </p:cNvCxnSpPr>
          <p:nvPr/>
        </p:nvCxnSpPr>
        <p:spPr>
          <a:xfrm>
            <a:off x="4504218" y="1727672"/>
            <a:ext cx="2232415" cy="0"/>
          </a:xfrm>
          <a:prstGeom prst="straightConnector1">
            <a:avLst/>
          </a:prstGeom>
          <a:ln w="15875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4547A29E-3E29-BF10-CA9D-45BEB3FAD3FE}"/>
              </a:ext>
            </a:extLst>
          </p:cNvPr>
          <p:cNvSpPr txBox="1"/>
          <p:nvPr/>
        </p:nvSpPr>
        <p:spPr>
          <a:xfrm>
            <a:off x="5043113" y="1650809"/>
            <a:ext cx="1154624" cy="153888"/>
          </a:xfrm>
          <a:prstGeom prst="rect">
            <a:avLst/>
          </a:prstGeom>
          <a:solidFill>
            <a:schemeClr val="bg1"/>
          </a:solidFill>
        </p:spPr>
        <p:txBody>
          <a:bodyPr wrap="square" tIns="0" bIns="0" rtlCol="0" anchor="ctr">
            <a:spAutoFit/>
          </a:bodyPr>
          <a:lstStyle/>
          <a:p>
            <a:pPr algn="ctr"/>
            <a:r>
              <a:rPr lang="en-US" sz="1000" dirty="0">
                <a:latin typeface="+mn-lt"/>
                <a:cs typeface="Arial" panose="020B0604020202020204" pitchFamily="34" charset="0"/>
              </a:rPr>
              <a:t>[Insert timeline]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CBF513D-68D1-1AAF-2B9C-FE12C9615D67}"/>
              </a:ext>
            </a:extLst>
          </p:cNvPr>
          <p:cNvSpPr/>
          <p:nvPr/>
        </p:nvSpPr>
        <p:spPr>
          <a:xfrm>
            <a:off x="4504218" y="3181931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B8BD02B-B026-E647-5170-52BD2F237474}"/>
              </a:ext>
            </a:extLst>
          </p:cNvPr>
          <p:cNvSpPr/>
          <p:nvPr/>
        </p:nvSpPr>
        <p:spPr>
          <a:xfrm>
            <a:off x="4504218" y="4275939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key activities]</a:t>
            </a:r>
            <a:endParaRPr lang="en-US" sz="1000" b="1" dirty="0">
              <a:solidFill>
                <a:schemeClr val="tx1"/>
              </a:solidFill>
            </a:endParaRP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CFD5BA6E-9709-D714-2CFF-06CA33E4E726}"/>
              </a:ext>
            </a:extLst>
          </p:cNvPr>
          <p:cNvSpPr/>
          <p:nvPr/>
        </p:nvSpPr>
        <p:spPr>
          <a:xfrm>
            <a:off x="4504218" y="5369945"/>
            <a:ext cx="2232415" cy="1005838"/>
          </a:xfrm>
          <a:prstGeom prst="rect">
            <a:avLst/>
          </a:prstGeom>
          <a:noFill/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  <a:p>
            <a:pPr marL="285750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[Insert name and role OR team/function]</a:t>
            </a:r>
          </a:p>
        </p:txBody>
      </p:sp>
      <p:sp>
        <p:nvSpPr>
          <p:cNvPr id="52" name="Triangle 51">
            <a:extLst>
              <a:ext uri="{FF2B5EF4-FFF2-40B4-BE49-F238E27FC236}">
                <a16:creationId xmlns:a16="http://schemas.microsoft.com/office/drawing/2014/main" id="{EA58DDF4-8C28-FE34-FA5E-A7A3BB6BB39D}"/>
              </a:ext>
            </a:extLst>
          </p:cNvPr>
          <p:cNvSpPr/>
          <p:nvPr/>
        </p:nvSpPr>
        <p:spPr>
          <a:xfrm>
            <a:off x="4337517" y="2532916"/>
            <a:ext cx="228600" cy="225824"/>
          </a:xfrm>
          <a:prstGeom prst="triangle">
            <a:avLst/>
          </a:prstGeom>
          <a:solidFill>
            <a:schemeClr val="accent3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3" name="Triangle 52">
            <a:extLst>
              <a:ext uri="{FF2B5EF4-FFF2-40B4-BE49-F238E27FC236}">
                <a16:creationId xmlns:a16="http://schemas.microsoft.com/office/drawing/2014/main" id="{4F0520C9-57B2-70D1-2857-01B85797C7C8}"/>
              </a:ext>
            </a:extLst>
          </p:cNvPr>
          <p:cNvSpPr/>
          <p:nvPr/>
        </p:nvSpPr>
        <p:spPr>
          <a:xfrm>
            <a:off x="4899529" y="2532916"/>
            <a:ext cx="228600" cy="225824"/>
          </a:xfrm>
          <a:prstGeom prst="triangle">
            <a:avLst/>
          </a:prstGeom>
          <a:solidFill>
            <a:schemeClr val="accent6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822819-8D13-0AC8-3BB4-BE659A47EE7D}"/>
              </a:ext>
            </a:extLst>
          </p:cNvPr>
          <p:cNvSpPr txBox="1"/>
          <p:nvPr/>
        </p:nvSpPr>
        <p:spPr>
          <a:xfrm>
            <a:off x="4719358" y="2760565"/>
            <a:ext cx="593642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dirty="0" err="1"/>
              <a:t>SteerCo</a:t>
            </a:r>
            <a:endParaRPr lang="en-US" sz="10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64581A0-046E-5027-8A7B-1F05CA9DFD10}"/>
              </a:ext>
            </a:extLst>
          </p:cNvPr>
          <p:cNvSpPr txBox="1"/>
          <p:nvPr/>
        </p:nvSpPr>
        <p:spPr>
          <a:xfrm>
            <a:off x="4106720" y="2936596"/>
            <a:ext cx="690193" cy="22582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000" b="1" dirty="0"/>
              <a:t>[Milestone]</a:t>
            </a:r>
          </a:p>
        </p:txBody>
      </p:sp>
      <p:sp>
        <p:nvSpPr>
          <p:cNvPr id="7" name="Google Shape;746;p20">
            <a:extLst>
              <a:ext uri="{FF2B5EF4-FFF2-40B4-BE49-F238E27FC236}">
                <a16:creationId xmlns:a16="http://schemas.microsoft.com/office/drawing/2014/main" id="{D47AF818-AFE6-C3EA-6372-A37952799BA4}"/>
              </a:ext>
            </a:extLst>
          </p:cNvPr>
          <p:cNvSpPr txBox="1"/>
          <p:nvPr/>
        </p:nvSpPr>
        <p:spPr>
          <a:xfrm>
            <a:off x="467805" y="6391075"/>
            <a:ext cx="729609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5043"/>
              </a:buClr>
              <a:buSzPts val="900"/>
              <a:buFont typeface="Arial"/>
              <a:buNone/>
              <a:tabLst/>
              <a:defRPr/>
            </a:pPr>
            <a:r>
              <a:rPr kumimoji="0" lang="en-GB" sz="900" b="0" i="0" u="none" strike="noStrike" kern="0" cap="none" spc="0" normalizeH="0" baseline="0" noProof="0" dirty="0">
                <a:ln>
                  <a:noFill/>
                </a:ln>
                <a:effectLst/>
                <a:uLnTx/>
                <a:uFillTx/>
                <a:latin typeface="+mn-lt"/>
                <a:ea typeface="Arial"/>
                <a:cs typeface="Arial"/>
                <a:sym typeface="Arial"/>
              </a:rPr>
              <a:t>Source: xx</a:t>
            </a:r>
            <a:endParaRPr kumimoji="0" sz="900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+mn-lt"/>
              <a:ea typeface="Arial"/>
              <a:cs typeface="Arial"/>
              <a:sym typeface="Arial"/>
            </a:endParaRPr>
          </a:p>
        </p:txBody>
      </p:sp>
    </p:spTree>
    <p:custDataLst>
      <p:tags r:id="rIdGna1"/>
    </p:custDataLst>
    <p:extLst>
      <p:ext uri="{BB962C8B-B14F-4D97-AF65-F5344CB8AC3E}">
        <p14:creationId xmlns:p14="http://schemas.microsoft.com/office/powerpoint/2010/main" val="2289195474"/>
      </p:ext>
    </p:extLst>
  </p:cSld>
  <p:clrMapOvr>
    <a:masterClrMapping/>
  </p:clrMapOvr>
</p:sld>
</file>

<file path=ppt/tags/gna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NA_TEMPLATE_ID" val="57"/>
  <p:tag name="GNA_TEMPLATE_VERSION" val="1.0.0"/>
</p:tagLst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Lora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GNA">
        <a:dk1>
          <a:srgbClr val="262626"/>
        </a:dk1>
        <a:lt1>
          <a:srgbClr val="FFFFFF"/>
        </a:lt1>
        <a:dk2>
          <a:srgbClr val="025043"/>
        </a:dk2>
        <a:lt2>
          <a:srgbClr val="F2F2F2"/>
        </a:lt2>
        <a:accent1>
          <a:srgbClr val="025043"/>
        </a:accent1>
        <a:accent2>
          <a:srgbClr val="5B9188"/>
        </a:accent2>
        <a:accent3>
          <a:srgbClr val="013A31"/>
        </a:accent3>
        <a:accent4>
          <a:srgbClr val="3D7A6F"/>
        </a:accent4>
        <a:accent5>
          <a:srgbClr val="B3CBC7"/>
        </a:accent5>
        <a:accent6>
          <a:srgbClr val="8C8C8C"/>
        </a:accent6>
        <a:hlink>
          <a:srgbClr val="025043"/>
        </a:hlink>
        <a:folHlink>
          <a:srgbClr val="5B918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7" id="{9B588B21-83F7-FC48-9C86-2F9784C77B7B}" vid="{E0497203-32F2-484B-9913-C145AFB5AD27}"/>
    </a:ext>
  </a:extLst>
</a:theme>
</file>

<file path=ppt/theme/theme2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GNA">
      <a:dk1>
        <a:srgbClr val="262626"/>
      </a:dk1>
      <a:lt1>
        <a:srgbClr val="FFFFFF"/>
      </a:lt1>
      <a:dk2>
        <a:srgbClr val="025043"/>
      </a:dk2>
      <a:lt2>
        <a:srgbClr val="F2F2F2"/>
      </a:lt2>
      <a:accent1>
        <a:srgbClr val="025043"/>
      </a:accent1>
      <a:accent2>
        <a:srgbClr val="5B9188"/>
      </a:accent2>
      <a:accent3>
        <a:srgbClr val="013A31"/>
      </a:accent3>
      <a:accent4>
        <a:srgbClr val="3D7A6F"/>
      </a:accent4>
      <a:accent5>
        <a:srgbClr val="B3CBC7"/>
      </a:accent5>
      <a:accent6>
        <a:srgbClr val="8C8C8C"/>
      </a:accent6>
      <a:hlink>
        <a:srgbClr val="025043"/>
      </a:hlink>
      <a:folHlink>
        <a:srgbClr val="5B9188"/>
      </a:folHlink>
    </a:clrScheme>
    <a:fontScheme name="GNA Lora">
      <a:majorFont>
        <a:latin typeface="Lor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Lora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20aec0d-fb61-4acf-853d-3d881a397377" xsi:nil="true"/>
    <lcf76f155ced4ddcb4097134ff3c332f xmlns="66bf5647-6c8d-4b39-99f0-6ce728158f6a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8D02B34048E548B67E62DA37CF413A" ma:contentTypeVersion="10" ma:contentTypeDescription="Create a new document." ma:contentTypeScope="" ma:versionID="e579bd832814c7a6bb933bd8daeee1e4">
  <xsd:schema xmlns:xsd="http://www.w3.org/2001/XMLSchema" xmlns:xs="http://www.w3.org/2001/XMLSchema" xmlns:p="http://schemas.microsoft.com/office/2006/metadata/properties" xmlns:ns2="66bf5647-6c8d-4b39-99f0-6ce728158f6a" xmlns:ns3="220aec0d-fb61-4acf-853d-3d881a397377" targetNamespace="http://schemas.microsoft.com/office/2006/metadata/properties" ma:root="true" ma:fieldsID="c4231b6b052a71c45522500c216b5ea1" ns2:_="" ns3:_="">
    <xsd:import namespace="66bf5647-6c8d-4b39-99f0-6ce728158f6a"/>
    <xsd:import namespace="220aec0d-fb61-4acf-853d-3d881a3973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bf5647-6c8d-4b39-99f0-6ce728158f6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eebc322-b823-451c-94d1-7dcd1c9c378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0aec0d-fb61-4acf-853d-3d881a39737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25ff44e-f5ad-4a5b-a1bc-30ed6eb29c5b}" ma:internalName="TaxCatchAll" ma:showField="CatchAllData" ma:web="220aec0d-fb61-4acf-853d-3d881a39737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94A8DEC-88BE-43F8-B6AA-48FEB665AF64}">
  <ds:schemaRefs>
    <ds:schemaRef ds:uri="http://schemas.microsoft.com/office/2006/metadata/properties"/>
    <ds:schemaRef ds:uri="http://schemas.microsoft.com/office/infopath/2007/PartnerControls"/>
    <ds:schemaRef ds:uri="220aec0d-fb61-4acf-853d-3d881a397377"/>
    <ds:schemaRef ds:uri="66bf5647-6c8d-4b39-99f0-6ce728158f6a"/>
  </ds:schemaRefs>
</ds:datastoreItem>
</file>

<file path=customXml/itemProps2.xml><?xml version="1.0" encoding="utf-8"?>
<ds:datastoreItem xmlns:ds="http://schemas.openxmlformats.org/officeDocument/2006/customXml" ds:itemID="{99C80F86-4E44-4A09-BB4B-210515F5434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6bf5647-6c8d-4b39-99f0-6ce728158f6a"/>
    <ds:schemaRef ds:uri="220aec0d-fb61-4acf-853d-3d881a39737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3AF9A27-60CA-4ED3-80AD-18744299AFA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7601</TotalTime>
  <Words>10316</Words>
  <Application>Microsoft Office PowerPoint</Application>
  <PresentationFormat>Widescreen</PresentationFormat>
  <Paragraphs>1874</Paragraphs>
  <Slides>1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92</vt:i4>
      </vt:variant>
    </vt:vector>
  </HeadingPairs>
  <TitlesOfParts>
    <vt:vector size="105" baseType="lpstr">
      <vt:lpstr>ＭＳ Ｐゴシック</vt:lpstr>
      <vt:lpstr>Arial</vt:lpstr>
      <vt:lpstr>Calibri</vt:lpstr>
      <vt:lpstr>Georgia</vt:lpstr>
      <vt:lpstr>Gotham Bold</vt:lpstr>
      <vt:lpstr>Helvetica Neue</vt:lpstr>
      <vt:lpstr>Lora</vt:lpstr>
      <vt:lpstr>Segoe UI</vt:lpstr>
      <vt:lpstr>Times New Roman</vt:lpstr>
      <vt:lpstr>Verdana</vt:lpstr>
      <vt:lpstr>Wingdings</vt:lpstr>
      <vt:lpstr>Slideworks</vt:lpstr>
      <vt:lpstr>think-cell Slide</vt:lpstr>
      <vt:lpstr>Every GNA slide makes one point, stated in its title</vt:lpstr>
      <vt:lpstr>The GNA palette is teal, white and grey, with tints in between</vt:lpstr>
      <vt:lpstr>Lora carries every word; size and weight create the hierarchy</vt:lpstr>
      <vt:lpstr>[Title of document]</vt:lpstr>
      <vt:lpstr>[Title of document]</vt:lpstr>
      <vt:lpstr>Content</vt:lpstr>
      <vt:lpstr>Content </vt:lpstr>
      <vt:lpstr>[Section]</vt:lpstr>
      <vt:lpstr>PowerPoint Presentation</vt:lpstr>
      <vt:lpstr>Executive summary</vt:lpstr>
      <vt:lpstr>Executive summary</vt:lpstr>
      <vt:lpstr>Executive summary</vt:lpstr>
      <vt:lpstr>Summary of our proposal</vt:lpstr>
      <vt:lpstr>The ambition is [insert client ambition, if relevant]</vt:lpstr>
      <vt:lpstr>We believe the time to act is now</vt:lpstr>
      <vt:lpstr>[Client] faces several challenges leading to key question: [insert]</vt:lpstr>
      <vt:lpstr>This project will answer three key questions resulting in [insert desired impact]</vt:lpstr>
      <vt:lpstr>The project is expected to result in [insert quantitative or qualitative outcome]</vt:lpstr>
      <vt:lpstr>[Column chart for comparison with takeaways / Insert action title]</vt:lpstr>
      <vt:lpstr>[Column chart with historic and forecast figures / Insert action title]</vt:lpstr>
      <vt:lpstr>[Grouped column chart with takeaways / Insert action title]</vt:lpstr>
      <vt:lpstr>[Bar chart with takeaways / Insert action title]</vt:lpstr>
      <vt:lpstr>[Line graph / Insert action title]</vt:lpstr>
      <vt:lpstr>[Line chart with two scenarios / Insert action title]</vt:lpstr>
      <vt:lpstr>[Waterfall chart / Insert action title]</vt:lpstr>
      <vt:lpstr>[Waterfall chart with highlights/ Insert action title]</vt:lpstr>
      <vt:lpstr>[Scatter chart with quadrants/ Insert action title]</vt:lpstr>
      <vt:lpstr>[Single doughnut chart / Insert action title]</vt:lpstr>
      <vt:lpstr>[Bar chart with line graph / Insert action title]</vt:lpstr>
      <vt:lpstr>[Four category Harvey Ball slide / Insert action title]</vt:lpstr>
      <vt:lpstr>[Five category Harvey Ball slide / Insert action title]</vt:lpstr>
      <vt:lpstr>[Three key trends slide / Insert action title]</vt:lpstr>
      <vt:lpstr>[Four key trends slide / Insert action title]</vt:lpstr>
      <vt:lpstr>[Five key areas slide / Insert action title]</vt:lpstr>
      <vt:lpstr>[Assessment or status overview / Insert action title]</vt:lpstr>
      <vt:lpstr>[Option evaluation slide / Insert action title]</vt:lpstr>
      <vt:lpstr>[Option evaluation slide for build vs. buy (or other dimensions) / Insert action title]</vt:lpstr>
      <vt:lpstr>[Competitor overview / Insert action title]</vt:lpstr>
      <vt:lpstr>[Competitor matrix slide / Insert action title]</vt:lpstr>
      <vt:lpstr>[Issue tree / Insert action title]</vt:lpstr>
      <vt:lpstr>[Decision tree / Insert action title]</vt:lpstr>
      <vt:lpstr>[Three state process slide / Insert action title]</vt:lpstr>
      <vt:lpstr>[Hypothesis overview slide / Insert action title]</vt:lpstr>
      <vt:lpstr>[Three key strategic areas slide / Insert action title]</vt:lpstr>
      <vt:lpstr>[Initiatives or sub-points slide / Insert action title]</vt:lpstr>
      <vt:lpstr>[Findings and recommendations summary / Insert action title]</vt:lpstr>
      <vt:lpstr>[Challenges and solutions summary / Insert action title]</vt:lpstr>
      <vt:lpstr>[Maturity or level slide / Insert action title]</vt:lpstr>
      <vt:lpstr>Prioritization of [features/components/segments]</vt:lpstr>
      <vt:lpstr>We believe in four guiding principles for a strong [insert]</vt:lpstr>
      <vt:lpstr>SWOT analysis</vt:lpstr>
      <vt:lpstr>Porter’s Five Forces</vt:lpstr>
      <vt:lpstr>Business Model Canvas</vt:lpstr>
      <vt:lpstr>[Process overview / Insert action title]</vt:lpstr>
      <vt:lpstr>[Circular process overview / Insert action title]</vt:lpstr>
      <vt:lpstr>We propose a four-step approach</vt:lpstr>
      <vt:lpstr>[Project] will evolve through four main phases</vt:lpstr>
      <vt:lpstr>[Project title] process expected to run [xx weeks/months]</vt:lpstr>
      <vt:lpstr>This project will focus on [insert scope]</vt:lpstr>
      <vt:lpstr>There are three main project deliverables</vt:lpstr>
      <vt:lpstr>High-level timeline for next [insert timeframe]</vt:lpstr>
      <vt:lpstr>[Roadmap / Insert action title]</vt:lpstr>
      <vt:lpstr>[Simple timeline / Insert action title]</vt:lpstr>
      <vt:lpstr>Risks mainly in [risk area 1] and [risk area 2]</vt:lpstr>
      <vt:lpstr>[Organizational chart / Insert action title]</vt:lpstr>
      <vt:lpstr>[Project team or functions / Insert action title]</vt:lpstr>
      <vt:lpstr>Project will be led by [insert] and supported by [insert]</vt:lpstr>
      <vt:lpstr>Our team</vt:lpstr>
      <vt:lpstr>[Insert name]</vt:lpstr>
      <vt:lpstr>Team allocation and investment</vt:lpstr>
      <vt:lpstr>Fee structure</vt:lpstr>
      <vt:lpstr>Commercial proposal</vt:lpstr>
      <vt:lpstr>GNA is uniquely positioned and committed to being a partner for [Client]</vt:lpstr>
      <vt:lpstr>Selected reference cases</vt:lpstr>
      <vt:lpstr>[Insert case headline]</vt:lpstr>
      <vt:lpstr>[One number frames the story / Insert action title]</vt:lpstr>
      <vt:lpstr>[Four measures show where we stand / Insert action title]</vt:lpstr>
      <vt:lpstr>[What we heard / Insert action title]</vt:lpstr>
      <vt:lpstr>[We move from today’s model to a new way of working / Insert action title]</vt:lpstr>
      <vt:lpstr>[Meeting name], [date]: agenda</vt:lpstr>
      <vt:lpstr>[Six ideas worth testing / Insert action title]</vt:lpstr>
      <vt:lpstr>[Start with the quick wins and fund one big bet / Insert action title]</vt:lpstr>
      <vt:lpstr>[We recommend option B because it balances value and risk / Insert action title]</vt:lpstr>
      <vt:lpstr>[Project name] status, week of [date]</vt:lpstr>
      <vt:lpstr>[Roles and responsibilities / Insert action title]</vt:lpstr>
      <vt:lpstr>Action tracker</vt:lpstr>
      <vt:lpstr>[Four principles guide how we work / Insert action title]</vt:lpstr>
      <vt:lpstr>[Meeting name], [date]: summary</vt:lpstr>
      <vt:lpstr>[Five milestones take us from kick-off to launch / Insert action title]</vt:lpstr>
      <vt:lpstr>Immediate next steps</vt:lpstr>
      <vt:lpstr>Next steps: Proposed way forward</vt:lpstr>
      <vt:lpstr>Thank you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GNA Presentation Template</dc:title>
  <dc:subject>Consulting</dc:subject>
  <dc:creator>Gheen &amp; Noyes Advisory</dc:creator>
  <cp:keywords>project management, business, consulting</cp:keywords>
  <dc:description>Copyright of Slideworks.io. Any unauthorized distribution prohibited. See our full terms and conditions at https://slideworks.io/terms </dc:description>
  <cp:lastModifiedBy>Cooper Gheen</cp:lastModifiedBy>
  <cp:revision>314</cp:revision>
  <dcterms:created xsi:type="dcterms:W3CDTF">2025-08-27T08:42:55Z</dcterms:created>
  <dcterms:modified xsi:type="dcterms:W3CDTF">2026-10-14T23:53:13Z</dcterms:modified>
  <cp:category>Management consulting, presentation design, business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0x010100758D02B34048E548B67E62DA37CF413A</vt:lpwstr>
  </property>
  <property fmtid="{D5CDD505-2E9C-101B-9397-08002B2CF9AE}" pid="3" name="MediaServiceImageTags">
    <vt:lpwstr/>
  </property>
</Properties>
</file>