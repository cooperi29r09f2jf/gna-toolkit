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20.xml" ContentType="application/vnd.openxmlformats-officedocument.presentationml.tags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250" r:id="rId26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22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3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8656671018540184E-2"/>
          <c:y val="2.457387326941252E-2"/>
          <c:w val="0.92383473542033601"/>
          <c:h val="0.8942342849309928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2504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2504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44F-D149-895C-AE2685919B0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[Category 1]</c:v>
                </c:pt>
                <c:pt idx="1">
                  <c:v>[Category 2]</c:v>
                </c:pt>
                <c:pt idx="2">
                  <c:v>[Category 3]</c:v>
                </c:pt>
                <c:pt idx="3">
                  <c:v>[Category 4]</c:v>
                </c:pt>
                <c:pt idx="4">
                  <c:v>[Category 5]</c:v>
                </c:pt>
                <c:pt idx="5">
                  <c:v>[Category 6]</c:v>
                </c:pt>
                <c:pt idx="6">
                  <c:v>[Category 7]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670</c:v>
                </c:pt>
                <c:pt idx="1">
                  <c:v>623</c:v>
                </c:pt>
                <c:pt idx="2">
                  <c:v>580</c:v>
                </c:pt>
                <c:pt idx="3">
                  <c:v>564</c:v>
                </c:pt>
                <c:pt idx="4">
                  <c:v>514</c:v>
                </c:pt>
                <c:pt idx="5">
                  <c:v>421</c:v>
                </c:pt>
                <c:pt idx="6">
                  <c:v>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4F-D149-895C-AE2685919B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58103200"/>
        <c:axId val="1158104032"/>
      </c:barChart>
      <c:catAx>
        <c:axId val="11581032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58104032"/>
        <c:crosses val="autoZero"/>
        <c:auto val="1"/>
        <c:lblAlgn val="ctr"/>
        <c:lblOffset val="100"/>
        <c:noMultiLvlLbl val="0"/>
      </c:catAx>
      <c:valAx>
        <c:axId val="1158104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FFFFFF">
                  <a:lumMod val="75000"/>
                </a:srgb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2504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10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+mn-lt"/>
        </a:defRPr>
      </a:pPr>
      <a:endParaRPr lang="en-US"/>
    </a:p>
  </c:txPr>
  <c:externalData r:id="rId4">
    <c:autoUpdate val="0"/>
  </c:externalData>
</c:chartSpac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0.xml"/><Relationship Id="rId5" Type="http://schemas.openxmlformats.org/officeDocument/2006/relationships/chart" Target="../charts/chart4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[Bar chart with takeaways / Insert action title]</a:t>
            </a:r>
            <a:endParaRPr lang="en-DK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2CD9483-FFEE-521F-6A2B-08C3CA220B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5AA652-3BAB-7074-222A-4A1AF1062F2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490835-9A03-0509-5F9B-6ACA4E863C9C}"/>
              </a:ext>
            </a:extLst>
          </p:cNvPr>
          <p:cNvSpPr txBox="1"/>
          <p:nvPr/>
        </p:nvSpPr>
        <p:spPr>
          <a:xfrm>
            <a:off x="467805" y="2404437"/>
            <a:ext cx="1948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[Data],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[Unit]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89132E8-B989-4E05-3D69-E0D7739F15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9030812"/>
              </p:ext>
            </p:extLst>
          </p:nvPr>
        </p:nvGraphicFramePr>
        <p:xfrm>
          <a:off x="550863" y="2901966"/>
          <a:ext cx="7213033" cy="3255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79E5E8D-0FB4-5F50-A80B-983B2D0C4F38}"/>
              </a:ext>
            </a:extLst>
          </p:cNvPr>
          <p:cNvSpPr txBox="1"/>
          <p:nvPr/>
        </p:nvSpPr>
        <p:spPr>
          <a:xfrm>
            <a:off x="558609" y="1780461"/>
            <a:ext cx="7296092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[Description]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1B3EE4C-35CF-72D7-029B-52EDB9F845D8}"/>
              </a:ext>
            </a:extLst>
          </p:cNvPr>
          <p:cNvCxnSpPr>
            <a:cxnSpLocks/>
          </p:cNvCxnSpPr>
          <p:nvPr/>
        </p:nvCxnSpPr>
        <p:spPr>
          <a:xfrm>
            <a:off x="558609" y="2292428"/>
            <a:ext cx="72972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3383D90-9959-9FAB-CFF2-3233B832E23C}"/>
              </a:ext>
            </a:extLst>
          </p:cNvPr>
          <p:cNvSpPr txBox="1"/>
          <p:nvPr/>
        </p:nvSpPr>
        <p:spPr>
          <a:xfrm>
            <a:off x="558609" y="2404437"/>
            <a:ext cx="1948636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[Data],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[Unit]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7B0F01-E443-78BF-99EC-D73149E944B4}"/>
              </a:ext>
            </a:extLst>
          </p:cNvPr>
          <p:cNvSpPr txBox="1"/>
          <p:nvPr/>
        </p:nvSpPr>
        <p:spPr>
          <a:xfrm>
            <a:off x="8106032" y="1780461"/>
            <a:ext cx="3535105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[Key takeaways/main conclusion]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89D686-B66A-AAC5-6BEE-92776382A93D}"/>
              </a:ext>
            </a:extLst>
          </p:cNvPr>
          <p:cNvCxnSpPr>
            <a:cxnSpLocks/>
          </p:cNvCxnSpPr>
          <p:nvPr/>
        </p:nvCxnSpPr>
        <p:spPr>
          <a:xfrm>
            <a:off x="7980920" y="1657350"/>
            <a:ext cx="1" cy="45000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5F73ACB-523B-FC09-AD73-C36500BB66B7}"/>
              </a:ext>
            </a:extLst>
          </p:cNvPr>
          <p:cNvCxnSpPr>
            <a:cxnSpLocks/>
          </p:cNvCxnSpPr>
          <p:nvPr/>
        </p:nvCxnSpPr>
        <p:spPr>
          <a:xfrm>
            <a:off x="8106032" y="2292428"/>
            <a:ext cx="353510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69D96BE-0A1C-EDD5-4F38-F2161B29B1BA}"/>
              </a:ext>
            </a:extLst>
          </p:cNvPr>
          <p:cNvSpPr txBox="1"/>
          <p:nvPr/>
        </p:nvSpPr>
        <p:spPr>
          <a:xfrm>
            <a:off x="8240476" y="2551261"/>
            <a:ext cx="34006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dirty="0">
                <a:latin typeface="+mn-lt"/>
              </a:rPr>
              <a:t>…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</a:endParaRP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DF281EE9-0DD9-F022-67B7-415C1BBCB9F4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7" name="Google Shape;538;p14">
            <a:extLst>
              <a:ext uri="{FF2B5EF4-FFF2-40B4-BE49-F238E27FC236}">
                <a16:creationId xmlns:a16="http://schemas.microsoft.com/office/drawing/2014/main" id="{DE753A26-C7BF-5B19-17C5-64F627A33AD4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009291827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22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4.xml><?xml version="1.0" encoding="utf-8"?>
<a:themeOverride xmlns:a="http://schemas.openxmlformats.org/drawingml/2006/main">
  <a:clrScheme name="GNA">
    <a:dk1>
      <a:srgbClr val="262626"/>
    </a:dk1>
    <a:lt1>
      <a:srgbClr val="FFFFFF"/>
    </a:lt1>
    <a:dk2>
      <a:srgbClr val="025043"/>
    </a:dk2>
    <a:lt2>
      <a:srgbClr val="F2F2F2"/>
    </a:lt2>
    <a:accent1>
      <a:srgbClr val="025043"/>
    </a:accent1>
    <a:accent2>
      <a:srgbClr val="5B9188"/>
    </a:accent2>
    <a:accent3>
      <a:srgbClr val="013A31"/>
    </a:accent3>
    <a:accent4>
      <a:srgbClr val="3D7A6F"/>
    </a:accent4>
    <a:accent5>
      <a:srgbClr val="B3CBC7"/>
    </a:accent5>
    <a:accent6>
      <a:srgbClr val="8C8C8C"/>
    </a:accent6>
    <a:hlink>
      <a:srgbClr val="025043"/>
    </a:hlink>
    <a:folHlink>
      <a:srgbClr val="5B9188"/>
    </a:folHlink>
  </a:clrScheme>
  <a:fontScheme name="GNA Lora">
    <a:majorFont>
      <a:latin typeface="Lora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Lora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