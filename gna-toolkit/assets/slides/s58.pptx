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395" r:id="rId6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[Project title] process expected to run [xx weeks/months]</a:t>
            </a:r>
            <a:endParaRPr lang="en-DK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C59957-66F2-7D29-3B8B-01BEB138D0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15C5B8D3-F740-114C-A872-19851A86465D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C6C209-EA64-8548-9DE0-6FFBDC9A2D88}"/>
              </a:ext>
            </a:extLst>
          </p:cNvPr>
          <p:cNvSpPr/>
          <p:nvPr/>
        </p:nvSpPr>
        <p:spPr>
          <a:xfrm>
            <a:off x="554736" y="1368884"/>
            <a:ext cx="3460243" cy="307777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ＭＳ Ｐゴシック"/>
                <a:cs typeface="Arial" panose="020B0604020202020204" pitchFamily="34" charset="0"/>
              </a:rPr>
              <a:t>High-level project plan and deliverables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93F78C52-FBA1-E57C-E90C-35D402A23038}"/>
              </a:ext>
            </a:extLst>
          </p:cNvPr>
          <p:cNvSpPr/>
          <p:nvPr/>
        </p:nvSpPr>
        <p:spPr>
          <a:xfrm>
            <a:off x="4525189" y="1869206"/>
            <a:ext cx="4204028" cy="4794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Week </a:t>
            </a: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xx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Analysis and interviews</a:t>
            </a: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6B2353CF-A527-3C14-5BCB-809D8A3A34AE}"/>
              </a:ext>
            </a:extLst>
          </p:cNvPr>
          <p:cNvSpPr/>
          <p:nvPr/>
        </p:nvSpPr>
        <p:spPr>
          <a:xfrm>
            <a:off x="8563136" y="1869206"/>
            <a:ext cx="3078000" cy="4794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Week </a:t>
            </a:r>
            <a:r>
              <a:rPr kumimoji="0" lang="da-DK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xx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Consolidation and recommendation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872BFD67-1DB4-C7F2-80EF-B296E63FE04E}"/>
              </a:ext>
            </a:extLst>
          </p:cNvPr>
          <p:cNvSpPr/>
          <p:nvPr/>
        </p:nvSpPr>
        <p:spPr>
          <a:xfrm>
            <a:off x="1614488" y="2414106"/>
            <a:ext cx="10026648" cy="2250736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6F8C8800-FFF8-B834-4C09-2F49876FDB83}"/>
              </a:ext>
            </a:extLst>
          </p:cNvPr>
          <p:cNvSpPr/>
          <p:nvPr/>
        </p:nvSpPr>
        <p:spPr>
          <a:xfrm>
            <a:off x="1614488" y="4707229"/>
            <a:ext cx="10026648" cy="795501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D2DBF711-13C6-F3E9-EA1F-825F728CE272}"/>
              </a:ext>
            </a:extLst>
          </p:cNvPr>
          <p:cNvSpPr/>
          <p:nvPr/>
        </p:nvSpPr>
        <p:spPr>
          <a:xfrm>
            <a:off x="1614488" y="5545118"/>
            <a:ext cx="10026648" cy="795501"/>
          </a:xfrm>
          <a:prstGeom prst="homePlate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064193C1-166A-7DD6-E0CC-CAC331EADA36}"/>
              </a:ext>
            </a:extLst>
          </p:cNvPr>
          <p:cNvSpPr/>
          <p:nvPr/>
        </p:nvSpPr>
        <p:spPr>
          <a:xfrm>
            <a:off x="554736" y="2414106"/>
            <a:ext cx="938125" cy="988788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Activities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4D17270F-54DE-01C7-418B-3DC4128C9A2D}"/>
              </a:ext>
            </a:extLst>
          </p:cNvPr>
          <p:cNvSpPr/>
          <p:nvPr/>
        </p:nvSpPr>
        <p:spPr>
          <a:xfrm>
            <a:off x="554736" y="4707229"/>
            <a:ext cx="1009986" cy="472761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Mgmt.</a:t>
            </a:r>
            <a:b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interaction</a:t>
            </a: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D5923E20-1244-95B9-11A5-3929775F685F}"/>
              </a:ext>
            </a:extLst>
          </p:cNvPr>
          <p:cNvSpPr/>
          <p:nvPr/>
        </p:nvSpPr>
        <p:spPr>
          <a:xfrm>
            <a:off x="554736" y="5545118"/>
            <a:ext cx="938125" cy="472761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Deliver-ables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F4F48650-7BFA-BDCE-141B-9FC8DA4628E8}"/>
              </a:ext>
            </a:extLst>
          </p:cNvPr>
          <p:cNvSpPr/>
          <p:nvPr/>
        </p:nvSpPr>
        <p:spPr>
          <a:xfrm>
            <a:off x="1614487" y="2414106"/>
            <a:ext cx="2910702" cy="2199873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28" name="Pentagon 27">
            <a:extLst>
              <a:ext uri="{FF2B5EF4-FFF2-40B4-BE49-F238E27FC236}">
                <a16:creationId xmlns:a16="http://schemas.microsoft.com/office/drawing/2014/main" id="{1D58FF9B-237C-8D89-2BF6-F0878036D272}"/>
              </a:ext>
            </a:extLst>
          </p:cNvPr>
          <p:cNvSpPr/>
          <p:nvPr/>
        </p:nvSpPr>
        <p:spPr>
          <a:xfrm>
            <a:off x="4525189" y="2414106"/>
            <a:ext cx="3995045" cy="2199873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77AA6E5E-5630-633D-3CD1-D1FF613AF579}"/>
              </a:ext>
            </a:extLst>
          </p:cNvPr>
          <p:cNvSpPr/>
          <p:nvPr/>
        </p:nvSpPr>
        <p:spPr>
          <a:xfrm>
            <a:off x="8563136" y="2414106"/>
            <a:ext cx="2689138" cy="2199873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key activities]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B3315-86B5-F27E-95BC-A71598319C31}"/>
              </a:ext>
            </a:extLst>
          </p:cNvPr>
          <p:cNvSpPr/>
          <p:nvPr/>
        </p:nvSpPr>
        <p:spPr>
          <a:xfrm rot="18900000">
            <a:off x="1972641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7BA7680E-FA38-0514-D528-DFCA32076DE1}"/>
              </a:ext>
            </a:extLst>
          </p:cNvPr>
          <p:cNvSpPr/>
          <p:nvPr/>
        </p:nvSpPr>
        <p:spPr>
          <a:xfrm>
            <a:off x="2280137" y="4817106"/>
            <a:ext cx="938125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Kick-off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898F74-776F-D34B-8FB5-D2D18DE2E9B9}"/>
              </a:ext>
            </a:extLst>
          </p:cNvPr>
          <p:cNvSpPr/>
          <p:nvPr/>
        </p:nvSpPr>
        <p:spPr>
          <a:xfrm rot="18900000">
            <a:off x="5103034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Pentagon 34">
            <a:extLst>
              <a:ext uri="{FF2B5EF4-FFF2-40B4-BE49-F238E27FC236}">
                <a16:creationId xmlns:a16="http://schemas.microsoft.com/office/drawing/2014/main" id="{624C6E8A-F173-E72F-FDDA-E4C77AF91245}"/>
              </a:ext>
            </a:extLst>
          </p:cNvPr>
          <p:cNvSpPr/>
          <p:nvPr/>
        </p:nvSpPr>
        <p:spPr>
          <a:xfrm>
            <a:off x="5410530" y="4817106"/>
            <a:ext cx="938125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Review 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886CE3-2318-C643-49AE-043088206BE7}"/>
              </a:ext>
            </a:extLst>
          </p:cNvPr>
          <p:cNvSpPr/>
          <p:nvPr/>
        </p:nvSpPr>
        <p:spPr>
          <a:xfrm rot="18900000">
            <a:off x="7274613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Pentagon 36">
            <a:extLst>
              <a:ext uri="{FF2B5EF4-FFF2-40B4-BE49-F238E27FC236}">
                <a16:creationId xmlns:a16="http://schemas.microsoft.com/office/drawing/2014/main" id="{ED131BEB-E1E5-1B4A-F74B-B1A72B4FD9D2}"/>
              </a:ext>
            </a:extLst>
          </p:cNvPr>
          <p:cNvSpPr/>
          <p:nvPr/>
        </p:nvSpPr>
        <p:spPr>
          <a:xfrm>
            <a:off x="7582109" y="4817106"/>
            <a:ext cx="938125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on findings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F7C71E-691F-78D3-7F78-9B463B435216}"/>
              </a:ext>
            </a:extLst>
          </p:cNvPr>
          <p:cNvSpPr/>
          <p:nvPr/>
        </p:nvSpPr>
        <p:spPr>
          <a:xfrm rot="18900000">
            <a:off x="9907638" y="4982248"/>
            <a:ext cx="245462" cy="245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Pentagon 38">
            <a:extLst>
              <a:ext uri="{FF2B5EF4-FFF2-40B4-BE49-F238E27FC236}">
                <a16:creationId xmlns:a16="http://schemas.microsoft.com/office/drawing/2014/main" id="{F61EBBB1-4D62-0560-0C9B-FD25F7D89500}"/>
              </a:ext>
            </a:extLst>
          </p:cNvPr>
          <p:cNvSpPr/>
          <p:nvPr/>
        </p:nvSpPr>
        <p:spPr>
          <a:xfrm>
            <a:off x="10215134" y="4817106"/>
            <a:ext cx="1359742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on recommendation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E34C86-4F35-652B-423B-F168F14031B7}"/>
              </a:ext>
            </a:extLst>
          </p:cNvPr>
          <p:cNvSpPr/>
          <p:nvPr/>
        </p:nvSpPr>
        <p:spPr>
          <a:xfrm rot="18900000">
            <a:off x="5099573" y="5824169"/>
            <a:ext cx="245462" cy="2454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Pentagon 41">
            <a:extLst>
              <a:ext uri="{FF2B5EF4-FFF2-40B4-BE49-F238E27FC236}">
                <a16:creationId xmlns:a16="http://schemas.microsoft.com/office/drawing/2014/main" id="{D4FCBCAB-2AA5-C537-F049-C5A9856BEBDC}"/>
              </a:ext>
            </a:extLst>
          </p:cNvPr>
          <p:cNvSpPr/>
          <p:nvPr/>
        </p:nvSpPr>
        <p:spPr>
          <a:xfrm>
            <a:off x="5407069" y="5654994"/>
            <a:ext cx="1147433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Overview of hypothesis</a:t>
            </a:r>
            <a:endParaRPr kumimoji="0" lang="en-DK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F7BB5D-F3DC-EE58-A204-2FE5EA6E8A0B}"/>
              </a:ext>
            </a:extLst>
          </p:cNvPr>
          <p:cNvSpPr/>
          <p:nvPr/>
        </p:nvSpPr>
        <p:spPr>
          <a:xfrm rot="18900000">
            <a:off x="7312071" y="5824170"/>
            <a:ext cx="245462" cy="2454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entagon 43">
            <a:extLst>
              <a:ext uri="{FF2B5EF4-FFF2-40B4-BE49-F238E27FC236}">
                <a16:creationId xmlns:a16="http://schemas.microsoft.com/office/drawing/2014/main" id="{75ACA60A-9CE2-A6A7-CCFE-7E257B84D970}"/>
              </a:ext>
            </a:extLst>
          </p:cNvPr>
          <p:cNvSpPr/>
          <p:nvPr/>
        </p:nvSpPr>
        <p:spPr>
          <a:xfrm>
            <a:off x="7619567" y="5654995"/>
            <a:ext cx="1147433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Preliminary report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5D3F71-3654-CEC3-E9FB-7AEA58C0B2C9}"/>
              </a:ext>
            </a:extLst>
          </p:cNvPr>
          <p:cNvSpPr/>
          <p:nvPr/>
        </p:nvSpPr>
        <p:spPr>
          <a:xfrm rot="18900000">
            <a:off x="9910207" y="5824266"/>
            <a:ext cx="245462" cy="2454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6" name="Pentagon 45">
            <a:extLst>
              <a:ext uri="{FF2B5EF4-FFF2-40B4-BE49-F238E27FC236}">
                <a16:creationId xmlns:a16="http://schemas.microsoft.com/office/drawing/2014/main" id="{41AECA45-7B50-164A-D95E-173965843C95}"/>
              </a:ext>
            </a:extLst>
          </p:cNvPr>
          <p:cNvSpPr/>
          <p:nvPr/>
        </p:nvSpPr>
        <p:spPr>
          <a:xfrm>
            <a:off x="10217703" y="5655091"/>
            <a:ext cx="1147433" cy="575746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report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98AB206A-0D62-794B-9676-7195D061F855}"/>
              </a:ext>
            </a:extLst>
          </p:cNvPr>
          <p:cNvSpPr/>
          <p:nvPr/>
        </p:nvSpPr>
        <p:spPr>
          <a:xfrm>
            <a:off x="1614487" y="1869206"/>
            <a:ext cx="3076783" cy="47880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Week </a:t>
            </a:r>
            <a:r>
              <a:rPr lang="da-DK" sz="12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xx</a:t>
            </a:r>
            <a:b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</a:b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Research and hypotheses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CD99062-AB40-65F9-DBDF-3BC1205BF625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963984477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