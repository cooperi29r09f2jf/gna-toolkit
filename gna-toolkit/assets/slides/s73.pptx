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5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19" r:id="rId77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77" Type="http://schemas.openxmlformats.org/officeDocument/2006/relationships/slide" Target="slides/slide73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73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39.bin"/><Relationship Id="rId7" Type="http://schemas.openxmlformats.org/officeDocument/2006/relationships/image" Target="../media/image6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8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GNA is uniquely positioned and committed to being a partner for [Client]</a:t>
            </a:r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66" name="Text Placeholder 2">
            <a:extLst>
              <a:ext uri="{FF2B5EF4-FFF2-40B4-BE49-F238E27FC236}">
                <a16:creationId xmlns:a16="http://schemas.microsoft.com/office/drawing/2014/main" id="{C91824B8-BC15-C64A-7734-B9FEC8862204}"/>
              </a:ext>
            </a:extLst>
          </p:cNvPr>
          <p:cNvSpPr txBox="1">
            <a:spLocks/>
          </p:cNvSpPr>
          <p:nvPr/>
        </p:nvSpPr>
        <p:spPr>
          <a:xfrm>
            <a:off x="554736" y="1729534"/>
            <a:ext cx="2101525" cy="143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91440" rIns="91440" bIns="9144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28082E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Arial" pitchFamily="34" charset="0"/>
              </a:rPr>
              <a:t>[Insert value proposition e.g. Deep functional expertise]</a:t>
            </a:r>
          </a:p>
        </p:txBody>
      </p:sp>
      <p:sp>
        <p:nvSpPr>
          <p:cNvPr id="367" name="Text Placeholder 2">
            <a:extLst>
              <a:ext uri="{FF2B5EF4-FFF2-40B4-BE49-F238E27FC236}">
                <a16:creationId xmlns:a16="http://schemas.microsoft.com/office/drawing/2014/main" id="{B9D4785C-CE07-EA45-825C-A74A109B26A0}"/>
              </a:ext>
            </a:extLst>
          </p:cNvPr>
          <p:cNvSpPr txBox="1">
            <a:spLocks/>
          </p:cNvSpPr>
          <p:nvPr/>
        </p:nvSpPr>
        <p:spPr>
          <a:xfrm>
            <a:off x="554736" y="3307673"/>
            <a:ext cx="2101525" cy="143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91440" rIns="91440" bIns="91440" rtlCol="0" anchor="b" anchorCtr="0">
            <a:noAutofit/>
          </a:bodyPr>
          <a:lstStyle>
            <a:defPPr>
              <a:defRPr lang="en-US"/>
            </a:defPPr>
            <a:lvl1pPr>
              <a:buClr>
                <a:srgbClr val="28082E"/>
              </a:buClr>
              <a:defRPr sz="1200">
                <a:solidFill>
                  <a:schemeClr val="tx1"/>
                </a:solidFill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28082E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Arial" pitchFamily="34" charset="0"/>
              </a:rPr>
              <a:t>[Insert value proposition]</a:t>
            </a:r>
          </a:p>
        </p:txBody>
      </p:sp>
      <p:sp>
        <p:nvSpPr>
          <p:cNvPr id="368" name="Text Placeholder 2">
            <a:extLst>
              <a:ext uri="{FF2B5EF4-FFF2-40B4-BE49-F238E27FC236}">
                <a16:creationId xmlns:a16="http://schemas.microsoft.com/office/drawing/2014/main" id="{E74466BC-A6B7-EAC0-369F-DE7E99FA72B1}"/>
              </a:ext>
            </a:extLst>
          </p:cNvPr>
          <p:cNvSpPr txBox="1">
            <a:spLocks/>
          </p:cNvSpPr>
          <p:nvPr/>
        </p:nvSpPr>
        <p:spPr>
          <a:xfrm>
            <a:off x="554736" y="4885811"/>
            <a:ext cx="2101525" cy="143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91440" rIns="91440" bIns="91440" rtlCol="0" anchor="b" anchorCtr="0">
            <a:noAutofit/>
          </a:bodyPr>
          <a:lstStyle>
            <a:defPPr>
              <a:defRPr lang="en-US"/>
            </a:defPPr>
            <a:lvl1pPr>
              <a:buClr>
                <a:srgbClr val="28082E"/>
              </a:buClr>
              <a:defRPr sz="1200">
                <a:solidFill>
                  <a:schemeClr val="tx1"/>
                </a:solidFill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28082E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Arial" pitchFamily="34" charset="0"/>
              </a:rPr>
              <a:t>[Insert value proposition]</a:t>
            </a:r>
          </a:p>
        </p:txBody>
      </p:sp>
      <p:sp>
        <p:nvSpPr>
          <p:cNvPr id="369" name="Text Placeholder 2">
            <a:extLst>
              <a:ext uri="{FF2B5EF4-FFF2-40B4-BE49-F238E27FC236}">
                <a16:creationId xmlns:a16="http://schemas.microsoft.com/office/drawing/2014/main" id="{0D5BED37-39AF-7866-4BF3-00759097BE7E}"/>
              </a:ext>
            </a:extLst>
          </p:cNvPr>
          <p:cNvSpPr txBox="1">
            <a:spLocks/>
          </p:cNvSpPr>
          <p:nvPr/>
        </p:nvSpPr>
        <p:spPr>
          <a:xfrm>
            <a:off x="3053301" y="1729534"/>
            <a:ext cx="8581487" cy="143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91440" rIns="91440" bIns="91440" rtlCol="0" anchor="ctr" anchorCtr="0">
            <a:noAutofit/>
          </a:bodyPr>
          <a:lstStyle/>
          <a:p>
            <a:pPr marL="0" lvl="1">
              <a:spcAft>
                <a:spcPts val="800"/>
              </a:spcAft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[Insert brief description of what this means and how you demonstrate that value proposition e.g. We have extensive experience within commercial excellence and how to build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strong commercial organizations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that are well-adapted to the competitive situation and general market conditions.]</a:t>
            </a:r>
          </a:p>
          <a:p>
            <a:pPr marL="0" lvl="1">
              <a:spcAft>
                <a:spcPts val="800"/>
              </a:spcAft>
              <a:defRPr/>
            </a:pPr>
            <a:r>
              <a:rPr lang="en-GB" sz="1200"/>
              <a:t>[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Insert brief description of what this means and how you demonstrate that value proposition]</a:t>
            </a:r>
          </a:p>
          <a:p>
            <a:pPr marL="0" lvl="1">
              <a:spcAft>
                <a:spcPts val="800"/>
              </a:spcAft>
              <a:defRPr/>
            </a:pPr>
            <a:r>
              <a:rPr lang="en-GB" sz="1200"/>
              <a:t>[Insert quantitative credentials, if relevant, e.g.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Arial" pitchFamily="34" charset="0"/>
              </a:rPr>
              <a:t>We have done more than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Arial" pitchFamily="34" charset="0"/>
              </a:rPr>
              <a:t>200+ projects within commercial excellence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Arial" pitchFamily="34" charset="0"/>
              </a:rPr>
              <a:t>over the last five years.]</a:t>
            </a:r>
          </a:p>
        </p:txBody>
      </p:sp>
      <p:sp>
        <p:nvSpPr>
          <p:cNvPr id="370" name="Text Placeholder 2">
            <a:extLst>
              <a:ext uri="{FF2B5EF4-FFF2-40B4-BE49-F238E27FC236}">
                <a16:creationId xmlns:a16="http://schemas.microsoft.com/office/drawing/2014/main" id="{4327246F-5550-3B01-D901-4E28DC9D5FBE}"/>
              </a:ext>
            </a:extLst>
          </p:cNvPr>
          <p:cNvSpPr txBox="1">
            <a:spLocks/>
          </p:cNvSpPr>
          <p:nvPr/>
        </p:nvSpPr>
        <p:spPr>
          <a:xfrm>
            <a:off x="3053301" y="3307673"/>
            <a:ext cx="8581487" cy="143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91440" rIns="91440" bIns="91440" rtlCol="0" anchor="ctr" anchorCtr="0">
            <a:noAutofit/>
          </a:bodyPr>
          <a:lstStyle/>
          <a:p>
            <a:pPr marL="0" lvl="1">
              <a:spcAft>
                <a:spcPts val="800"/>
              </a:spcAft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[Insert brief description of what this means and how you demonstrate that value proposition]</a:t>
            </a:r>
          </a:p>
          <a:p>
            <a:pPr marL="0" lvl="1">
              <a:spcAft>
                <a:spcPts val="800"/>
              </a:spcAft>
              <a:defRPr/>
            </a:pPr>
            <a:r>
              <a:rPr lang="en-GB" sz="1200"/>
              <a:t>[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Insert brief description of what this means and how you demonstrate that value proposition]</a:t>
            </a:r>
          </a:p>
          <a:p>
            <a:pPr marL="0" lvl="1">
              <a:spcAft>
                <a:spcPts val="800"/>
              </a:spcAft>
              <a:defRPr/>
            </a:pPr>
            <a:r>
              <a:rPr lang="en-GB" sz="1200"/>
              <a:t>[Insert quantitative credentials, if relevant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Arial" pitchFamily="34" charset="0"/>
              </a:rPr>
              <a:t>]</a:t>
            </a:r>
          </a:p>
        </p:txBody>
      </p:sp>
      <p:sp>
        <p:nvSpPr>
          <p:cNvPr id="371" name="Text Placeholder 2">
            <a:extLst>
              <a:ext uri="{FF2B5EF4-FFF2-40B4-BE49-F238E27FC236}">
                <a16:creationId xmlns:a16="http://schemas.microsoft.com/office/drawing/2014/main" id="{6D2E1F00-F9D9-1200-9A84-04B7C46EBE6A}"/>
              </a:ext>
            </a:extLst>
          </p:cNvPr>
          <p:cNvSpPr txBox="1">
            <a:spLocks/>
          </p:cNvSpPr>
          <p:nvPr/>
        </p:nvSpPr>
        <p:spPr>
          <a:xfrm>
            <a:off x="3053301" y="4885811"/>
            <a:ext cx="8581487" cy="143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91440" rIns="91440" bIns="91440" rtlCol="0" anchor="ctr" anchorCtr="0">
            <a:noAutofit/>
          </a:bodyPr>
          <a:lstStyle/>
          <a:p>
            <a:pPr marL="0" lvl="1">
              <a:spcAft>
                <a:spcPts val="800"/>
              </a:spcAft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[Insert brief description of what this means and how you demonstrate that value proposition]</a:t>
            </a:r>
          </a:p>
          <a:p>
            <a:pPr marL="0" lvl="1">
              <a:spcAft>
                <a:spcPts val="800"/>
              </a:spcAft>
              <a:defRPr/>
            </a:pPr>
            <a:r>
              <a:rPr lang="en-GB" sz="1200"/>
              <a:t>[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Insert brief description of what this means and how you demonstrate that value proposition]</a:t>
            </a:r>
          </a:p>
          <a:p>
            <a:pPr marL="0" lvl="1">
              <a:spcAft>
                <a:spcPts val="800"/>
              </a:spcAft>
              <a:defRPr/>
            </a:pPr>
            <a:r>
              <a:rPr lang="en-GB" sz="1200"/>
              <a:t>[Insert quantitative credentials, if relevant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Arial" pitchFamily="34" charset="0"/>
              </a:rPr>
              <a:t>]</a:t>
            </a:r>
          </a:p>
        </p:txBody>
      </p:sp>
      <p:sp>
        <p:nvSpPr>
          <p:cNvPr id="372" name="Content Placeholder 7">
            <a:extLst>
              <a:ext uri="{FF2B5EF4-FFF2-40B4-BE49-F238E27FC236}">
                <a16:creationId xmlns:a16="http://schemas.microsoft.com/office/drawing/2014/main" id="{C4EFD1C8-1464-02A5-5E90-F31614A52B83}"/>
              </a:ext>
            </a:extLst>
          </p:cNvPr>
          <p:cNvSpPr txBox="1">
            <a:spLocks/>
          </p:cNvSpPr>
          <p:nvPr/>
        </p:nvSpPr>
        <p:spPr>
          <a:xfrm>
            <a:off x="508570" y="1440257"/>
            <a:ext cx="1315425" cy="200376"/>
          </a:xfrm>
          <a:prstGeom prst="rect">
            <a:avLst/>
          </a:prstGeom>
        </p:spPr>
        <p:txBody>
          <a:bodyPr vert="horz" wrap="none" lIns="9144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What we bring</a:t>
            </a:r>
          </a:p>
        </p:txBody>
      </p:sp>
      <p:sp>
        <p:nvSpPr>
          <p:cNvPr id="373" name="Content Placeholder 7">
            <a:extLst>
              <a:ext uri="{FF2B5EF4-FFF2-40B4-BE49-F238E27FC236}">
                <a16:creationId xmlns:a16="http://schemas.microsoft.com/office/drawing/2014/main" id="{E2E48BDD-E93E-ACB0-B7D2-8C35D43DB714}"/>
              </a:ext>
            </a:extLst>
          </p:cNvPr>
          <p:cNvSpPr txBox="1">
            <a:spLocks/>
          </p:cNvSpPr>
          <p:nvPr/>
        </p:nvSpPr>
        <p:spPr>
          <a:xfrm>
            <a:off x="3053301" y="1440257"/>
            <a:ext cx="1305807" cy="200376"/>
          </a:xfrm>
          <a:prstGeom prst="rect">
            <a:avLst/>
          </a:prstGeom>
        </p:spPr>
        <p:txBody>
          <a:bodyPr vert="horz" wrap="none" lIns="91440" tIns="0" rIns="0" bIns="0" rtlCol="0" anchor="ctr" anchorCtr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What it means</a:t>
            </a:r>
          </a:p>
        </p:txBody>
      </p:sp>
      <p:sp>
        <p:nvSpPr>
          <p:cNvPr id="374" name="Isosceles Triangle 373">
            <a:extLst>
              <a:ext uri="{FF2B5EF4-FFF2-40B4-BE49-F238E27FC236}">
                <a16:creationId xmlns:a16="http://schemas.microsoft.com/office/drawing/2014/main" id="{F9715E9E-EE39-EFD5-E9CC-E0DEB276E88A}"/>
              </a:ext>
            </a:extLst>
          </p:cNvPr>
          <p:cNvSpPr/>
          <p:nvPr/>
        </p:nvSpPr>
        <p:spPr>
          <a:xfrm rot="5400000">
            <a:off x="2591264" y="2335629"/>
            <a:ext cx="329063" cy="22248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5" name="Isosceles Triangle 374">
            <a:extLst>
              <a:ext uri="{FF2B5EF4-FFF2-40B4-BE49-F238E27FC236}">
                <a16:creationId xmlns:a16="http://schemas.microsoft.com/office/drawing/2014/main" id="{2353CC92-EC02-3E22-2677-9BB67C91863D}"/>
              </a:ext>
            </a:extLst>
          </p:cNvPr>
          <p:cNvSpPr/>
          <p:nvPr/>
        </p:nvSpPr>
        <p:spPr>
          <a:xfrm rot="5400000">
            <a:off x="2591264" y="3913768"/>
            <a:ext cx="329063" cy="22248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6" name="Isosceles Triangle 375">
            <a:extLst>
              <a:ext uri="{FF2B5EF4-FFF2-40B4-BE49-F238E27FC236}">
                <a16:creationId xmlns:a16="http://schemas.microsoft.com/office/drawing/2014/main" id="{2292DF67-C90F-4869-F000-AFE108880700}"/>
              </a:ext>
            </a:extLst>
          </p:cNvPr>
          <p:cNvSpPr/>
          <p:nvPr/>
        </p:nvSpPr>
        <p:spPr>
          <a:xfrm rot="5400000">
            <a:off x="2591264" y="5491906"/>
            <a:ext cx="329063" cy="222481"/>
          </a:xfrm>
          <a:prstGeom prst="triangle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288600-1FF9-DDF9-5D98-49D378AC0C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898" y="5172604"/>
            <a:ext cx="457200" cy="45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CC78BE-33F1-FFB1-AD4E-0F3A05B40E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6898" y="3542558"/>
            <a:ext cx="457200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3E9AAA-D10E-01BA-7FC4-81CE41A8C4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6898" y="1912512"/>
            <a:ext cx="457200" cy="457200"/>
          </a:xfrm>
          <a:prstGeom prst="rect">
            <a:avLst/>
          </a:prstGeom>
        </p:spPr>
      </p:pic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D52FBBCD-402F-3AA0-B2B0-AAE4D7A26C48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047398614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73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