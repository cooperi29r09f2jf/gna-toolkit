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251" r:id="rId2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28" Type="http://schemas.openxmlformats.org/officeDocument/2006/relationships/slide" Target="slides/slide24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5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767415560973493E-2"/>
          <c:y val="4.387280567257857E-2"/>
          <c:w val="0.87621426453410911"/>
          <c:h val="0.8480193993822765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</c:v>
                </c:pt>
              </c:strCache>
            </c:strRef>
          </c:tx>
          <c:spPr>
            <a:ln w="28575" cap="rnd">
              <a:solidFill>
                <a:srgbClr val="02504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E98-554D-8CC7-1F2E39A6B37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2023F</c:v>
                </c:pt>
                <c:pt idx="5">
                  <c:v>2024F</c:v>
                </c:pt>
                <c:pt idx="6">
                  <c:v>2025F</c:v>
                </c:pt>
                <c:pt idx="7">
                  <c:v>2026F</c:v>
                </c:pt>
                <c:pt idx="8">
                  <c:v>2027F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37</c:v>
                </c:pt>
                <c:pt idx="1">
                  <c:v>42</c:v>
                </c:pt>
                <c:pt idx="2">
                  <c:v>49</c:v>
                </c:pt>
                <c:pt idx="3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98-554D-8CC7-1F2E39A6B3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Scenario 1</c:v>
                </c:pt>
              </c:strCache>
            </c:strRef>
          </c:tx>
          <c:spPr>
            <a:ln w="28575" cap="rnd">
              <a:solidFill>
                <a:srgbClr val="5B9188"/>
              </a:solidFill>
              <a:prstDash val="dash"/>
              <a:round/>
            </a:ln>
            <a:effectLst/>
          </c:spPr>
          <c:marker>
            <c:symbol val="none"/>
          </c:marker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98-554D-8CC7-1F2E39A6B37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2023F</c:v>
                </c:pt>
                <c:pt idx="5">
                  <c:v>2024F</c:v>
                </c:pt>
                <c:pt idx="6">
                  <c:v>2025F</c:v>
                </c:pt>
                <c:pt idx="7">
                  <c:v>2026F</c:v>
                </c:pt>
                <c:pt idx="8">
                  <c:v>2027F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3">
                  <c:v>55</c:v>
                </c:pt>
                <c:pt idx="4">
                  <c:v>63</c:v>
                </c:pt>
                <c:pt idx="5">
                  <c:v>74</c:v>
                </c:pt>
                <c:pt idx="6">
                  <c:v>91</c:v>
                </c:pt>
                <c:pt idx="7">
                  <c:v>101</c:v>
                </c:pt>
                <c:pt idx="8">
                  <c:v>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E98-554D-8CC7-1F2E39A6B3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Scenario 2</c:v>
                </c:pt>
              </c:strCache>
            </c:strRef>
          </c:tx>
          <c:spPr>
            <a:ln w="28575" cap="rnd">
              <a:solidFill>
                <a:srgbClr val="025043"/>
              </a:solidFill>
              <a:prstDash val="dash"/>
              <a:round/>
            </a:ln>
            <a:effectLst/>
          </c:spPr>
          <c:marker>
            <c:symbol val="none"/>
          </c:marker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E98-554D-8CC7-1F2E39A6B37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2023F</c:v>
                </c:pt>
                <c:pt idx="5">
                  <c:v>2024F</c:v>
                </c:pt>
                <c:pt idx="6">
                  <c:v>2025F</c:v>
                </c:pt>
                <c:pt idx="7">
                  <c:v>2026F</c:v>
                </c:pt>
                <c:pt idx="8">
                  <c:v>2027F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3">
                  <c:v>55</c:v>
                </c:pt>
                <c:pt idx="4">
                  <c:v>59</c:v>
                </c:pt>
                <c:pt idx="5">
                  <c:v>66</c:v>
                </c:pt>
                <c:pt idx="6">
                  <c:v>72</c:v>
                </c:pt>
                <c:pt idx="7">
                  <c:v>75</c:v>
                </c:pt>
                <c:pt idx="8">
                  <c:v>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E98-554D-8CC7-1F2E39A6B3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89798176"/>
        <c:axId val="1989808576"/>
      </c:lineChart>
      <c:catAx>
        <c:axId val="1989798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FFFFFF">
                  <a:lumMod val="7500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9808576"/>
        <c:crosses val="autoZero"/>
        <c:auto val="1"/>
        <c:lblAlgn val="ctr"/>
        <c:lblOffset val="100"/>
        <c:noMultiLvlLbl val="0"/>
      </c:catAx>
      <c:valAx>
        <c:axId val="198980857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FFFFFF">
                  <a:lumMod val="75000"/>
                </a:srgb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9798176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+mn-lt"/>
        </a:defRPr>
      </a:pPr>
      <a:endParaRPr lang="en-US"/>
    </a:p>
  </c:txPr>
  <c:externalData r:id="rId4">
    <c:autoUpdate val="0"/>
  </c:externalData>
</c:chartSpac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24</a:t>
            </a:fld>
            <a:endParaRPr lang="en-GB" sz="1200" u="none" strike="noStrike" cap="none" dirty="0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1024291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4.xml.rels><?xml version="1.0" encoding="UTF-8" standalone="yes"?>
<Relationships xmlns="http://schemas.openxmlformats.org/package/2006/relationships"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" Type="http://schemas.openxmlformats.org/officeDocument/2006/relationships/tags" Target="../tags/tag321.xml"/><Relationship Id="rId6" Type="http://schemas.openxmlformats.org/officeDocument/2006/relationships/chart" Target="../charts/chart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[Line chart with two scenarios / Insert action title]</a:t>
            </a:r>
            <a:endParaRPr lang="en-DK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9E9858C-493D-53EC-6E29-E272271400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3B14A1-3639-7570-0BA3-AB79DEB372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8D79FAE-EC08-BBAD-E329-1A1DC9B8DC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5047231"/>
              </p:ext>
            </p:extLst>
          </p:nvPr>
        </p:nvGraphicFramePr>
        <p:xfrm>
          <a:off x="619126" y="2793444"/>
          <a:ext cx="7235572" cy="3363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DDC0DA94-47FE-A0D4-4316-8F2799C8BC49}"/>
              </a:ext>
            </a:extLst>
          </p:cNvPr>
          <p:cNvGrpSpPr/>
          <p:nvPr/>
        </p:nvGrpSpPr>
        <p:grpSpPr>
          <a:xfrm>
            <a:off x="6479676" y="2450603"/>
            <a:ext cx="1233211" cy="184666"/>
            <a:chOff x="7316536" y="2186224"/>
            <a:chExt cx="1233211" cy="1846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B0B66FC-C9FC-8386-3530-4E0AB4254A26}"/>
                </a:ext>
              </a:extLst>
            </p:cNvPr>
            <p:cNvCxnSpPr>
              <a:cxnSpLocks/>
            </p:cNvCxnSpPr>
            <p:nvPr>
              <p:custDataLst>
                <p:tags r:id="rId3"/>
              </p:custDataLst>
            </p:nvPr>
          </p:nvCxnSpPr>
          <p:spPr bwMode="gray">
            <a:xfrm>
              <a:off x="7316536" y="2278557"/>
              <a:ext cx="285750" cy="0"/>
            </a:xfrm>
            <a:prstGeom prst="line">
              <a:avLst/>
            </a:prstGeom>
            <a:ln w="28575" cap="rnd" cmpd="sng" algn="ctr">
              <a:solidFill>
                <a:schemeClr val="accent1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83A7A7C-9AC8-AD7E-4C54-FEC364CAC084}"/>
                </a:ext>
              </a:extLst>
            </p:cNvPr>
            <p:cNvSpPr>
              <a:spLocks/>
            </p:cNvSpPr>
            <p:nvPr/>
          </p:nvSpPr>
          <p:spPr>
            <a:xfrm>
              <a:off x="7724504" y="2186224"/>
              <a:ext cx="825243" cy="18466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  <a:buClr>
                  <a:schemeClr val="accent1"/>
                </a:buClr>
              </a:pPr>
              <a:r>
                <a:rPr lang="en-US" sz="1200" dirty="0">
                  <a:solidFill>
                    <a:schemeClr val="tx1"/>
                  </a:solidFill>
                </a:rPr>
                <a:t>[Scenario 2]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8910B5E-89E1-70C8-1CA5-31D430E281E6}"/>
              </a:ext>
            </a:extLst>
          </p:cNvPr>
          <p:cNvGrpSpPr/>
          <p:nvPr/>
        </p:nvGrpSpPr>
        <p:grpSpPr>
          <a:xfrm>
            <a:off x="4834624" y="2450603"/>
            <a:ext cx="1233211" cy="184666"/>
            <a:chOff x="5926737" y="2186224"/>
            <a:chExt cx="1233211" cy="18466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F9BBB14-8167-1435-1247-7D114D468801}"/>
                </a:ext>
              </a:extLst>
            </p:cNvPr>
            <p:cNvCxnSpPr>
              <a:cxnSpLocks/>
            </p:cNvCxnSpPr>
            <p:nvPr>
              <p:custDataLst>
                <p:tags r:id="rId2"/>
              </p:custDataLst>
            </p:nvPr>
          </p:nvCxnSpPr>
          <p:spPr bwMode="gray">
            <a:xfrm>
              <a:off x="5926737" y="2278557"/>
              <a:ext cx="285750" cy="0"/>
            </a:xfrm>
            <a:prstGeom prst="line">
              <a:avLst/>
            </a:prstGeom>
            <a:ln w="28575" cap="rnd" cmpd="sng" algn="ctr">
              <a:solidFill>
                <a:schemeClr val="accent2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703BF3-4DA4-9C66-9846-636EDB737BD2}"/>
                </a:ext>
              </a:extLst>
            </p:cNvPr>
            <p:cNvSpPr>
              <a:spLocks/>
            </p:cNvSpPr>
            <p:nvPr/>
          </p:nvSpPr>
          <p:spPr>
            <a:xfrm>
              <a:off x="6334705" y="2186224"/>
              <a:ext cx="825243" cy="18466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  <a:buClr>
                  <a:schemeClr val="accent1"/>
                </a:buClr>
              </a:pPr>
              <a:r>
                <a:rPr lang="en-US" sz="1200" dirty="0">
                  <a:solidFill>
                    <a:schemeClr val="tx1"/>
                  </a:solidFill>
                </a:rPr>
                <a:t>[Scenario 1]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336734-13A8-44CA-4CBC-54A6531591F7}"/>
              </a:ext>
            </a:extLst>
          </p:cNvPr>
          <p:cNvGrpSpPr/>
          <p:nvPr/>
        </p:nvGrpSpPr>
        <p:grpSpPr>
          <a:xfrm>
            <a:off x="3341858" y="2450603"/>
            <a:ext cx="1233211" cy="184666"/>
            <a:chOff x="4689224" y="2186224"/>
            <a:chExt cx="1233211" cy="18466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1FDB6C8-6EB4-ABC5-9C3D-8B2C28361ED0}"/>
                </a:ext>
              </a:extLst>
            </p:cNvPr>
            <p:cNvCxnSpPr>
              <a:cxnSpLocks/>
            </p:cNvCxnSpPr>
            <p:nvPr>
              <p:custDataLst>
                <p:tags r:id="rId1"/>
              </p:custDataLst>
            </p:nvPr>
          </p:nvCxnSpPr>
          <p:spPr bwMode="gray">
            <a:xfrm>
              <a:off x="4689224" y="2278557"/>
              <a:ext cx="285750" cy="0"/>
            </a:xfrm>
            <a:prstGeom prst="line">
              <a:avLst/>
            </a:prstGeom>
            <a:ln w="28575" cap="rnd" cmpd="sng" algn="ctr">
              <a:solidFill>
                <a:schemeClr val="accent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246060-E4A4-E69B-B8D7-9337497B15C0}"/>
                </a:ext>
              </a:extLst>
            </p:cNvPr>
            <p:cNvSpPr>
              <a:spLocks/>
            </p:cNvSpPr>
            <p:nvPr/>
          </p:nvSpPr>
          <p:spPr>
            <a:xfrm>
              <a:off x="5097192" y="2186224"/>
              <a:ext cx="825243" cy="184666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>
                <a:spcAft>
                  <a:spcPts val="300"/>
                </a:spcAft>
                <a:buClr>
                  <a:schemeClr val="accent1"/>
                </a:buClr>
              </a:pPr>
              <a:r>
                <a:rPr lang="en-US" sz="1200" dirty="0">
                  <a:solidFill>
                    <a:schemeClr val="tx1"/>
                  </a:solidFill>
                </a:rPr>
                <a:t>[Historic]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56A5444-D2C6-6A6A-4772-E9BB3B92F051}"/>
              </a:ext>
            </a:extLst>
          </p:cNvPr>
          <p:cNvSpPr txBox="1"/>
          <p:nvPr/>
        </p:nvSpPr>
        <p:spPr>
          <a:xfrm>
            <a:off x="558609" y="1780461"/>
            <a:ext cx="7296092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[Description]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8B53AD-EF7E-F602-6401-F9B1D5DF88C1}"/>
              </a:ext>
            </a:extLst>
          </p:cNvPr>
          <p:cNvCxnSpPr>
            <a:cxnSpLocks/>
          </p:cNvCxnSpPr>
          <p:nvPr/>
        </p:nvCxnSpPr>
        <p:spPr>
          <a:xfrm>
            <a:off x="558609" y="2292428"/>
            <a:ext cx="72972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8831258-1CE8-3552-7C19-6D1BBD98C4FA}"/>
              </a:ext>
            </a:extLst>
          </p:cNvPr>
          <p:cNvSpPr txBox="1"/>
          <p:nvPr/>
        </p:nvSpPr>
        <p:spPr>
          <a:xfrm>
            <a:off x="558609" y="2404437"/>
            <a:ext cx="1948636" cy="27699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[Data],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[Unit]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87E3A0-EAF9-0CC9-53FC-A7062CF80138}"/>
              </a:ext>
            </a:extLst>
          </p:cNvPr>
          <p:cNvSpPr txBox="1"/>
          <p:nvPr/>
        </p:nvSpPr>
        <p:spPr>
          <a:xfrm>
            <a:off x="8106032" y="1780461"/>
            <a:ext cx="3535105" cy="427657"/>
          </a:xfrm>
          <a:prstGeom prst="rect">
            <a:avLst/>
          </a:prstGeom>
          <a:noFill/>
        </p:spPr>
        <p:txBody>
          <a:bodyPr wrap="square" lIns="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[Key takeaways/main conclusion]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5D388DE-869D-7554-3605-E3D57BB0D4D0}"/>
              </a:ext>
            </a:extLst>
          </p:cNvPr>
          <p:cNvCxnSpPr>
            <a:cxnSpLocks/>
          </p:cNvCxnSpPr>
          <p:nvPr/>
        </p:nvCxnSpPr>
        <p:spPr>
          <a:xfrm>
            <a:off x="7980920" y="1657350"/>
            <a:ext cx="1" cy="450003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081285-D567-02FF-7A9D-3962B541C8F1}"/>
              </a:ext>
            </a:extLst>
          </p:cNvPr>
          <p:cNvCxnSpPr>
            <a:cxnSpLocks/>
          </p:cNvCxnSpPr>
          <p:nvPr/>
        </p:nvCxnSpPr>
        <p:spPr>
          <a:xfrm>
            <a:off x="8106032" y="2292428"/>
            <a:ext cx="3535105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4A1CE6B-064B-55E4-8546-6EED70164EF7}"/>
              </a:ext>
            </a:extLst>
          </p:cNvPr>
          <p:cNvSpPr txBox="1"/>
          <p:nvPr/>
        </p:nvSpPr>
        <p:spPr>
          <a:xfrm>
            <a:off x="8240476" y="2551261"/>
            <a:ext cx="34006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[Short description and most important takeaways]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dirty="0">
                <a:latin typeface="+mn-lt"/>
              </a:rPr>
              <a:t>…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</a:endParaRPr>
          </a:p>
        </p:txBody>
      </p:sp>
      <p:sp>
        <p:nvSpPr>
          <p:cNvPr id="15" name="Google Shape;507;p14">
            <a:extLst>
              <a:ext uri="{FF2B5EF4-FFF2-40B4-BE49-F238E27FC236}">
                <a16:creationId xmlns:a16="http://schemas.microsoft.com/office/drawing/2014/main" id="{76883B40-D60C-E50F-DD70-5F28B3ED3703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23" name="Google Shape;538;p14">
            <a:extLst>
              <a:ext uri="{FF2B5EF4-FFF2-40B4-BE49-F238E27FC236}">
                <a16:creationId xmlns:a16="http://schemas.microsoft.com/office/drawing/2014/main" id="{BD4F5728-8181-3547-190D-20E76DBAE431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670873766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3ELQWugi.HCEYm2.EqwDg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JLGnp6u3GRhLry.ldu2Q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AraFhF.I5kbdC1jWCQUmw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5.xml><?xml version="1.0" encoding="utf-8"?>
<a:themeOverride xmlns:a="http://schemas.openxmlformats.org/drawingml/2006/main">
  <a:clrScheme name="GNA">
    <a:dk1>
      <a:srgbClr val="262626"/>
    </a:dk1>
    <a:lt1>
      <a:srgbClr val="FFFFFF"/>
    </a:lt1>
    <a:dk2>
      <a:srgbClr val="025043"/>
    </a:dk2>
    <a:lt2>
      <a:srgbClr val="F2F2F2"/>
    </a:lt2>
    <a:accent1>
      <a:srgbClr val="025043"/>
    </a:accent1>
    <a:accent2>
      <a:srgbClr val="5B9188"/>
    </a:accent2>
    <a:accent3>
      <a:srgbClr val="013A31"/>
    </a:accent3>
    <a:accent4>
      <a:srgbClr val="3D7A6F"/>
    </a:accent4>
    <a:accent5>
      <a:srgbClr val="B3CBC7"/>
    </a:accent5>
    <a:accent6>
      <a:srgbClr val="8C8C8C"/>
    </a:accent6>
    <a:hlink>
      <a:srgbClr val="025043"/>
    </a:hlink>
    <a:folHlink>
      <a:srgbClr val="5B9188"/>
    </a:folHlink>
  </a:clrScheme>
  <a:fontScheme name="GNA Lora">
    <a:majorFont>
      <a:latin typeface="Lora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Lora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