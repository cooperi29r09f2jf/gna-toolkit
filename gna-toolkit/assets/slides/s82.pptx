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33" r:id="rId86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86" Type="http://schemas.openxmlformats.org/officeDocument/2006/relationships/slide" Target="slides/slide82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[Start with the quick wins and fund one big bet / Insert action title]</a:t>
            </a:r>
          </a:p>
        </p:txBody>
      </p:sp>
      <p:sp>
        <p:nvSpPr>
          <p:cNvPr id="3" name="Quadrant Quick wins"/>
          <p:cNvSpPr/>
          <p:nvPr/>
        </p:nvSpPr>
        <p:spPr>
          <a:xfrm>
            <a:off x="1188720" y="1554480"/>
            <a:ext cx="2926080" cy="2148840"/>
          </a:xfrm>
          <a:prstGeom prst="rect">
            <a:avLst/>
          </a:prstGeom>
          <a:solidFill>
            <a:srgbClr val="E6EEEC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abel Quick wins"/>
          <p:cNvSpPr txBox="1"/>
          <p:nvPr/>
        </p:nvSpPr>
        <p:spPr>
          <a:xfrm>
            <a:off x="1325880" y="1664207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25043"/>
                </a:solidFill>
              </a:rPr>
              <a:t>Quick wins</a:t>
            </a:r>
          </a:p>
        </p:txBody>
      </p:sp>
      <p:sp>
        <p:nvSpPr>
          <p:cNvPr id="5" name="Quadrant Big bets"/>
          <p:cNvSpPr/>
          <p:nvPr/>
        </p:nvSpPr>
        <p:spPr>
          <a:xfrm>
            <a:off x="4114800" y="1554480"/>
            <a:ext cx="2926080" cy="2148840"/>
          </a:xfrm>
          <a:prstGeom prst="rect">
            <a:avLst/>
          </a:prstGeom>
          <a:solidFill>
            <a:srgbClr val="E6EEEC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abel Big bets"/>
          <p:cNvSpPr txBox="1"/>
          <p:nvPr/>
        </p:nvSpPr>
        <p:spPr>
          <a:xfrm>
            <a:off x="4251960" y="1664207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25043"/>
                </a:solidFill>
              </a:rPr>
              <a:t>Big bets</a:t>
            </a:r>
          </a:p>
        </p:txBody>
      </p:sp>
      <p:sp>
        <p:nvSpPr>
          <p:cNvPr id="7" name="Quadrant Fill-ins"/>
          <p:cNvSpPr/>
          <p:nvPr/>
        </p:nvSpPr>
        <p:spPr>
          <a:xfrm>
            <a:off x="1188720" y="3703320"/>
            <a:ext cx="2926080" cy="2148840"/>
          </a:xfrm>
          <a:prstGeom prst="rect">
            <a:avLst/>
          </a:prstGeom>
          <a:solidFill>
            <a:srgbClr val="F2F2F2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abel Fill-ins"/>
          <p:cNvSpPr txBox="1"/>
          <p:nvPr/>
        </p:nvSpPr>
        <p:spPr>
          <a:xfrm>
            <a:off x="1325880" y="381304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C8C8C"/>
                </a:solidFill>
              </a:rPr>
              <a:t>Fill-ins</a:t>
            </a:r>
          </a:p>
        </p:txBody>
      </p:sp>
      <p:sp>
        <p:nvSpPr>
          <p:cNvPr id="9" name="Quadrant Deprioritize"/>
          <p:cNvSpPr/>
          <p:nvPr/>
        </p:nvSpPr>
        <p:spPr>
          <a:xfrm>
            <a:off x="4114800" y="3703320"/>
            <a:ext cx="2926080" cy="2148840"/>
          </a:xfrm>
          <a:prstGeom prst="rect">
            <a:avLst/>
          </a:prstGeom>
          <a:solidFill>
            <a:srgbClr val="F2F2F2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abel Deprioritize"/>
          <p:cNvSpPr txBox="1"/>
          <p:nvPr/>
        </p:nvSpPr>
        <p:spPr>
          <a:xfrm>
            <a:off x="4251960" y="381304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C8C8C"/>
                </a:solidFill>
              </a:rPr>
              <a:t>Deprioritize</a:t>
            </a:r>
          </a:p>
        </p:txBody>
      </p:sp>
      <p:cxnSp>
        <p:nvCxnSpPr>
          <p:cNvPr id="11" name="X axis"/>
          <p:cNvCxnSpPr/>
          <p:nvPr/>
        </p:nvCxnSpPr>
        <p:spPr>
          <a:xfrm>
            <a:off x="1188720" y="5852160"/>
            <a:ext cx="5943600" cy="0"/>
          </a:xfrm>
          <a:prstGeom prst="line">
            <a:avLst/>
          </a:prstGeom>
          <a:ln w="1270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Y axis"/>
          <p:cNvCxnSpPr/>
          <p:nvPr/>
        </p:nvCxnSpPr>
        <p:spPr>
          <a:xfrm>
            <a:off x="1188720" y="1463039"/>
            <a:ext cx="0" cy="4389121"/>
          </a:xfrm>
          <a:prstGeom prst="line">
            <a:avLst/>
          </a:prstGeom>
          <a:ln w="1270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X label"/>
          <p:cNvSpPr txBox="1"/>
          <p:nvPr/>
        </p:nvSpPr>
        <p:spPr>
          <a:xfrm>
            <a:off x="1188720" y="594360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262626"/>
                </a:solidFill>
              </a:rPr>
              <a:t>Effort</a:t>
            </a:r>
            <a:r>
              <a:rPr sz="1000" b="0" i="0">
                <a:solidFill>
                  <a:srgbClr val="8C8C8C"/>
                </a:solidFill>
              </a:rPr>
              <a:t>  low to high</a:t>
            </a:r>
          </a:p>
        </p:txBody>
      </p:sp>
      <p:sp>
        <p:nvSpPr>
          <p:cNvPr id="14" name="Y label"/>
          <p:cNvSpPr txBox="1"/>
          <p:nvPr/>
        </p:nvSpPr>
        <p:spPr>
          <a:xfrm rot="16200000">
            <a:off x="-228600" y="35661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262626"/>
                </a:solidFill>
              </a:rPr>
              <a:t>Impact</a:t>
            </a:r>
            <a:r>
              <a:rPr sz="1000" b="0" i="0">
                <a:solidFill>
                  <a:srgbClr val="8C8C8C"/>
                </a:solidFill>
              </a:rPr>
              <a:t>  low to high</a:t>
            </a:r>
          </a:p>
        </p:txBody>
      </p:sp>
      <p:sp>
        <p:nvSpPr>
          <p:cNvPr id="15" name="Idea dot 1"/>
          <p:cNvSpPr/>
          <p:nvPr/>
        </p:nvSpPr>
        <p:spPr>
          <a:xfrm>
            <a:off x="2068372" y="2240280"/>
            <a:ext cx="347472" cy="347472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Idea dot 2"/>
          <p:cNvSpPr/>
          <p:nvPr/>
        </p:nvSpPr>
        <p:spPr>
          <a:xfrm>
            <a:off x="2887675" y="3013862"/>
            <a:ext cx="347472" cy="347472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Idea dot 3"/>
          <p:cNvSpPr/>
          <p:nvPr/>
        </p:nvSpPr>
        <p:spPr>
          <a:xfrm>
            <a:off x="5111495" y="2025395"/>
            <a:ext cx="347472" cy="347472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Idea dot 4"/>
          <p:cNvSpPr/>
          <p:nvPr/>
        </p:nvSpPr>
        <p:spPr>
          <a:xfrm>
            <a:off x="5813755" y="3099816"/>
            <a:ext cx="347472" cy="347472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Idea dot 5"/>
          <p:cNvSpPr/>
          <p:nvPr/>
        </p:nvSpPr>
        <p:spPr>
          <a:xfrm>
            <a:off x="2478024" y="4475073"/>
            <a:ext cx="347472" cy="347472"/>
          </a:xfrm>
          <a:prstGeom prst="ellips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Idea dot 6"/>
          <p:cNvSpPr/>
          <p:nvPr/>
        </p:nvSpPr>
        <p:spPr>
          <a:xfrm>
            <a:off x="5228539" y="4818888"/>
            <a:ext cx="347472" cy="347472"/>
          </a:xfrm>
          <a:prstGeom prst="ellips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Legend header"/>
          <p:cNvSpPr txBox="1"/>
          <p:nvPr/>
        </p:nvSpPr>
        <p:spPr>
          <a:xfrm>
            <a:off x="7589520" y="155448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25043"/>
                </a:solidFill>
              </a:rPr>
              <a:t>Ideas plotted</a:t>
            </a:r>
          </a:p>
        </p:txBody>
      </p:sp>
      <p:sp>
        <p:nvSpPr>
          <p:cNvPr id="22" name="Legend dot 1"/>
          <p:cNvSpPr/>
          <p:nvPr/>
        </p:nvSpPr>
        <p:spPr>
          <a:xfrm>
            <a:off x="7589520" y="2011680"/>
            <a:ext cx="292608" cy="292608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" name="Legend item 1"/>
          <p:cNvSpPr txBox="1"/>
          <p:nvPr/>
        </p:nvSpPr>
        <p:spPr>
          <a:xfrm>
            <a:off x="8046720" y="199339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</a:rPr>
              <a:t>[Idea 1]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</a:rPr>
              <a:t>[One line on why it sits here]</a:t>
            </a:r>
          </a:p>
        </p:txBody>
      </p:sp>
      <p:sp>
        <p:nvSpPr>
          <p:cNvPr id="24" name="Legend dot 2"/>
          <p:cNvSpPr/>
          <p:nvPr/>
        </p:nvSpPr>
        <p:spPr>
          <a:xfrm>
            <a:off x="7589520" y="2697480"/>
            <a:ext cx="292608" cy="292608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Legend item 2"/>
          <p:cNvSpPr txBox="1"/>
          <p:nvPr/>
        </p:nvSpPr>
        <p:spPr>
          <a:xfrm>
            <a:off x="8046720" y="267919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</a:rPr>
              <a:t>[Idea 2]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</a:rPr>
              <a:t>[One line on why it sits here]</a:t>
            </a:r>
          </a:p>
        </p:txBody>
      </p:sp>
      <p:sp>
        <p:nvSpPr>
          <p:cNvPr id="26" name="Legend dot 3"/>
          <p:cNvSpPr/>
          <p:nvPr/>
        </p:nvSpPr>
        <p:spPr>
          <a:xfrm>
            <a:off x="7589520" y="3383280"/>
            <a:ext cx="292608" cy="292608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Legend item 3"/>
          <p:cNvSpPr txBox="1"/>
          <p:nvPr/>
        </p:nvSpPr>
        <p:spPr>
          <a:xfrm>
            <a:off x="8046720" y="336499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</a:rPr>
              <a:t>[Idea 3]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</a:rPr>
              <a:t>[One line on why it sits here]</a:t>
            </a:r>
          </a:p>
        </p:txBody>
      </p:sp>
      <p:sp>
        <p:nvSpPr>
          <p:cNvPr id="28" name="Legend dot 4"/>
          <p:cNvSpPr/>
          <p:nvPr/>
        </p:nvSpPr>
        <p:spPr>
          <a:xfrm>
            <a:off x="7589520" y="4069080"/>
            <a:ext cx="292608" cy="292608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Legend item 4"/>
          <p:cNvSpPr txBox="1"/>
          <p:nvPr/>
        </p:nvSpPr>
        <p:spPr>
          <a:xfrm>
            <a:off x="8046720" y="405079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</a:rPr>
              <a:t>[Idea 4]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</a:rPr>
              <a:t>[One line on why it sits here]</a:t>
            </a:r>
          </a:p>
        </p:txBody>
      </p:sp>
      <p:sp>
        <p:nvSpPr>
          <p:cNvPr id="30" name="Legend dot 5"/>
          <p:cNvSpPr/>
          <p:nvPr/>
        </p:nvSpPr>
        <p:spPr>
          <a:xfrm>
            <a:off x="7589520" y="4754880"/>
            <a:ext cx="292608" cy="292608"/>
          </a:xfrm>
          <a:prstGeom prst="ellips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Legend item 5"/>
          <p:cNvSpPr txBox="1"/>
          <p:nvPr/>
        </p:nvSpPr>
        <p:spPr>
          <a:xfrm>
            <a:off x="8046720" y="473659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</a:rPr>
              <a:t>[Idea 5]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</a:rPr>
              <a:t>[One line on why it sits here]</a:t>
            </a:r>
          </a:p>
        </p:txBody>
      </p:sp>
      <p:sp>
        <p:nvSpPr>
          <p:cNvPr id="32" name="Legend dot 6"/>
          <p:cNvSpPr/>
          <p:nvPr/>
        </p:nvSpPr>
        <p:spPr>
          <a:xfrm>
            <a:off x="7589520" y="5440680"/>
            <a:ext cx="292608" cy="292608"/>
          </a:xfrm>
          <a:prstGeom prst="ellips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Legend item 6"/>
          <p:cNvSpPr txBox="1"/>
          <p:nvPr/>
        </p:nvSpPr>
        <p:spPr>
          <a:xfrm>
            <a:off x="8046720" y="542239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</a:rPr>
              <a:t>[Idea 6]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</a:rPr>
              <a:t>[One line on why it sits here]</a:t>
            </a:r>
          </a:p>
        </p:txBody>
      </p:sp>
    </p:spTree>
    <p:custDataLst>
      <p:tags r:id="rIdGna1"/>
    </p:custData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82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