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17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0936" r:id="rId23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23" Type="http://schemas.openxmlformats.org/officeDocument/2006/relationships/slide" Target="slides/slide19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8656671018540184E-2"/>
          <c:y val="2.457387326941252E-2"/>
          <c:w val="0.92383473542033601"/>
          <c:h val="0.894234284930992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2504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5B91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95C-4201-A861-447926D5D06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[Segment/group]</c:v>
                </c:pt>
                <c:pt idx="1">
                  <c:v>[Focus]</c:v>
                </c:pt>
                <c:pt idx="2">
                  <c:v>[Segment/group]</c:v>
                </c:pt>
                <c:pt idx="3">
                  <c:v>[Segment/group]</c:v>
                </c:pt>
                <c:pt idx="4">
                  <c:v>[Segment/group]</c:v>
                </c:pt>
                <c:pt idx="5">
                  <c:v>[Segment/group]</c:v>
                </c:pt>
                <c:pt idx="6">
                  <c:v>[Segment/group]</c:v>
                </c:pt>
                <c:pt idx="7">
                  <c:v>[Segment/group]</c:v>
                </c:pt>
                <c:pt idx="8">
                  <c:v>[Segment/group]</c:v>
                </c:pt>
                <c:pt idx="9">
                  <c:v>[Segment/group]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670</c:v>
                </c:pt>
                <c:pt idx="1">
                  <c:v>623</c:v>
                </c:pt>
                <c:pt idx="2">
                  <c:v>580</c:v>
                </c:pt>
                <c:pt idx="3">
                  <c:v>564</c:v>
                </c:pt>
                <c:pt idx="4">
                  <c:v>514</c:v>
                </c:pt>
                <c:pt idx="5">
                  <c:v>421</c:v>
                </c:pt>
                <c:pt idx="6">
                  <c:v>376</c:v>
                </c:pt>
                <c:pt idx="7">
                  <c:v>360</c:v>
                </c:pt>
                <c:pt idx="8">
                  <c:v>342</c:v>
                </c:pt>
                <c:pt idx="9">
                  <c:v>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95C-4201-A861-447926D5D0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58103200"/>
        <c:axId val="1158104032"/>
      </c:barChart>
      <c:catAx>
        <c:axId val="115810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25043"/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58104032"/>
        <c:crosses val="autoZero"/>
        <c:auto val="1"/>
        <c:lblAlgn val="ctr"/>
        <c:lblOffset val="100"/>
        <c:noMultiLvlLbl val="0"/>
      </c:catAx>
      <c:valAx>
        <c:axId val="1158104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FFFFFF">
                  <a:lumMod val="75000"/>
                </a:srgb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25043"/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5810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+mn-lt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7.xml"/><Relationship Id="rId5" Type="http://schemas.openxmlformats.org/officeDocument/2006/relationships/chart" Target="../charts/chart1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[Column chart for comparison with takeaways / Insert action title]</a:t>
            </a:r>
            <a:endParaRPr lang="en-DK" dirty="0"/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80302009-C849-4759-AE2E-25289DE3A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C319087-CB06-4062-E8AD-D8212E21D1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43A095F5-D89E-048B-48B0-FCC260CD2E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027348"/>
              </p:ext>
            </p:extLst>
          </p:nvPr>
        </p:nvGraphicFramePr>
        <p:xfrm>
          <a:off x="585789" y="2901966"/>
          <a:ext cx="7178108" cy="3255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332D289-03AC-9227-AD23-E7C56149CB8F}"/>
              </a:ext>
            </a:extLst>
          </p:cNvPr>
          <p:cNvSpPr txBox="1"/>
          <p:nvPr/>
        </p:nvSpPr>
        <p:spPr>
          <a:xfrm>
            <a:off x="467805" y="2404437"/>
            <a:ext cx="1948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[Data],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[Unit]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D9AD1-07F9-AFFC-AC98-4FE692D1B509}"/>
              </a:ext>
            </a:extLst>
          </p:cNvPr>
          <p:cNvSpPr txBox="1"/>
          <p:nvPr/>
        </p:nvSpPr>
        <p:spPr>
          <a:xfrm>
            <a:off x="558609" y="1780461"/>
            <a:ext cx="7296092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[Description]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CADC1C1-2BA7-97EE-76F5-B67E3765B10C}"/>
              </a:ext>
            </a:extLst>
          </p:cNvPr>
          <p:cNvCxnSpPr>
            <a:cxnSpLocks/>
          </p:cNvCxnSpPr>
          <p:nvPr/>
        </p:nvCxnSpPr>
        <p:spPr>
          <a:xfrm>
            <a:off x="558609" y="2292428"/>
            <a:ext cx="72972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CC8A5F1-98A2-1F3A-939B-593EF4217C9D}"/>
              </a:ext>
            </a:extLst>
          </p:cNvPr>
          <p:cNvSpPr txBox="1"/>
          <p:nvPr/>
        </p:nvSpPr>
        <p:spPr>
          <a:xfrm>
            <a:off x="558609" y="2404437"/>
            <a:ext cx="1948636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[Data],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[Unit]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40360-A768-70A0-1FAF-9C8EB4BF2886}"/>
              </a:ext>
            </a:extLst>
          </p:cNvPr>
          <p:cNvSpPr txBox="1"/>
          <p:nvPr/>
        </p:nvSpPr>
        <p:spPr>
          <a:xfrm>
            <a:off x="8106032" y="1780461"/>
            <a:ext cx="3535105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[Key takeaways/main conclusion]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5EAC6F-C9F7-3ADD-7257-A05F59267023}"/>
              </a:ext>
            </a:extLst>
          </p:cNvPr>
          <p:cNvCxnSpPr>
            <a:cxnSpLocks/>
          </p:cNvCxnSpPr>
          <p:nvPr/>
        </p:nvCxnSpPr>
        <p:spPr>
          <a:xfrm>
            <a:off x="7980920" y="1657350"/>
            <a:ext cx="1" cy="45000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C0943D-0AB2-1B8D-76DF-1EB3FC60D9F0}"/>
              </a:ext>
            </a:extLst>
          </p:cNvPr>
          <p:cNvCxnSpPr>
            <a:cxnSpLocks/>
          </p:cNvCxnSpPr>
          <p:nvPr/>
        </p:nvCxnSpPr>
        <p:spPr>
          <a:xfrm>
            <a:off x="8106032" y="2292428"/>
            <a:ext cx="353510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C3FECCA-8695-6FF1-2AD3-1166356FF9D5}"/>
              </a:ext>
            </a:extLst>
          </p:cNvPr>
          <p:cNvSpPr txBox="1"/>
          <p:nvPr/>
        </p:nvSpPr>
        <p:spPr>
          <a:xfrm>
            <a:off x="8240476" y="2551261"/>
            <a:ext cx="340066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dirty="0">
                <a:latin typeface="+mn-lt"/>
              </a:rPr>
              <a:t>…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</a:endParaRPr>
          </a:p>
        </p:txBody>
      </p:sp>
      <p:sp>
        <p:nvSpPr>
          <p:cNvPr id="6" name="Google Shape;507;p14">
            <a:extLst>
              <a:ext uri="{FF2B5EF4-FFF2-40B4-BE49-F238E27FC236}">
                <a16:creationId xmlns:a16="http://schemas.microsoft.com/office/drawing/2014/main" id="{765E51FE-8CE3-A461-0D59-5E61548E42B1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7" name="Google Shape;538;p14">
            <a:extLst>
              <a:ext uri="{FF2B5EF4-FFF2-40B4-BE49-F238E27FC236}">
                <a16:creationId xmlns:a16="http://schemas.microsoft.com/office/drawing/2014/main" id="{01DF431F-8446-03A0-5D76-4A41F3E83C06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326394006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19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NA">
    <a:dk1>
      <a:srgbClr val="262626"/>
    </a:dk1>
    <a:lt1>
      <a:srgbClr val="FFFFFF"/>
    </a:lt1>
    <a:dk2>
      <a:srgbClr val="025043"/>
    </a:dk2>
    <a:lt2>
      <a:srgbClr val="F2F2F2"/>
    </a:lt2>
    <a:accent1>
      <a:srgbClr val="025043"/>
    </a:accent1>
    <a:accent2>
      <a:srgbClr val="5B9188"/>
    </a:accent2>
    <a:accent3>
      <a:srgbClr val="013A31"/>
    </a:accent3>
    <a:accent4>
      <a:srgbClr val="3D7A6F"/>
    </a:accent4>
    <a:accent5>
      <a:srgbClr val="B3CBC7"/>
    </a:accent5>
    <a:accent6>
      <a:srgbClr val="8C8C8C"/>
    </a:accent6>
    <a:hlink>
      <a:srgbClr val="025043"/>
    </a:hlink>
    <a:folHlink>
      <a:srgbClr val="5B9188"/>
    </a:folHlink>
  </a:clrScheme>
  <a:fontScheme name="GNA Lora">
    <a:majorFont>
      <a:latin typeface="Lora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Lora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