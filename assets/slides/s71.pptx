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17" r:id="rId75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71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6.xml"/><Relationship Id="rId4" Type="http://schemas.openxmlformats.org/officeDocument/2006/relationships/image" Target="../media/image60.emf"/><Relationship Id="rIdGna1" Type="http://schemas.openxmlformats.org/officeDocument/2006/relationships/tags" Target="../tags/gnatag1.xml"/></Relationships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AC25573-AC2F-E746-62A5-1139E46359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AC25573-AC2F-E746-62A5-1139E46359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F188BA77-20EB-8959-E39A-8486A0A4B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 structure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2305E21-2806-3C6D-99DA-92CA63AA4A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FAB6F3-6CCE-A6CA-83D8-B0E5066B5D06}"/>
              </a:ext>
            </a:extLst>
          </p:cNvPr>
          <p:cNvSpPr txBox="1"/>
          <p:nvPr/>
        </p:nvSpPr>
        <p:spPr>
          <a:xfrm>
            <a:off x="8071104" y="1750918"/>
            <a:ext cx="3566160" cy="450373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DK"/>
            </a:defPPr>
            <a:lvl1pPr>
              <a:defRPr sz="1100">
                <a:solidFill>
                  <a:srgbClr val="2F363B"/>
                </a:solidFill>
              </a:defRPr>
            </a:lvl1pPr>
            <a:lvl2pPr marL="182880" marR="0" lvl="1" indent="-182880" defTabSz="742950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lvl="1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Notes:</a:t>
            </a:r>
          </a:p>
          <a:p>
            <a:pPr lvl="1"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</a:rPr>
              <a:t>The investment represents our best estimate based on our current understanding of the project scope.</a:t>
            </a:r>
          </a:p>
          <a:p>
            <a:pPr lvl="1"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</a:rPr>
              <a:t>We expect a team of xx FTEs over the course of the xx weeks of the project, with the team composition changing over time according to the activities.</a:t>
            </a:r>
          </a:p>
          <a:p>
            <a:pPr lvl="1"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</a:rPr>
              <a:t>All fees are in [currency].</a:t>
            </a:r>
          </a:p>
          <a:p>
            <a:pPr lvl="1"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</a:rPr>
              <a:t>All fees are exclusive of [VAT/tax] and consultant expenses (e.g., travel, accommodation etc.).</a:t>
            </a:r>
          </a:p>
          <a:p>
            <a:pPr lvl="1"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</a:rPr>
              <a:t>GNA’s general terms and conditions apply.</a:t>
            </a:r>
          </a:p>
        </p:txBody>
      </p:sp>
      <p:sp>
        <p:nvSpPr>
          <p:cNvPr id="47" name="Rectangle 6">
            <a:extLst>
              <a:ext uri="{FF2B5EF4-FFF2-40B4-BE49-F238E27FC236}">
                <a16:creationId xmlns:a16="http://schemas.microsoft.com/office/drawing/2014/main" id="{112F0AC0-4CBC-FFEE-5619-BA7F51C25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36" y="1750918"/>
            <a:ext cx="3566160" cy="457200"/>
          </a:xfrm>
          <a:prstGeom prst="rect">
            <a:avLst/>
          </a:prstGeom>
          <a:solidFill>
            <a:schemeClr val="accent1"/>
          </a:solidFill>
          <a:ln w="28575">
            <a:noFill/>
            <a:miter lim="800000"/>
            <a:headEnd/>
            <a:tailEnd/>
          </a:ln>
          <a:effectLst/>
        </p:spPr>
        <p:txBody>
          <a:bodyPr wrap="square" lIns="91440" tIns="91440" rIns="91440" bIns="9144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DK" sz="16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Deliverable</a:t>
            </a:r>
          </a:p>
        </p:txBody>
      </p:sp>
      <p:sp>
        <p:nvSpPr>
          <p:cNvPr id="48" name="Rectangle 6">
            <a:extLst>
              <a:ext uri="{FF2B5EF4-FFF2-40B4-BE49-F238E27FC236}">
                <a16:creationId xmlns:a16="http://schemas.microsoft.com/office/drawing/2014/main" id="{48AC95C7-F2B4-D7E8-00E0-693E30F52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2920" y="1750918"/>
            <a:ext cx="3566160" cy="457200"/>
          </a:xfrm>
          <a:prstGeom prst="rect">
            <a:avLst/>
          </a:prstGeom>
          <a:solidFill>
            <a:schemeClr val="accent1"/>
          </a:solidFill>
          <a:ln w="28575">
            <a:noFill/>
            <a:miter lim="800000"/>
            <a:headEnd/>
            <a:tailEnd/>
          </a:ln>
          <a:effectLst/>
        </p:spPr>
        <p:txBody>
          <a:bodyPr wrap="square" lIns="91440" tIns="91440" rIns="91440" bIns="9144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DK" sz="16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Fee</a:t>
            </a:r>
          </a:p>
        </p:txBody>
      </p:sp>
      <p:sp>
        <p:nvSpPr>
          <p:cNvPr id="49" name="Content Placeholder 7">
            <a:extLst>
              <a:ext uri="{FF2B5EF4-FFF2-40B4-BE49-F238E27FC236}">
                <a16:creationId xmlns:a16="http://schemas.microsoft.com/office/drawing/2014/main" id="{FBF1B080-A261-3D06-8A34-F0A23924EBF7}"/>
              </a:ext>
            </a:extLst>
          </p:cNvPr>
          <p:cNvSpPr txBox="1">
            <a:spLocks/>
          </p:cNvSpPr>
          <p:nvPr/>
        </p:nvSpPr>
        <p:spPr>
          <a:xfrm>
            <a:off x="554736" y="2487668"/>
            <a:ext cx="3566160" cy="639599"/>
          </a:xfrm>
          <a:prstGeom prst="rect">
            <a:avLst/>
          </a:prstGeom>
        </p:spPr>
        <p:txBody>
          <a:bodyPr vert="horz" wrap="square" lIns="91440" tIns="0" rIns="9144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</a:t>
            </a:r>
            <a:r>
              <a:rPr lang="en-US" sz="1400" b="1"/>
              <a:t>I</a:t>
            </a:r>
            <a:r>
              <a:rPr kumimoji="0" lang="en-US" sz="14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nsert deliverable 1]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short description and resource/FTE need]</a:t>
            </a:r>
          </a:p>
        </p:txBody>
      </p:sp>
      <p:sp>
        <p:nvSpPr>
          <p:cNvPr id="50" name="Content Placeholder 7">
            <a:extLst>
              <a:ext uri="{FF2B5EF4-FFF2-40B4-BE49-F238E27FC236}">
                <a16:creationId xmlns:a16="http://schemas.microsoft.com/office/drawing/2014/main" id="{0A6CB444-6EC5-D6C1-F6E9-0ED1EB187677}"/>
              </a:ext>
            </a:extLst>
          </p:cNvPr>
          <p:cNvSpPr txBox="1">
            <a:spLocks/>
          </p:cNvSpPr>
          <p:nvPr/>
        </p:nvSpPr>
        <p:spPr>
          <a:xfrm>
            <a:off x="4312920" y="2487668"/>
            <a:ext cx="3566160" cy="200376"/>
          </a:xfrm>
          <a:prstGeom prst="rect">
            <a:avLst/>
          </a:prstGeom>
        </p:spPr>
        <p:txBody>
          <a:bodyPr vert="horz" wrap="square" lIns="91440" tIns="0" rIns="9144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xx [currency]</a:t>
            </a:r>
          </a:p>
        </p:txBody>
      </p:sp>
      <p:sp>
        <p:nvSpPr>
          <p:cNvPr id="51" name="Content Placeholder 7">
            <a:extLst>
              <a:ext uri="{FF2B5EF4-FFF2-40B4-BE49-F238E27FC236}">
                <a16:creationId xmlns:a16="http://schemas.microsoft.com/office/drawing/2014/main" id="{7D631E24-1584-584C-062B-10E5FF4C7502}"/>
              </a:ext>
            </a:extLst>
          </p:cNvPr>
          <p:cNvSpPr txBox="1">
            <a:spLocks/>
          </p:cNvSpPr>
          <p:nvPr/>
        </p:nvSpPr>
        <p:spPr>
          <a:xfrm>
            <a:off x="554736" y="5508590"/>
            <a:ext cx="3566160" cy="200376"/>
          </a:xfrm>
          <a:prstGeom prst="rect">
            <a:avLst/>
          </a:prstGeom>
        </p:spPr>
        <p:txBody>
          <a:bodyPr vert="horz" wrap="square" lIns="91440" tIns="0" rIns="9144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Total fee for the xx week project:</a:t>
            </a:r>
          </a:p>
        </p:txBody>
      </p:sp>
      <p:sp>
        <p:nvSpPr>
          <p:cNvPr id="52" name="Content Placeholder 7">
            <a:extLst>
              <a:ext uri="{FF2B5EF4-FFF2-40B4-BE49-F238E27FC236}">
                <a16:creationId xmlns:a16="http://schemas.microsoft.com/office/drawing/2014/main" id="{BDF6BBE1-467B-63F3-C1FE-F0CA0C2C48EA}"/>
              </a:ext>
            </a:extLst>
          </p:cNvPr>
          <p:cNvSpPr txBox="1">
            <a:spLocks/>
          </p:cNvSpPr>
          <p:nvPr/>
        </p:nvSpPr>
        <p:spPr>
          <a:xfrm>
            <a:off x="4312920" y="5508590"/>
            <a:ext cx="3566160" cy="200376"/>
          </a:xfrm>
          <a:prstGeom prst="rect">
            <a:avLst/>
          </a:prstGeom>
        </p:spPr>
        <p:txBody>
          <a:bodyPr vert="horz" wrap="square" lIns="91440" tIns="0" rIns="9144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xx [currency]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342CC2D7-4DC0-B229-FE63-9CA9C5ED2A68}"/>
              </a:ext>
            </a:extLst>
          </p:cNvPr>
          <p:cNvSpPr txBox="1">
            <a:spLocks/>
          </p:cNvSpPr>
          <p:nvPr/>
        </p:nvSpPr>
        <p:spPr>
          <a:xfrm>
            <a:off x="554736" y="3402798"/>
            <a:ext cx="3566160" cy="639599"/>
          </a:xfrm>
          <a:prstGeom prst="rect">
            <a:avLst/>
          </a:prstGeom>
        </p:spPr>
        <p:txBody>
          <a:bodyPr vert="horz" wrap="square" lIns="91440" tIns="0" rIns="9144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</a:t>
            </a:r>
            <a:r>
              <a:rPr lang="en-US" sz="1400" b="1"/>
              <a:t>I</a:t>
            </a:r>
            <a:r>
              <a:rPr kumimoji="0" lang="en-US" sz="14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nsert deliverable 2]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short description and resource/FTE need]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932B437-5993-2BD3-B820-B20FC63722CF}"/>
              </a:ext>
            </a:extLst>
          </p:cNvPr>
          <p:cNvSpPr txBox="1">
            <a:spLocks/>
          </p:cNvSpPr>
          <p:nvPr/>
        </p:nvSpPr>
        <p:spPr>
          <a:xfrm>
            <a:off x="554736" y="4317928"/>
            <a:ext cx="3566160" cy="639599"/>
          </a:xfrm>
          <a:prstGeom prst="rect">
            <a:avLst/>
          </a:prstGeom>
        </p:spPr>
        <p:txBody>
          <a:bodyPr vert="horz" wrap="square" lIns="91440" tIns="0" rIns="9144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</a:t>
            </a:r>
            <a:r>
              <a:rPr lang="en-US" sz="1400" b="1"/>
              <a:t>I</a:t>
            </a:r>
            <a:r>
              <a:rPr kumimoji="0" lang="en-US" sz="1400" b="1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nsert deliverable 3]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[Insert short description and resource/FTE need]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FDC9E1-B189-4B05-0A80-82A5382AFC6E}"/>
              </a:ext>
            </a:extLst>
          </p:cNvPr>
          <p:cNvCxnSpPr>
            <a:cxnSpLocks/>
          </p:cNvCxnSpPr>
          <p:nvPr/>
        </p:nvCxnSpPr>
        <p:spPr>
          <a:xfrm>
            <a:off x="554736" y="5233058"/>
            <a:ext cx="7324344" cy="0"/>
          </a:xfrm>
          <a:prstGeom prst="line">
            <a:avLst/>
          </a:prstGeom>
          <a:ln w="15875" cap="sq">
            <a:solidFill>
              <a:srgbClr val="000000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EF445C09-998E-C67E-10C3-7FD5B528CD10}"/>
              </a:ext>
            </a:extLst>
          </p:cNvPr>
          <p:cNvSpPr txBox="1">
            <a:spLocks/>
          </p:cNvSpPr>
          <p:nvPr/>
        </p:nvSpPr>
        <p:spPr>
          <a:xfrm>
            <a:off x="4312920" y="3402798"/>
            <a:ext cx="3566160" cy="200376"/>
          </a:xfrm>
          <a:prstGeom prst="rect">
            <a:avLst/>
          </a:prstGeom>
        </p:spPr>
        <p:txBody>
          <a:bodyPr vert="horz" wrap="square" lIns="91440" tIns="0" rIns="9144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xx [currency]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6B68BCC-4231-84BE-EE1B-838DAC867FEE}"/>
              </a:ext>
            </a:extLst>
          </p:cNvPr>
          <p:cNvSpPr txBox="1">
            <a:spLocks/>
          </p:cNvSpPr>
          <p:nvPr/>
        </p:nvSpPr>
        <p:spPr>
          <a:xfrm>
            <a:off x="4312920" y="4317928"/>
            <a:ext cx="3566160" cy="200376"/>
          </a:xfrm>
          <a:prstGeom prst="rect">
            <a:avLst/>
          </a:prstGeom>
        </p:spPr>
        <p:txBody>
          <a:bodyPr vert="horz" wrap="square" lIns="91440" tIns="0" rIns="9144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44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288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432000" indent="-144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576000" indent="-1800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·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xx [currency]</a:t>
            </a:r>
          </a:p>
        </p:txBody>
      </p: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3C4861C4-9C5A-83B2-8E9A-B963EB085A86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51386440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1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