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4" r:id="rId8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87" Type="http://schemas.openxmlformats.org/officeDocument/2006/relationships/slide" Target="slides/slide83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[We recommend option B because it balances value and risk / Insert action title]</a:t>
            </a:r>
          </a:p>
        </p:txBody>
      </p:sp>
      <p:sp>
        <p:nvSpPr>
          <p:cNvPr id="3" name="Option A title"/>
          <p:cNvSpPr txBox="1"/>
          <p:nvPr/>
        </p:nvSpPr>
        <p:spPr>
          <a:xfrm>
            <a:off x="557784" y="182880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</a:rPr>
              <a:t>Option A: [Name]</a:t>
            </a:r>
          </a:p>
        </p:txBody>
      </p:sp>
      <p:cxnSp>
        <p:nvCxnSpPr>
          <p:cNvPr id="4" name="Option A rule"/>
          <p:cNvCxnSpPr/>
          <p:nvPr/>
        </p:nvCxnSpPr>
        <p:spPr>
          <a:xfrm>
            <a:off x="557784" y="2313432"/>
            <a:ext cx="356616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ption A description"/>
          <p:cNvSpPr txBox="1"/>
          <p:nvPr/>
        </p:nvSpPr>
        <p:spPr>
          <a:xfrm>
            <a:off x="557784" y="2441448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[Two sentences describing what this option involves]</a:t>
            </a:r>
          </a:p>
        </p:txBody>
      </p:sp>
      <p:sp>
        <p:nvSpPr>
          <p:cNvPr id="6" name="Option A benefits header"/>
          <p:cNvSpPr txBox="1"/>
          <p:nvPr/>
        </p:nvSpPr>
        <p:spPr>
          <a:xfrm>
            <a:off x="557784" y="3246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Benefits</a:t>
            </a:r>
          </a:p>
        </p:txBody>
      </p:sp>
      <p:sp>
        <p:nvSpPr>
          <p:cNvPr id="7" name="Option A benefits"/>
          <p:cNvSpPr txBox="1"/>
          <p:nvPr/>
        </p:nvSpPr>
        <p:spPr>
          <a:xfrm>
            <a:off x="557784" y="353872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[Benefit]</a:t>
            </a:r>
          </a:p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[Benefit]</a:t>
            </a:r>
          </a:p>
        </p:txBody>
      </p:sp>
      <p:sp>
        <p:nvSpPr>
          <p:cNvPr id="8" name="Option A tradeoffs header"/>
          <p:cNvSpPr txBox="1"/>
          <p:nvPr/>
        </p:nvSpPr>
        <p:spPr>
          <a:xfrm>
            <a:off x="557784" y="4297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Trade-offs</a:t>
            </a:r>
          </a:p>
        </p:txBody>
      </p:sp>
      <p:sp>
        <p:nvSpPr>
          <p:cNvPr id="9" name="Option A tradeoffs"/>
          <p:cNvSpPr txBox="1"/>
          <p:nvPr/>
        </p:nvSpPr>
        <p:spPr>
          <a:xfrm>
            <a:off x="557784" y="459028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[Trade-off]</a:t>
            </a:r>
          </a:p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[Trade-off]</a:t>
            </a:r>
          </a:p>
        </p:txBody>
      </p:sp>
      <p:sp>
        <p:nvSpPr>
          <p:cNvPr id="10" name="Option A facts"/>
          <p:cNvSpPr txBox="1"/>
          <p:nvPr/>
        </p:nvSpPr>
        <p:spPr>
          <a:xfrm>
            <a:off x="557784" y="54864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62626"/>
                </a:solidFill>
              </a:rPr>
              <a:t>Cost: </a:t>
            </a:r>
            <a:r>
              <a:rPr sz="1100" b="0" i="0">
                <a:solidFill>
                  <a:srgbClr val="262626"/>
                </a:solidFill>
              </a:rPr>
              <a:t>[xx]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62626"/>
                </a:solidFill>
              </a:rPr>
              <a:t>Time to value: </a:t>
            </a:r>
            <a:r>
              <a:rPr sz="1100" b="0" i="0">
                <a:solidFill>
                  <a:srgbClr val="262626"/>
                </a:solidFill>
              </a:rPr>
              <a:t>[xx months]</a:t>
            </a:r>
          </a:p>
        </p:txBody>
      </p:sp>
      <p:sp>
        <p:nvSpPr>
          <p:cNvPr id="11" name="Recommended tag"/>
          <p:cNvSpPr/>
          <p:nvPr/>
        </p:nvSpPr>
        <p:spPr>
          <a:xfrm>
            <a:off x="4315968" y="1417320"/>
            <a:ext cx="1371600" cy="274320"/>
          </a:xfrm>
          <a:prstGeom prst="roundRect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Recommended</a:t>
            </a:r>
          </a:p>
        </p:txBody>
      </p:sp>
      <p:sp>
        <p:nvSpPr>
          <p:cNvPr id="12" name="Option B title"/>
          <p:cNvSpPr txBox="1"/>
          <p:nvPr/>
        </p:nvSpPr>
        <p:spPr>
          <a:xfrm>
            <a:off x="4315968" y="182880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25043"/>
                </a:solidFill>
              </a:rPr>
              <a:t>Option B: [Name]</a:t>
            </a:r>
          </a:p>
        </p:txBody>
      </p:sp>
      <p:cxnSp>
        <p:nvCxnSpPr>
          <p:cNvPr id="13" name="Option B rule"/>
          <p:cNvCxnSpPr/>
          <p:nvPr/>
        </p:nvCxnSpPr>
        <p:spPr>
          <a:xfrm>
            <a:off x="4315968" y="2313432"/>
            <a:ext cx="3566160" cy="0"/>
          </a:xfrm>
          <a:prstGeom prst="line">
            <a:avLst/>
          </a:prstGeom>
          <a:ln w="1905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ption B description"/>
          <p:cNvSpPr txBox="1"/>
          <p:nvPr/>
        </p:nvSpPr>
        <p:spPr>
          <a:xfrm>
            <a:off x="4315968" y="2441448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[Two sentences describing what this option involves]</a:t>
            </a:r>
          </a:p>
        </p:txBody>
      </p:sp>
      <p:sp>
        <p:nvSpPr>
          <p:cNvPr id="15" name="Option B benefits header"/>
          <p:cNvSpPr txBox="1"/>
          <p:nvPr/>
        </p:nvSpPr>
        <p:spPr>
          <a:xfrm>
            <a:off x="4315968" y="3246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Benefits</a:t>
            </a:r>
          </a:p>
        </p:txBody>
      </p:sp>
      <p:sp>
        <p:nvSpPr>
          <p:cNvPr id="16" name="Option B benefits"/>
          <p:cNvSpPr txBox="1"/>
          <p:nvPr/>
        </p:nvSpPr>
        <p:spPr>
          <a:xfrm>
            <a:off x="4315968" y="353872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[Benefit]</a:t>
            </a:r>
          </a:p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[Benefit]</a:t>
            </a:r>
          </a:p>
        </p:txBody>
      </p:sp>
      <p:sp>
        <p:nvSpPr>
          <p:cNvPr id="17" name="Option B tradeoffs header"/>
          <p:cNvSpPr txBox="1"/>
          <p:nvPr/>
        </p:nvSpPr>
        <p:spPr>
          <a:xfrm>
            <a:off x="4315968" y="4297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Trade-offs</a:t>
            </a:r>
          </a:p>
        </p:txBody>
      </p:sp>
      <p:sp>
        <p:nvSpPr>
          <p:cNvPr id="18" name="Option B tradeoffs"/>
          <p:cNvSpPr txBox="1"/>
          <p:nvPr/>
        </p:nvSpPr>
        <p:spPr>
          <a:xfrm>
            <a:off x="4315968" y="459028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[Trade-off]</a:t>
            </a:r>
          </a:p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[Trade-off]</a:t>
            </a:r>
          </a:p>
        </p:txBody>
      </p:sp>
      <p:sp>
        <p:nvSpPr>
          <p:cNvPr id="19" name="Option B facts"/>
          <p:cNvSpPr txBox="1"/>
          <p:nvPr/>
        </p:nvSpPr>
        <p:spPr>
          <a:xfrm>
            <a:off x="4315968" y="54864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62626"/>
                </a:solidFill>
              </a:rPr>
              <a:t>Cost: </a:t>
            </a:r>
            <a:r>
              <a:rPr sz="1100" b="0" i="0">
                <a:solidFill>
                  <a:srgbClr val="262626"/>
                </a:solidFill>
              </a:rPr>
              <a:t>[xx]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62626"/>
                </a:solidFill>
              </a:rPr>
              <a:t>Time to value: </a:t>
            </a:r>
            <a:r>
              <a:rPr sz="1100" b="0" i="0">
                <a:solidFill>
                  <a:srgbClr val="262626"/>
                </a:solidFill>
              </a:rPr>
              <a:t>[xx months]</a:t>
            </a:r>
          </a:p>
        </p:txBody>
      </p:sp>
      <p:sp>
        <p:nvSpPr>
          <p:cNvPr id="20" name="Option C title"/>
          <p:cNvSpPr txBox="1"/>
          <p:nvPr/>
        </p:nvSpPr>
        <p:spPr>
          <a:xfrm>
            <a:off x="8074152" y="182880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</a:rPr>
              <a:t>Option C: [Name]</a:t>
            </a:r>
          </a:p>
        </p:txBody>
      </p:sp>
      <p:cxnSp>
        <p:nvCxnSpPr>
          <p:cNvPr id="21" name="Option C rule"/>
          <p:cNvCxnSpPr/>
          <p:nvPr/>
        </p:nvCxnSpPr>
        <p:spPr>
          <a:xfrm>
            <a:off x="8074152" y="2313432"/>
            <a:ext cx="356616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ption C description"/>
          <p:cNvSpPr txBox="1"/>
          <p:nvPr/>
        </p:nvSpPr>
        <p:spPr>
          <a:xfrm>
            <a:off x="8074152" y="2441448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[Two sentences describing what this option involves]</a:t>
            </a:r>
          </a:p>
        </p:txBody>
      </p:sp>
      <p:sp>
        <p:nvSpPr>
          <p:cNvPr id="23" name="Option C benefits header"/>
          <p:cNvSpPr txBox="1"/>
          <p:nvPr/>
        </p:nvSpPr>
        <p:spPr>
          <a:xfrm>
            <a:off x="8074152" y="32461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Benefits</a:t>
            </a:r>
          </a:p>
        </p:txBody>
      </p:sp>
      <p:sp>
        <p:nvSpPr>
          <p:cNvPr id="24" name="Option C benefits"/>
          <p:cNvSpPr txBox="1"/>
          <p:nvPr/>
        </p:nvSpPr>
        <p:spPr>
          <a:xfrm>
            <a:off x="8074152" y="353872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[Benefit]</a:t>
            </a:r>
          </a:p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[Benefit]</a:t>
            </a:r>
          </a:p>
        </p:txBody>
      </p:sp>
      <p:sp>
        <p:nvSpPr>
          <p:cNvPr id="25" name="Option C tradeoffs header"/>
          <p:cNvSpPr txBox="1"/>
          <p:nvPr/>
        </p:nvSpPr>
        <p:spPr>
          <a:xfrm>
            <a:off x="8074152" y="4297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Trade-offs</a:t>
            </a:r>
          </a:p>
        </p:txBody>
      </p:sp>
      <p:sp>
        <p:nvSpPr>
          <p:cNvPr id="26" name="Option C tradeoffs"/>
          <p:cNvSpPr txBox="1"/>
          <p:nvPr/>
        </p:nvSpPr>
        <p:spPr>
          <a:xfrm>
            <a:off x="8074152" y="459028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[Trade-off]</a:t>
            </a:r>
          </a:p>
          <a:p>
            <a:pPr marL="164592" indent="-164592" algn="l">
              <a:spcAft>
                <a:spcPts val="400"/>
              </a:spcAft>
              <a:buClr>
                <a:srgbClr val="025043"/>
              </a:buClr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</a:rPr>
              <a:t>[Trade-off]</a:t>
            </a:r>
          </a:p>
        </p:txBody>
      </p:sp>
      <p:sp>
        <p:nvSpPr>
          <p:cNvPr id="27" name="Option C facts"/>
          <p:cNvSpPr txBox="1"/>
          <p:nvPr/>
        </p:nvSpPr>
        <p:spPr>
          <a:xfrm>
            <a:off x="8074152" y="54864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62626"/>
                </a:solidFill>
              </a:rPr>
              <a:t>Cost: </a:t>
            </a:r>
            <a:r>
              <a:rPr sz="1100" b="0" i="0">
                <a:solidFill>
                  <a:srgbClr val="262626"/>
                </a:solidFill>
              </a:rPr>
              <a:t>[xx]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62626"/>
                </a:solidFill>
              </a:rPr>
              <a:t>Time to value: </a:t>
            </a:r>
            <a:r>
              <a:rPr sz="1100" b="0" i="0">
                <a:solidFill>
                  <a:srgbClr val="262626"/>
                </a:solidFill>
              </a:rPr>
              <a:t>[xx months]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