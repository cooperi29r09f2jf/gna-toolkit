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4293" r:id="rId47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47" Type="http://schemas.openxmlformats.org/officeDocument/2006/relationships/slide" Target="slides/slide43.xml"/><Relationship Id="rId102" Type="http://schemas.openxmlformats.org/officeDocument/2006/relationships/theme" Target="theme/theme1.xml"/><Relationship Id="rId103" Type="http://schemas.openxmlformats.org/officeDocument/2006/relationships/tableStyles" Target="tableStyles.xml"/><Relationship Id="rId1" Type="http://schemas.openxmlformats.org/officeDocument/2006/relationships/customXml" Target="../customXml/item1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00" Type="http://schemas.openxmlformats.org/officeDocument/2006/relationships/presProps" Target="presProps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2" Type="http://schemas.openxmlformats.org/officeDocument/2006/relationships/slideLayout" Target="../slideLayouts/slideLayout2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61" Type="http://schemas.openxmlformats.org/officeDocument/2006/relationships/tags" Target="../tags/tag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Gna1" Type="http://schemas.openxmlformats.org/officeDocument/2006/relationships/tags" Target="../tags/gnatag1.xml"/></Relationships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215C1-FA95-6FE3-A12D-44541793D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[Hypothesis overview slide / Insert action title]</a:t>
            </a:r>
            <a:endParaRPr lang="en-DK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98DCB25-26B3-1677-AE34-7A3663C12F7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6C6C209-EA64-8548-9DE0-6FFBDC9A2D88}"/>
              </a:ext>
            </a:extLst>
          </p:cNvPr>
          <p:cNvSpPr/>
          <p:nvPr/>
        </p:nvSpPr>
        <p:spPr>
          <a:xfrm>
            <a:off x="554736" y="1359900"/>
            <a:ext cx="1476001" cy="307777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dirty="0">
                <a:latin typeface="+mn-lt"/>
                <a:ea typeface="ＭＳ Ｐゴシック"/>
                <a:cs typeface="Arial" panose="020B0604020202020204" pitchFamily="34" charset="0"/>
              </a:rPr>
              <a:t>Area</a:t>
            </a:r>
          </a:p>
        </p:txBody>
      </p:sp>
      <p:sp>
        <p:nvSpPr>
          <p:cNvPr id="12" name="Rectangle 33">
            <a:extLst>
              <a:ext uri="{FF2B5EF4-FFF2-40B4-BE49-F238E27FC236}">
                <a16:creationId xmlns:a16="http://schemas.microsoft.com/office/drawing/2014/main" id="{38E76C43-83F3-1003-79DA-1B6AFC64B2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7254" y="1406066"/>
            <a:ext cx="3646030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>
              <a:spcBef>
                <a:spcPts val="600"/>
              </a:spcBef>
            </a:pPr>
            <a:r>
              <a:rPr lang="en-GB" sz="1400" b="1" dirty="0"/>
              <a:t>Hypothesis</a:t>
            </a:r>
            <a:endParaRPr lang="en-GB" sz="1400" b="1" dirty="0">
              <a:cs typeface="Arial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24B2F15-0E05-3748-C035-37972A319CEE}"/>
              </a:ext>
            </a:extLst>
          </p:cNvPr>
          <p:cNvSpPr>
            <a:spLocks/>
          </p:cNvSpPr>
          <p:nvPr/>
        </p:nvSpPr>
        <p:spPr>
          <a:xfrm>
            <a:off x="554736" y="4924586"/>
            <a:ext cx="1476001" cy="1238604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106" tIns="45548" rIns="91106" bIns="45548" rtlCol="0" anchor="ctr"/>
          <a:lstStyle/>
          <a:p>
            <a:pPr algn="ctr"/>
            <a:r>
              <a:rPr lang="en-GB" sz="1400" b="1" dirty="0">
                <a:solidFill>
                  <a:schemeClr val="bg1"/>
                </a:solidFill>
              </a:rPr>
              <a:t>[Area 3 e.g. business plan]</a:t>
            </a:r>
          </a:p>
        </p:txBody>
      </p:sp>
      <p:sp>
        <p:nvSpPr>
          <p:cNvPr id="21" name="Rectangle 16">
            <a:extLst>
              <a:ext uri="{FF2B5EF4-FFF2-40B4-BE49-F238E27FC236}">
                <a16:creationId xmlns:a16="http://schemas.microsoft.com/office/drawing/2014/main" id="{04E7F615-F27B-E23F-89BB-74B97DBFCD45}"/>
              </a:ext>
            </a:extLst>
          </p:cNvPr>
          <p:cNvSpPr>
            <a:spLocks/>
          </p:cNvSpPr>
          <p:nvPr/>
        </p:nvSpPr>
        <p:spPr>
          <a:xfrm>
            <a:off x="554736" y="1821039"/>
            <a:ext cx="1476001" cy="1238604"/>
          </a:xfrm>
          <a:prstGeom prst="rect">
            <a:avLst/>
          </a:prstGeom>
          <a:solidFill>
            <a:schemeClr val="accent1"/>
          </a:solidFill>
          <a:ln w="3175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106" tIns="45548" rIns="91106" bIns="45548" rtlCol="0" anchor="ctr"/>
          <a:lstStyle/>
          <a:p>
            <a:pPr algn="ctr"/>
            <a:r>
              <a:rPr lang="en-GB" sz="1400" b="1" dirty="0">
                <a:solidFill>
                  <a:schemeClr val="bg1"/>
                </a:solidFill>
              </a:rPr>
              <a:t>[Area 1 e.g. market]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A5592BA-3AB9-EB0F-CCC8-1BA1112D5465}"/>
              </a:ext>
            </a:extLst>
          </p:cNvPr>
          <p:cNvSpPr>
            <a:spLocks/>
          </p:cNvSpPr>
          <p:nvPr/>
        </p:nvSpPr>
        <p:spPr>
          <a:xfrm>
            <a:off x="554736" y="3372812"/>
            <a:ext cx="1476001" cy="1238604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106" tIns="45548" rIns="91106" bIns="45548" rtlCol="0" anchor="ctr"/>
          <a:lstStyle/>
          <a:p>
            <a:pPr algn="ctr"/>
            <a:r>
              <a:rPr lang="en-GB" sz="1400" b="1" dirty="0">
                <a:solidFill>
                  <a:schemeClr val="bg1"/>
                </a:solidFill>
              </a:rPr>
              <a:t>[Area 2 e.g. company]</a:t>
            </a:r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E2842EC3-1E62-BB73-D0A7-714D3D71C0F2}"/>
              </a:ext>
            </a:extLst>
          </p:cNvPr>
          <p:cNvSpPr/>
          <p:nvPr/>
        </p:nvSpPr>
        <p:spPr>
          <a:xfrm>
            <a:off x="2177254" y="5352506"/>
            <a:ext cx="9463882" cy="3827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106" tIns="45548" rIns="91106" bIns="45548" rtlCol="0" anchor="ctr"/>
          <a:lstStyle/>
          <a:p>
            <a:r>
              <a:rPr lang="en-US" sz="1200" b="1" dirty="0">
                <a:solidFill>
                  <a:schemeClr val="tx1"/>
                </a:solidFill>
              </a:rPr>
              <a:t>3.2</a:t>
            </a:r>
            <a:r>
              <a:rPr lang="en-US" sz="1200" dirty="0">
                <a:solidFill>
                  <a:schemeClr val="tx1"/>
                </a:solidFill>
              </a:rPr>
              <a:t> [Hypothesis on business strategy, growth, improvements, financial projections, capabilities, management strength, synergies]</a:t>
            </a:r>
          </a:p>
        </p:txBody>
      </p:sp>
      <p:sp>
        <p:nvSpPr>
          <p:cNvPr id="17" name="Rectangle 15">
            <a:extLst>
              <a:ext uri="{FF2B5EF4-FFF2-40B4-BE49-F238E27FC236}">
                <a16:creationId xmlns:a16="http://schemas.microsoft.com/office/drawing/2014/main" id="{9666BD9A-5534-F0C1-99D9-94C9EA837D10}"/>
              </a:ext>
            </a:extLst>
          </p:cNvPr>
          <p:cNvSpPr/>
          <p:nvPr/>
        </p:nvSpPr>
        <p:spPr>
          <a:xfrm>
            <a:off x="2177254" y="4924586"/>
            <a:ext cx="9463882" cy="3827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106" tIns="45548" rIns="91106" bIns="45548" rtlCol="0" anchor="ctr"/>
          <a:lstStyle/>
          <a:p>
            <a:r>
              <a:rPr lang="en-US" sz="1200" b="1" dirty="0">
                <a:solidFill>
                  <a:schemeClr val="tx1"/>
                </a:solidFill>
              </a:rPr>
              <a:t>3.1</a:t>
            </a:r>
            <a:r>
              <a:rPr lang="en-US" sz="1200" dirty="0">
                <a:solidFill>
                  <a:schemeClr val="tx1"/>
                </a:solidFill>
              </a:rPr>
              <a:t> [Hypothesis on business strategy, growth, improvements, financial projections, capabilities, management strength, synergies]</a:t>
            </a:r>
          </a:p>
        </p:txBody>
      </p:sp>
      <p:sp>
        <p:nvSpPr>
          <p:cNvPr id="18" name="Rectangle 15">
            <a:extLst>
              <a:ext uri="{FF2B5EF4-FFF2-40B4-BE49-F238E27FC236}">
                <a16:creationId xmlns:a16="http://schemas.microsoft.com/office/drawing/2014/main" id="{A72504D3-3E16-97E0-6551-282F90F8337A}"/>
              </a:ext>
            </a:extLst>
          </p:cNvPr>
          <p:cNvSpPr/>
          <p:nvPr/>
        </p:nvSpPr>
        <p:spPr>
          <a:xfrm>
            <a:off x="2177254" y="5780426"/>
            <a:ext cx="9463882" cy="3827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106" tIns="45548" rIns="91106" bIns="45548" rtlCol="0" anchor="ctr"/>
          <a:lstStyle/>
          <a:p>
            <a:r>
              <a:rPr lang="en-US" sz="1200" b="1" dirty="0">
                <a:solidFill>
                  <a:schemeClr val="tx1"/>
                </a:solidFill>
              </a:rPr>
              <a:t>3.3</a:t>
            </a:r>
            <a:r>
              <a:rPr lang="en-US" sz="1200" dirty="0">
                <a:solidFill>
                  <a:schemeClr val="tx1"/>
                </a:solidFill>
              </a:rPr>
              <a:t> [Hypothesis on business strategy, growth, improvements, financial projections, capabilities, management strength, synergies]</a:t>
            </a:r>
          </a:p>
        </p:txBody>
      </p:sp>
      <p:sp>
        <p:nvSpPr>
          <p:cNvPr id="22" name="Rectangle 15">
            <a:extLst>
              <a:ext uri="{FF2B5EF4-FFF2-40B4-BE49-F238E27FC236}">
                <a16:creationId xmlns:a16="http://schemas.microsoft.com/office/drawing/2014/main" id="{D8D5A236-6EA5-FE71-023C-B667B1223F56}"/>
              </a:ext>
            </a:extLst>
          </p:cNvPr>
          <p:cNvSpPr/>
          <p:nvPr/>
        </p:nvSpPr>
        <p:spPr>
          <a:xfrm>
            <a:off x="2177254" y="1821039"/>
            <a:ext cx="9463882" cy="3827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106" tIns="45548" rIns="91106" bIns="45548" rtlCol="0" anchor="ctr"/>
          <a:lstStyle/>
          <a:p>
            <a:r>
              <a:rPr lang="en-US" sz="1200" b="1" dirty="0">
                <a:solidFill>
                  <a:schemeClr val="tx1"/>
                </a:solidFill>
              </a:rPr>
              <a:t>1.1 </a:t>
            </a:r>
            <a:r>
              <a:rPr lang="en-US" sz="1200" dirty="0">
                <a:solidFill>
                  <a:schemeClr val="tx1"/>
                </a:solidFill>
              </a:rPr>
              <a:t>[Hypothesis on market size, growth, profitability, competitors, trends, dynamics of existing and new markets/segments]</a:t>
            </a:r>
          </a:p>
        </p:txBody>
      </p:sp>
      <p:sp>
        <p:nvSpPr>
          <p:cNvPr id="23" name="Rectangle 15">
            <a:extLst>
              <a:ext uri="{FF2B5EF4-FFF2-40B4-BE49-F238E27FC236}">
                <a16:creationId xmlns:a16="http://schemas.microsoft.com/office/drawing/2014/main" id="{7C14FD55-0CA9-39E3-F6F6-3480BBFCF364}"/>
              </a:ext>
            </a:extLst>
          </p:cNvPr>
          <p:cNvSpPr/>
          <p:nvPr/>
        </p:nvSpPr>
        <p:spPr>
          <a:xfrm>
            <a:off x="2177254" y="2248959"/>
            <a:ext cx="9463882" cy="3827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106" tIns="45548" rIns="91106" bIns="45548" rtlCol="0" anchor="ctr"/>
          <a:lstStyle/>
          <a:p>
            <a:r>
              <a:rPr lang="en-US" sz="1200" b="1" dirty="0">
                <a:solidFill>
                  <a:schemeClr val="tx1"/>
                </a:solidFill>
              </a:rPr>
              <a:t>1.2 </a:t>
            </a:r>
            <a:r>
              <a:rPr lang="en-US" sz="1200" dirty="0">
                <a:solidFill>
                  <a:schemeClr val="tx1"/>
                </a:solidFill>
              </a:rPr>
              <a:t>[Hypothesis on market size, growth, profitability, competitors, trends, dynamics of existing and new markets/segments]</a:t>
            </a:r>
          </a:p>
        </p:txBody>
      </p:sp>
      <p:sp>
        <p:nvSpPr>
          <p:cNvPr id="25" name="Rectangle 15">
            <a:extLst>
              <a:ext uri="{FF2B5EF4-FFF2-40B4-BE49-F238E27FC236}">
                <a16:creationId xmlns:a16="http://schemas.microsoft.com/office/drawing/2014/main" id="{A49CFD7D-7CAA-DF4B-F480-5896CDEBD598}"/>
              </a:ext>
            </a:extLst>
          </p:cNvPr>
          <p:cNvSpPr/>
          <p:nvPr/>
        </p:nvSpPr>
        <p:spPr>
          <a:xfrm>
            <a:off x="2177254" y="2676879"/>
            <a:ext cx="9463882" cy="3827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106" tIns="45548" rIns="91106" bIns="45548" rtlCol="0" anchor="ctr"/>
          <a:lstStyle/>
          <a:p>
            <a:r>
              <a:rPr lang="en-US" sz="1200" b="1" dirty="0">
                <a:solidFill>
                  <a:schemeClr val="tx1"/>
                </a:solidFill>
              </a:rPr>
              <a:t>1.3 </a:t>
            </a:r>
            <a:r>
              <a:rPr lang="en-US" sz="1200" dirty="0">
                <a:solidFill>
                  <a:schemeClr val="tx1"/>
                </a:solidFill>
              </a:rPr>
              <a:t>[Hypothesis on market size, growth, profitability, competitors, trends, dynamics of existing and new markets/segments]</a:t>
            </a:r>
          </a:p>
        </p:txBody>
      </p:sp>
      <p:sp>
        <p:nvSpPr>
          <p:cNvPr id="29" name="Rectangle 15">
            <a:extLst>
              <a:ext uri="{FF2B5EF4-FFF2-40B4-BE49-F238E27FC236}">
                <a16:creationId xmlns:a16="http://schemas.microsoft.com/office/drawing/2014/main" id="{205C2414-A148-F175-477F-7E4CCB54E9B6}"/>
              </a:ext>
            </a:extLst>
          </p:cNvPr>
          <p:cNvSpPr/>
          <p:nvPr/>
        </p:nvSpPr>
        <p:spPr>
          <a:xfrm>
            <a:off x="2177254" y="3372812"/>
            <a:ext cx="9463882" cy="3827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106" tIns="45548" rIns="91106" bIns="45548" rtlCol="0" anchor="ctr"/>
          <a:lstStyle/>
          <a:p>
            <a:r>
              <a:rPr lang="en-US" sz="1200" b="1" dirty="0">
                <a:solidFill>
                  <a:schemeClr val="tx1"/>
                </a:solidFill>
              </a:rPr>
              <a:t>2.1</a:t>
            </a:r>
            <a:r>
              <a:rPr lang="en-US" sz="1200" dirty="0">
                <a:solidFill>
                  <a:schemeClr val="tx1"/>
                </a:solidFill>
              </a:rPr>
              <a:t> [Hypothesis on core financials, revenue/basket distribution, value proposition, customer retention, satisfaction, key account relations] </a:t>
            </a:r>
          </a:p>
        </p:txBody>
      </p:sp>
      <p:sp>
        <p:nvSpPr>
          <p:cNvPr id="30" name="Rectangle 15">
            <a:extLst>
              <a:ext uri="{FF2B5EF4-FFF2-40B4-BE49-F238E27FC236}">
                <a16:creationId xmlns:a16="http://schemas.microsoft.com/office/drawing/2014/main" id="{5D3831B1-0641-2905-3305-0000ACB4174B}"/>
              </a:ext>
            </a:extLst>
          </p:cNvPr>
          <p:cNvSpPr/>
          <p:nvPr/>
        </p:nvSpPr>
        <p:spPr>
          <a:xfrm>
            <a:off x="2177254" y="3800732"/>
            <a:ext cx="9463882" cy="3827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106" tIns="45548" rIns="91106" bIns="45548" rtlCol="0" anchor="ctr"/>
          <a:lstStyle/>
          <a:p>
            <a:r>
              <a:rPr lang="en-US" sz="1200" b="1" dirty="0">
                <a:solidFill>
                  <a:schemeClr val="tx1"/>
                </a:solidFill>
              </a:rPr>
              <a:t>2.2</a:t>
            </a:r>
            <a:r>
              <a:rPr lang="en-US" sz="1200" dirty="0">
                <a:solidFill>
                  <a:schemeClr val="tx1"/>
                </a:solidFill>
              </a:rPr>
              <a:t> [Hypothesis on core financials, revenue/basket distribution, value proposition, customer retention, satisfaction, key account relations] </a:t>
            </a:r>
          </a:p>
        </p:txBody>
      </p:sp>
      <p:sp>
        <p:nvSpPr>
          <p:cNvPr id="34" name="Rectangle 15">
            <a:extLst>
              <a:ext uri="{FF2B5EF4-FFF2-40B4-BE49-F238E27FC236}">
                <a16:creationId xmlns:a16="http://schemas.microsoft.com/office/drawing/2014/main" id="{F43F056B-1A8B-AA46-276F-DD0E28624FAA}"/>
              </a:ext>
            </a:extLst>
          </p:cNvPr>
          <p:cNvSpPr/>
          <p:nvPr/>
        </p:nvSpPr>
        <p:spPr>
          <a:xfrm>
            <a:off x="2177254" y="4228652"/>
            <a:ext cx="9463882" cy="3827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106" tIns="45548" rIns="91106" bIns="45548" rtlCol="0" anchor="ctr"/>
          <a:lstStyle/>
          <a:p>
            <a:r>
              <a:rPr lang="en-US" sz="1200" b="1" dirty="0">
                <a:solidFill>
                  <a:schemeClr val="tx1"/>
                </a:solidFill>
              </a:rPr>
              <a:t>2.3</a:t>
            </a:r>
            <a:r>
              <a:rPr lang="en-US" sz="1200" dirty="0">
                <a:solidFill>
                  <a:schemeClr val="tx1"/>
                </a:solidFill>
              </a:rPr>
              <a:t> [Hypothesis on core financials, revenue/basket distribution, value proposition, customer retention, satisfaction, key account relations] 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84A391D-82A1-5A43-7222-47C561781BAB}"/>
              </a:ext>
            </a:extLst>
          </p:cNvPr>
          <p:cNvSpPr/>
          <p:nvPr/>
        </p:nvSpPr>
        <p:spPr>
          <a:xfrm>
            <a:off x="428459" y="3294431"/>
            <a:ext cx="365760" cy="3657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da-DK" sz="12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2</a:t>
            </a:r>
            <a:endParaRPr lang="en-DK" sz="1200" b="1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F11F898-DB21-0160-57E8-464942B00496}"/>
              </a:ext>
            </a:extLst>
          </p:cNvPr>
          <p:cNvSpPr/>
          <p:nvPr/>
        </p:nvSpPr>
        <p:spPr>
          <a:xfrm>
            <a:off x="428459" y="4846205"/>
            <a:ext cx="365760" cy="3657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da-DK" sz="12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3</a:t>
            </a:r>
            <a:endParaRPr lang="en-DK" sz="1200" b="1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8AD1732-8A2B-95C2-E26F-6875AAE05A7F}"/>
              </a:ext>
            </a:extLst>
          </p:cNvPr>
          <p:cNvCxnSpPr>
            <a:cxnSpLocks/>
          </p:cNvCxnSpPr>
          <p:nvPr/>
        </p:nvCxnSpPr>
        <p:spPr>
          <a:xfrm>
            <a:off x="2177254" y="1701441"/>
            <a:ext cx="946404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7751EE4-97C2-EF92-E719-776E603255D8}"/>
              </a:ext>
            </a:extLst>
          </p:cNvPr>
          <p:cNvCxnSpPr>
            <a:cxnSpLocks/>
          </p:cNvCxnSpPr>
          <p:nvPr/>
        </p:nvCxnSpPr>
        <p:spPr>
          <a:xfrm>
            <a:off x="554736" y="1701441"/>
            <a:ext cx="1472184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D53B61C7-2D35-E460-4F4A-26CF44EF192B}"/>
              </a:ext>
            </a:extLst>
          </p:cNvPr>
          <p:cNvSpPr/>
          <p:nvPr/>
        </p:nvSpPr>
        <p:spPr>
          <a:xfrm>
            <a:off x="428459" y="1742658"/>
            <a:ext cx="365760" cy="3657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da-DK" sz="12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1</a:t>
            </a:r>
            <a:endParaRPr lang="en-DK" sz="1200" b="1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4" name="Google Shape;507;p14">
            <a:extLst>
              <a:ext uri="{FF2B5EF4-FFF2-40B4-BE49-F238E27FC236}">
                <a16:creationId xmlns:a16="http://schemas.microsoft.com/office/drawing/2014/main" id="{3613D0E2-17F6-E60D-077B-5BF09C9A995D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5043"/>
              </a:buClr>
              <a:buSzPts val="900"/>
              <a:buFont typeface="Arial"/>
              <a:buNone/>
            </a:pPr>
            <a:r>
              <a:rPr lang="en-GB" sz="900" b="0" i="0" u="none" strike="noStrike" cap="none" dirty="0">
                <a:latin typeface="+mn-lt"/>
                <a:ea typeface="Arial"/>
                <a:cs typeface="Arial"/>
                <a:sym typeface="Arial"/>
              </a:rPr>
              <a:t>Source: </a:t>
            </a:r>
            <a:r>
              <a:rPr lang="en-GB" sz="900" dirty="0">
                <a:latin typeface="+mn-lt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 dirty="0"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6" name="Google Shape;538;p14">
            <a:extLst>
              <a:ext uri="{FF2B5EF4-FFF2-40B4-BE49-F238E27FC236}">
                <a16:creationId xmlns:a16="http://schemas.microsoft.com/office/drawing/2014/main" id="{604A1BFA-3869-8DAC-1D90-6691C6F96883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 dirty="0">
                <a:latin typeface="+mn-lt"/>
                <a:ea typeface="Arial"/>
                <a:cs typeface="Arial"/>
                <a:sym typeface="Arial"/>
              </a:rPr>
              <a:t>Footnote: 1. xx</a:t>
            </a:r>
            <a:endParaRPr sz="900" dirty="0">
              <a:latin typeface="+mn-lt"/>
              <a:ea typeface="Arial"/>
              <a:cs typeface="Arial"/>
              <a:sym typeface="Arial"/>
            </a:endParaRPr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270140271"/>
      </p:ext>
    </p:ext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43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1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