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6" r:id="rId21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21" Type="http://schemas.openxmlformats.org/officeDocument/2006/relationships/slide" Target="slides/slide17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5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This project will answer three key questions resulting in [insert desired impact]</a:t>
            </a:r>
            <a:endParaRPr lang="en-DK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03822B8C-4D52-8825-23EC-4ED03A216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13C46B-8573-FD7C-025C-7A1DBCE976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5CBC6B6A-D47A-721B-D8C6-FC579EDC96A4}"/>
              </a:ext>
            </a:extLst>
          </p:cNvPr>
          <p:cNvSpPr/>
          <p:nvPr/>
        </p:nvSpPr>
        <p:spPr>
          <a:xfrm>
            <a:off x="6242304" y="1757980"/>
            <a:ext cx="5394960" cy="4524858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questions to be addressed</a:t>
            </a:r>
          </a:p>
          <a:p>
            <a:pPr lvl="1">
              <a:spcAft>
                <a:spcPts val="600"/>
              </a:spcAft>
              <a:defRPr/>
            </a:pPr>
            <a:endParaRPr lang="en-US" sz="1200" b="1" dirty="0">
              <a:solidFill>
                <a:schemeClr val="tx1"/>
              </a:solidFill>
              <a:latin typeface="+mn-lt"/>
            </a:endParaRPr>
          </a:p>
          <a:p>
            <a:pPr marL="457200" lvl="2">
              <a:spcAft>
                <a:spcPts val="60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question(s) that the proposed project aims to answer e.g. What might the right future organizational setup and procurement operating model for [Client] look like?]</a:t>
            </a:r>
          </a:p>
          <a:p>
            <a:pPr marL="457200" lvl="2">
              <a:spcAft>
                <a:spcPts val="600"/>
              </a:spcAft>
              <a:defRPr/>
            </a:pPr>
            <a:endParaRPr lang="en-US" sz="1200" dirty="0">
              <a:solidFill>
                <a:schemeClr val="tx1"/>
              </a:solidFill>
              <a:latin typeface="+mn-lt"/>
            </a:endParaRPr>
          </a:p>
          <a:p>
            <a:pPr marL="457200" lvl="2">
              <a:spcAft>
                <a:spcPts val="60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question(s) that the proposed project aims to answer]</a:t>
            </a:r>
          </a:p>
          <a:p>
            <a:pPr marL="457200" lvl="2">
              <a:spcAft>
                <a:spcPts val="600"/>
              </a:spcAft>
              <a:defRPr/>
            </a:pPr>
            <a:endParaRPr lang="en-US" sz="1200" dirty="0">
              <a:solidFill>
                <a:schemeClr val="tx1"/>
              </a:solidFill>
              <a:latin typeface="+mn-lt"/>
            </a:endParaRPr>
          </a:p>
          <a:p>
            <a:pPr marL="457200" lvl="2">
              <a:spcAft>
                <a:spcPts val="60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question(s) that the proposed project aims to answer]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lvl="2">
              <a:spcAft>
                <a:spcPts val="800"/>
              </a:spcAft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23B4A3-9E79-6DA5-357E-8CD0E15DA775}"/>
              </a:ext>
            </a:extLst>
          </p:cNvPr>
          <p:cNvSpPr>
            <a:spLocks noChangeAspect="1"/>
          </p:cNvSpPr>
          <p:nvPr/>
        </p:nvSpPr>
        <p:spPr>
          <a:xfrm>
            <a:off x="6367786" y="2351035"/>
            <a:ext cx="274320" cy="274320"/>
          </a:xfrm>
          <a:prstGeom prst="ellipse">
            <a:avLst/>
          </a:prstGeom>
          <a:solidFill>
            <a:schemeClr val="accent2"/>
          </a:solidFill>
          <a:ln w="12700" cap="rnd">
            <a:noFill/>
            <a:prstDash val="solid"/>
            <a:round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D348F8-4D1B-4B65-C2C6-C00AE4DB894D}"/>
              </a:ext>
            </a:extLst>
          </p:cNvPr>
          <p:cNvSpPr>
            <a:spLocks noChangeAspect="1"/>
          </p:cNvSpPr>
          <p:nvPr/>
        </p:nvSpPr>
        <p:spPr>
          <a:xfrm>
            <a:off x="6367786" y="3198090"/>
            <a:ext cx="274320" cy="274320"/>
          </a:xfrm>
          <a:prstGeom prst="ellipse">
            <a:avLst/>
          </a:prstGeom>
          <a:solidFill>
            <a:schemeClr val="accent2"/>
          </a:solidFill>
          <a:ln w="12700" cap="rnd">
            <a:noFill/>
            <a:prstDash val="solid"/>
            <a:round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170BAE4-0BF5-C543-4299-86082DFEFBF4}"/>
              </a:ext>
            </a:extLst>
          </p:cNvPr>
          <p:cNvSpPr>
            <a:spLocks noChangeAspect="1"/>
          </p:cNvSpPr>
          <p:nvPr/>
        </p:nvSpPr>
        <p:spPr>
          <a:xfrm>
            <a:off x="6367786" y="3708288"/>
            <a:ext cx="274320" cy="274320"/>
          </a:xfrm>
          <a:prstGeom prst="ellipse">
            <a:avLst/>
          </a:prstGeom>
          <a:solidFill>
            <a:schemeClr val="accent2"/>
          </a:solidFill>
          <a:ln w="12700" cap="rnd">
            <a:noFill/>
            <a:prstDash val="solid"/>
            <a:round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021E3C-B425-B6DA-56B4-AE91F6475E7B}"/>
              </a:ext>
            </a:extLst>
          </p:cNvPr>
          <p:cNvSpPr/>
          <p:nvPr/>
        </p:nvSpPr>
        <p:spPr>
          <a:xfrm>
            <a:off x="554735" y="1757980"/>
            <a:ext cx="5394960" cy="34147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Situation and complication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BC319B-3BA9-CA8A-4D73-4FCC73756C2F}"/>
              </a:ext>
            </a:extLst>
          </p:cNvPr>
          <p:cNvSpPr txBox="1"/>
          <p:nvPr/>
        </p:nvSpPr>
        <p:spPr>
          <a:xfrm>
            <a:off x="554736" y="2108088"/>
            <a:ext cx="5394960" cy="1737360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91440" tIns="91440" rIns="91440" bIns="91440" rtlCol="0">
            <a:noAutofit/>
          </a:bodyPr>
          <a:lstStyle/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high-level description of overall situation, as well as complication or challenge facing client e.g. [Client] is on a journey to professionalize its procurement function(s). Today, the spend is fragmented across the various functions and not centralized in a group procurement function.]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+mn-lt"/>
              </a:rPr>
              <a:t>[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Insert high-level description of overall situation, as well as complication or challenge facing client]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3C2A72-8185-3D3B-AD45-160510BE1D92}"/>
              </a:ext>
            </a:extLst>
          </p:cNvPr>
          <p:cNvSpPr/>
          <p:nvPr/>
        </p:nvSpPr>
        <p:spPr>
          <a:xfrm>
            <a:off x="554735" y="4194959"/>
            <a:ext cx="5394960" cy="34147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Desired impact from project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110E8E-7C37-FFBF-77DC-F93BEBF6041C}"/>
              </a:ext>
            </a:extLst>
          </p:cNvPr>
          <p:cNvSpPr txBox="1"/>
          <p:nvPr/>
        </p:nvSpPr>
        <p:spPr>
          <a:xfrm>
            <a:off x="554736" y="4545478"/>
            <a:ext cx="5394960" cy="1737360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91440" tIns="91440" rIns="91440" bIns="91440" rtlCol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</a:t>
            </a:r>
            <a:r>
              <a:rPr lang="en-US" sz="1200">
                <a:latin typeface="+mn-lt"/>
              </a:rPr>
              <a:t>main expected outcomes from proposed project e.g.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project aims to design and implement the future procurement operating model and function.]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During this project, we will: </a:t>
            </a:r>
          </a:p>
          <a:p>
            <a:pPr marL="182880" lvl="1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main deliverables or activities </a:t>
            </a:r>
            <a:r>
              <a:rPr lang="en-US" sz="1200">
                <a:latin typeface="+mn-lt"/>
              </a:rPr>
              <a:t>in project e.g.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Assess the current procurement organization and processes to identify potential barriers and improvement areas.]</a:t>
            </a:r>
          </a:p>
          <a:p>
            <a:pPr marL="182880" lvl="1" indent="-18288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+mn-lt"/>
              </a:rPr>
              <a:t>…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BF7F28B9-A039-5BAB-EF6C-FE433CAF861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07504195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7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