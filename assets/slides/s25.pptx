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4.xml" ContentType="application/vnd.openxmlformats-officedocument.presentationml.tags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83" r:id="rId2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Microsoft_Excel_Worksheet6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Chart!$A$2:$A$9</cx:f>
        <cx:lvl ptCount="8">
          <cx:pt idx="0">Segment 1</cx:pt>
          <cx:pt idx="1">Segment 2</cx:pt>
          <cx:pt idx="2">Segment 3</cx:pt>
          <cx:pt idx="3">Segment 4</cx:pt>
          <cx:pt idx="4">Segment 5</cx:pt>
          <cx:pt idx="5">Segment 6</cx:pt>
          <cx:pt idx="6">Segment 7</cx:pt>
          <cx:pt idx="7">Total</cx:pt>
        </cx:lvl>
      </cx:strDim>
      <cx:numDim type="val">
        <cx:f>Chart!$B$2:$B$9</cx:f>
        <cx:lvl ptCount="8" formatCode="General">
          <cx:pt idx="0">100</cx:pt>
          <cx:pt idx="1">70</cx:pt>
          <cx:pt idx="2">60</cx:pt>
          <cx:pt idx="3">40</cx:pt>
          <cx:pt idx="4">22</cx:pt>
          <cx:pt idx="5">10</cx:pt>
          <cx:pt idx="6">5</cx:pt>
          <cx:pt idx="7">307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waterfall" uniqueId="{97A1A684-BC82-104F-B980-D5AD6A027C7C}">
          <cx:tx>
            <cx:txData>
              <cx:f>Chart!$B$1</cx:f>
              <cx:v>Revenue</cx:v>
            </cx:txData>
          </cx:tx>
          <cx:spPr>
            <a:solidFill>
              <a:schemeClr val="accent1"/>
            </a:solidFill>
            <a:ln>
              <a:solidFill>
                <a:schemeClr val="tx1"/>
              </a:solidFill>
            </a:ln>
          </cx:spPr>
          <cx:dataPt idx="0">
            <cx:spPr>
              <a:ln>
                <a:noFill/>
              </a:ln>
            </cx:spPr>
          </cx:dataPt>
          <cx:dataPt idx="1">
            <cx:spPr>
              <a:ln>
                <a:noFill/>
              </a:ln>
            </cx:spPr>
          </cx:dataPt>
          <cx:dataPt idx="2">
            <cx:spPr>
              <a:ln>
                <a:noFill/>
              </a:ln>
            </cx:spPr>
          </cx:dataPt>
          <cx:dataPt idx="3">
            <cx:spPr>
              <a:ln>
                <a:noFill/>
              </a:ln>
            </cx:spPr>
          </cx:dataPt>
          <cx:dataPt idx="4">
            <cx:spPr>
              <a:ln>
                <a:noFill/>
              </a:ln>
            </cx:spPr>
          </cx:dataPt>
          <cx:dataPt idx="5">
            <cx:spPr>
              <a:ln>
                <a:noFill/>
              </a:ln>
            </cx:spPr>
          </cx:dataPt>
          <cx:dataPt idx="6">
            <cx:spPr>
              <a:ln>
                <a:noFill/>
              </a:ln>
            </cx:spPr>
          </cx:dataPt>
          <cx:dataPt idx="7">
            <cx:spPr>
              <a:solidFill>
                <a:srgbClr val="5B9188"/>
              </a:solidFill>
              <a:ln>
                <a:noFill/>
              </a:ln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>
                    <a:solidFill>
                      <a:schemeClr val="tx1"/>
                    </a:solidFill>
                  </a:defRPr>
                </a:pPr>
                <a:endParaRPr lang="en-GB" sz="1400" b="0" i="0" u="none" strike="noStrike" baseline="0">
                  <a:solidFill>
                    <a:schemeClr val="tx1"/>
                  </a:solidFill>
                  <a:latin typeface="+mn-lt"/>
                </a:endParaRPr>
              </a:p>
            </cx:txPr>
            <cx:visibility seriesName="0" categoryName="0" value="1"/>
            <cx:dataLabel idx="7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b="1"/>
                  </a:pPr>
                  <a:r>
                    <a:rPr lang="en-GB" sz="1400" b="1" i="0" u="none" strike="noStrike" baseline="0">
                      <a:solidFill>
                        <a:schemeClr val="bg1"/>
                      </a:solidFill>
                      <a:latin typeface="+mn-lt"/>
                    </a:rPr>
                    <a:t>307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>
              <cx:idx val="7"/>
            </cx:subtotals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400">
                <a:solidFill>
                  <a:schemeClr val="tx1"/>
                </a:solidFill>
              </a:defRPr>
            </a:pPr>
            <a:endParaRPr lang="en-GB" sz="1400" b="0" i="0" u="none" strike="noStrike" baseline="0">
              <a:solidFill>
                <a:schemeClr val="tx1"/>
              </a:solidFill>
              <a:latin typeface="+mn-lt"/>
            </a:endParaRPr>
          </a:p>
        </cx:txPr>
      </cx:axis>
      <cx:axis id="1">
        <cx:valScaling/>
        <cx:majorGridlines>
          <cx:spPr>
            <a:ln>
              <a:solidFill>
                <a:schemeClr val="bg1">
                  <a:lumMod val="75000"/>
                </a:schemeClr>
              </a:solidFill>
              <a:prstDash val="solid"/>
            </a:ln>
          </cx:spPr>
        </cx:majorGridlines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400">
                <a:solidFill>
                  <a:schemeClr val="tx1"/>
                </a:solidFill>
              </a:defRPr>
            </a:pPr>
            <a:endParaRPr lang="en-GB" sz="1400" b="0" i="0" u="none" strike="noStrike" baseline="0">
              <a:solidFill>
                <a:schemeClr val="tx1"/>
              </a:solidFill>
              <a:latin typeface="+mn-lt"/>
            </a:endParaRPr>
          </a:p>
        </cx:txPr>
      </cx:axis>
    </cx:plotArea>
  </cx:chart>
</cx:chartSpac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6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4.xml"/><Relationship Id="rId6" Type="http://schemas.openxmlformats.org/officeDocument/2006/relationships/image" Target="../media/image170.png"/><Relationship Id="rId5" Type="http://schemas.microsoft.com/office/2014/relationships/chartEx" Target="../charts/chartEx1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[Waterfall chart / Insert action title]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Google Shape;711;p19">
            <a:extLst>
              <a:ext uri="{FF2B5EF4-FFF2-40B4-BE49-F238E27FC236}">
                <a16:creationId xmlns:a16="http://schemas.microsoft.com/office/drawing/2014/main" id="{8404CA8A-611F-1A05-3A38-3C21D3FA3707}"/>
              </a:ext>
            </a:extLst>
          </p:cNvPr>
          <p:cNvSpPr/>
          <p:nvPr/>
        </p:nvSpPr>
        <p:spPr>
          <a:xfrm>
            <a:off x="467806" y="1368884"/>
            <a:ext cx="6190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latin typeface="+mn-lt"/>
                <a:ea typeface="Arial"/>
                <a:cs typeface="Arial"/>
                <a:sym typeface="Arial"/>
              </a:rPr>
              <a:t>[Description], </a:t>
            </a:r>
            <a:r>
              <a:rPr lang="en-US" sz="1400" i="0" u="none" strike="noStrike" cap="none" dirty="0">
                <a:solidFill>
                  <a:schemeClr val="bg1">
                    <a:lumMod val="6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[Unit]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5024C0EA-593E-33CA-D09C-B7F53F3F23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66793785"/>
                  </p:ext>
                </p:extLst>
              </p:nvPr>
            </p:nvGraphicFramePr>
            <p:xfrm>
              <a:off x="550863" y="1770351"/>
              <a:ext cx="11090274" cy="43575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5024C0EA-593E-33CA-D09C-B7F53F3F23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863" y="1770351"/>
                <a:ext cx="11090274" cy="435756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223E380A-8255-DE8B-7767-C10F4A0BD531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08265394-0BE6-E2D0-5E42-6AE65BC73E1F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8223186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