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5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18" r:id="rId76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76" Type="http://schemas.openxmlformats.org/officeDocument/2006/relationships/slide" Target="slides/slide72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72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7.xml"/><Relationship Id="rId4" Type="http://schemas.openxmlformats.org/officeDocument/2006/relationships/image" Target="../media/image60.emf"/><Relationship Id="rIdGna1" Type="http://schemas.openxmlformats.org/officeDocument/2006/relationships/tags" Target="../tags/gnatag1.xml"/></Relationships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7E949545-05DF-FAF3-0F64-A64BC85223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7E949545-05DF-FAF3-0F64-A64BC85223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AA4BFCD-F73A-6EF9-5499-2F9A4CDBB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Commercial proposal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37EDAAD-DAC5-3296-BDC9-98396FEBD9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Google Shape;1410;p267">
            <a:extLst>
              <a:ext uri="{FF2B5EF4-FFF2-40B4-BE49-F238E27FC236}">
                <a16:creationId xmlns:a16="http://schemas.microsoft.com/office/drawing/2014/main" id="{6F52D73A-9A6A-4BAB-D60A-9BA9E0D81D36}"/>
              </a:ext>
            </a:extLst>
          </p:cNvPr>
          <p:cNvSpPr/>
          <p:nvPr/>
        </p:nvSpPr>
        <p:spPr>
          <a:xfrm>
            <a:off x="540767" y="1711105"/>
            <a:ext cx="5433600" cy="44890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21900" tIns="182867" rIns="121900" bIns="121900" anchor="t" anchorCtr="0">
            <a:noAutofit/>
          </a:bodyPr>
          <a:lstStyle/>
          <a:p>
            <a:r>
              <a:rPr lang="en-US" sz="1400" b="1" dirty="0">
                <a:solidFill>
                  <a:schemeClr val="accent2"/>
                </a:solidFill>
                <a:ea typeface="Helvetica Neue"/>
                <a:cs typeface="Helvetica Neue"/>
                <a:sym typeface="Helvetica Neue"/>
              </a:rPr>
              <a:t>[Insert phase]:</a:t>
            </a:r>
          </a:p>
          <a:p>
            <a:endParaRPr lang="en-US" sz="1200" dirty="0">
              <a:ea typeface="Helvetica Neue"/>
              <a:cs typeface="Helvetica Neue"/>
              <a:sym typeface="Helvetica Neue"/>
            </a:endParaRPr>
          </a:p>
          <a:p>
            <a:r>
              <a:rPr lang="en-US" sz="1200" b="1" dirty="0">
                <a:ea typeface="Helvetica Neue"/>
                <a:cs typeface="Helvetica Neue"/>
                <a:sym typeface="Helvetica Neue"/>
              </a:rPr>
              <a:t>Duration: </a:t>
            </a:r>
            <a:r>
              <a:rPr lang="en-US" sz="1200" dirty="0">
                <a:ea typeface="Helvetica Neue"/>
                <a:cs typeface="Helvetica Neue"/>
                <a:sym typeface="Helvetica Neue"/>
              </a:rPr>
              <a:t>[Insert duration]</a:t>
            </a:r>
          </a:p>
          <a:p>
            <a:endParaRPr lang="en-US" sz="1200" dirty="0">
              <a:ea typeface="Helvetica Neue"/>
              <a:cs typeface="Helvetica Neue"/>
              <a:sym typeface="Helvetica Neue"/>
            </a:endParaRPr>
          </a:p>
          <a:p>
            <a:r>
              <a:rPr lang="en-US" sz="1200" b="1" dirty="0">
                <a:ea typeface="Helvetica Neue"/>
                <a:cs typeface="Helvetica Neue"/>
                <a:sym typeface="Helvetica Neue"/>
              </a:rPr>
              <a:t>Team: </a:t>
            </a:r>
          </a:p>
          <a:p>
            <a:pPr marL="227013" indent="-227013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ea typeface="Helvetica Neue"/>
                <a:cs typeface="Helvetica Neue"/>
                <a:sym typeface="Helvetica Neue"/>
              </a:rPr>
              <a:t>1 x Partner 100%</a:t>
            </a:r>
          </a:p>
          <a:p>
            <a:pPr marL="227013" indent="-227013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ea typeface="Helvetica Neue"/>
                <a:cs typeface="Helvetica Neue"/>
                <a:sym typeface="Helvetica Neue"/>
              </a:rPr>
              <a:t>1 x [insert role] 100%</a:t>
            </a:r>
          </a:p>
          <a:p>
            <a:pPr marL="227013" indent="-227013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ea typeface="Helvetica Neue"/>
                <a:cs typeface="Helvetica Neue"/>
                <a:sym typeface="Helvetica Neue"/>
              </a:rPr>
              <a:t>1 x [insert role] 100%</a:t>
            </a:r>
          </a:p>
          <a:p>
            <a:pPr marL="227013" indent="-227013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ea typeface="Helvetica Neue"/>
                <a:cs typeface="Helvetica Neue"/>
                <a:sym typeface="Helvetica Neue"/>
              </a:rPr>
              <a:t>2 x [insert role] 100%</a:t>
            </a:r>
          </a:p>
          <a:p>
            <a:pPr marL="227013" indent="-227013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ea typeface="Helvetica Neue"/>
                <a:cs typeface="Helvetica Neue"/>
                <a:sym typeface="Helvetica Neue"/>
              </a:rPr>
              <a:t>1 x [insert role] 50%</a:t>
            </a:r>
          </a:p>
          <a:p>
            <a:pPr marL="227013" indent="-227013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ea typeface="Helvetica Neue"/>
                <a:cs typeface="Helvetica Neue"/>
                <a:sym typeface="Helvetica Neue"/>
              </a:rPr>
              <a:t>Ad hoc experts and specialists depending on need (est. xx FTE) </a:t>
            </a:r>
          </a:p>
          <a:p>
            <a:endParaRPr lang="en-US" sz="1200" dirty="0">
              <a:ea typeface="Helvetica Neue"/>
              <a:cs typeface="Helvetica Neue"/>
              <a:sym typeface="Helvetica Neue"/>
            </a:endParaRPr>
          </a:p>
          <a:p>
            <a:r>
              <a:rPr lang="en-US" sz="1200" b="1" dirty="0">
                <a:ea typeface="Helvetica Neue"/>
                <a:cs typeface="Helvetica Neue"/>
                <a:sym typeface="Helvetica Neue"/>
              </a:rPr>
              <a:t>Output: </a:t>
            </a:r>
            <a:r>
              <a:rPr lang="en-US" sz="1200" dirty="0">
                <a:ea typeface="Helvetica Neue"/>
                <a:cs typeface="Helvetica Neue"/>
                <a:sym typeface="Helvetica Neue"/>
              </a:rPr>
              <a:t>[Insert output or outcomes, if relevant]</a:t>
            </a:r>
          </a:p>
          <a:p>
            <a:endParaRPr lang="en-US" sz="1200" dirty="0">
              <a:ea typeface="Helvetica Neue"/>
              <a:cs typeface="Helvetica Neue"/>
              <a:sym typeface="Helvetica Neue"/>
            </a:endParaRPr>
          </a:p>
          <a:p>
            <a:r>
              <a:rPr lang="en-US" sz="1200" b="1" dirty="0">
                <a:ea typeface="Helvetica Neue"/>
                <a:cs typeface="Helvetica Neue"/>
                <a:sym typeface="Helvetica Neue"/>
              </a:rPr>
              <a:t>Output format: </a:t>
            </a:r>
            <a:r>
              <a:rPr lang="en-US" sz="1200" dirty="0">
                <a:ea typeface="Helvetica Neue"/>
                <a:cs typeface="Helvetica Neue"/>
                <a:sym typeface="Helvetica Neue"/>
              </a:rPr>
              <a:t>[Insert output format, if relevant]</a:t>
            </a:r>
          </a:p>
          <a:p>
            <a:endParaRPr lang="en-US" sz="1200" dirty="0">
              <a:ea typeface="Helvetica Neue"/>
              <a:cs typeface="Helvetica Neue"/>
              <a:sym typeface="Helvetica Neue"/>
            </a:endParaRPr>
          </a:p>
          <a:p>
            <a:r>
              <a:rPr lang="en-US" sz="1200" b="1" u="sng" dirty="0">
                <a:ea typeface="Helvetica Neue"/>
                <a:cs typeface="Helvetica Neue"/>
                <a:sym typeface="Helvetica Neue"/>
              </a:rPr>
              <a:t>Price:</a:t>
            </a:r>
            <a:r>
              <a:rPr lang="en-US" sz="1200" u="sng" dirty="0">
                <a:ea typeface="Helvetica Neue"/>
                <a:cs typeface="Helvetica Neue"/>
                <a:sym typeface="Helvetica Neue"/>
              </a:rPr>
              <a:t> [Insert price]</a:t>
            </a:r>
          </a:p>
        </p:txBody>
      </p:sp>
      <p:sp>
        <p:nvSpPr>
          <p:cNvPr id="9" name="Google Shape;1412;p267">
            <a:extLst>
              <a:ext uri="{FF2B5EF4-FFF2-40B4-BE49-F238E27FC236}">
                <a16:creationId xmlns:a16="http://schemas.microsoft.com/office/drawing/2014/main" id="{8DCA24C3-7814-ABE0-56D2-20F8AA8C8DE4}"/>
              </a:ext>
            </a:extLst>
          </p:cNvPr>
          <p:cNvSpPr/>
          <p:nvPr/>
        </p:nvSpPr>
        <p:spPr>
          <a:xfrm rot="5400000">
            <a:off x="3193705" y="-941833"/>
            <a:ext cx="131723" cy="543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" name="Google Shape;1411;p267">
            <a:extLst>
              <a:ext uri="{FF2B5EF4-FFF2-40B4-BE49-F238E27FC236}">
                <a16:creationId xmlns:a16="http://schemas.microsoft.com/office/drawing/2014/main" id="{70422302-CBBD-0D13-47E8-6D2D2CAFA554}"/>
              </a:ext>
            </a:extLst>
          </p:cNvPr>
          <p:cNvSpPr/>
          <p:nvPr/>
        </p:nvSpPr>
        <p:spPr>
          <a:xfrm>
            <a:off x="6202085" y="1711105"/>
            <a:ext cx="5433600" cy="44890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21900" tIns="182867" rIns="121900" bIns="121900" anchor="t" anchorCtr="0">
            <a:noAutofit/>
          </a:bodyPr>
          <a:lstStyle/>
          <a:p>
            <a:r>
              <a:rPr lang="en-US" sz="1400" b="1" dirty="0">
                <a:solidFill>
                  <a:schemeClr val="accent4"/>
                </a:solidFill>
                <a:ea typeface="Helvetica Neue"/>
                <a:cs typeface="Helvetica Neue"/>
                <a:sym typeface="Helvetica Neue"/>
              </a:rPr>
              <a:t>[Insert phase]:</a:t>
            </a:r>
          </a:p>
          <a:p>
            <a:endParaRPr lang="en-US" sz="1200" dirty="0">
              <a:ea typeface="Helvetica Neue"/>
              <a:cs typeface="Helvetica Neue"/>
              <a:sym typeface="Helvetica Neue"/>
            </a:endParaRPr>
          </a:p>
          <a:p>
            <a:r>
              <a:rPr lang="en-US" sz="1200" b="1" dirty="0">
                <a:ea typeface="Helvetica Neue"/>
                <a:cs typeface="Helvetica Neue"/>
                <a:sym typeface="Helvetica Neue"/>
              </a:rPr>
              <a:t>Duration: </a:t>
            </a:r>
            <a:r>
              <a:rPr lang="en-US" sz="1200" dirty="0">
                <a:ea typeface="Helvetica Neue"/>
                <a:cs typeface="Helvetica Neue"/>
                <a:sym typeface="Helvetica Neue"/>
              </a:rPr>
              <a:t>[Insert duration]</a:t>
            </a:r>
            <a:br>
              <a:rPr lang="en-US" sz="1200" dirty="0">
                <a:ea typeface="Helvetica Neue"/>
                <a:cs typeface="Helvetica Neue"/>
                <a:sym typeface="Helvetica Neue"/>
              </a:rPr>
            </a:br>
            <a:endParaRPr lang="en-US" sz="1200" dirty="0">
              <a:ea typeface="Helvetica Neue"/>
              <a:cs typeface="Helvetica Neue"/>
              <a:sym typeface="Helvetica Neue"/>
            </a:endParaRPr>
          </a:p>
          <a:p>
            <a:r>
              <a:rPr lang="en-US" sz="1200" b="1" dirty="0">
                <a:ea typeface="Helvetica Neue"/>
                <a:cs typeface="Helvetica Neue"/>
                <a:sym typeface="Helvetica Neue"/>
              </a:rPr>
              <a:t>Team: </a:t>
            </a:r>
          </a:p>
          <a:p>
            <a:pPr marL="227013" indent="-227013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ea typeface="Helvetica Neue"/>
                <a:cs typeface="Helvetica Neue"/>
                <a:sym typeface="Helvetica Neue"/>
              </a:rPr>
              <a:t>1 x Partner 100%</a:t>
            </a:r>
          </a:p>
          <a:p>
            <a:pPr marL="227013" indent="-227013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ea typeface="Helvetica Neue"/>
                <a:cs typeface="Helvetica Neue"/>
                <a:sym typeface="Helvetica Neue"/>
              </a:rPr>
              <a:t>1 x [insert role] 100%</a:t>
            </a:r>
          </a:p>
          <a:p>
            <a:pPr marL="227013" indent="-227013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ea typeface="Helvetica Neue"/>
                <a:cs typeface="Helvetica Neue"/>
                <a:sym typeface="Helvetica Neue"/>
              </a:rPr>
              <a:t>1 x [insert role] 100%</a:t>
            </a:r>
          </a:p>
          <a:p>
            <a:pPr marL="227013" indent="-227013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ea typeface="Helvetica Neue"/>
                <a:cs typeface="Helvetica Neue"/>
                <a:sym typeface="Helvetica Neue"/>
              </a:rPr>
              <a:t>2 x [insert role] 100%</a:t>
            </a:r>
          </a:p>
          <a:p>
            <a:pPr marL="227013" indent="-227013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ea typeface="Helvetica Neue"/>
                <a:cs typeface="Helvetica Neue"/>
                <a:sym typeface="Helvetica Neue"/>
              </a:rPr>
              <a:t>1 x [insert role] 50%</a:t>
            </a:r>
          </a:p>
          <a:p>
            <a:pPr marL="227013" indent="-227013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ea typeface="Helvetica Neue"/>
                <a:cs typeface="Helvetica Neue"/>
                <a:sym typeface="Helvetica Neue"/>
              </a:rPr>
              <a:t>Ad hoc experts and specialists depending on need (est. xx FTE) </a:t>
            </a:r>
          </a:p>
          <a:p>
            <a:endParaRPr lang="en-US" sz="1200" dirty="0">
              <a:ea typeface="Helvetica Neue"/>
              <a:cs typeface="Helvetica Neue"/>
              <a:sym typeface="Helvetica Neue"/>
            </a:endParaRPr>
          </a:p>
          <a:p>
            <a:r>
              <a:rPr lang="en-US" sz="1200" b="1" dirty="0">
                <a:ea typeface="Helvetica Neue"/>
                <a:cs typeface="Helvetica Neue"/>
                <a:sym typeface="Helvetica Neue"/>
              </a:rPr>
              <a:t>Output: </a:t>
            </a:r>
            <a:r>
              <a:rPr lang="en-US" sz="1200" dirty="0">
                <a:ea typeface="Helvetica Neue"/>
                <a:cs typeface="Helvetica Neue"/>
                <a:sym typeface="Helvetica Neue"/>
              </a:rPr>
              <a:t>[Insert output or outcomes, if relevant]</a:t>
            </a:r>
          </a:p>
          <a:p>
            <a:endParaRPr lang="en-US" sz="1200" dirty="0">
              <a:ea typeface="Helvetica Neue"/>
              <a:cs typeface="Helvetica Neue"/>
              <a:sym typeface="Helvetica Neue"/>
            </a:endParaRPr>
          </a:p>
          <a:p>
            <a:r>
              <a:rPr lang="en-US" sz="1200" b="1" dirty="0">
                <a:ea typeface="Helvetica Neue"/>
                <a:cs typeface="Helvetica Neue"/>
                <a:sym typeface="Helvetica Neue"/>
              </a:rPr>
              <a:t>Output format: </a:t>
            </a:r>
            <a:r>
              <a:rPr lang="en-US" sz="1200" dirty="0">
                <a:ea typeface="Helvetica Neue"/>
                <a:cs typeface="Helvetica Neue"/>
                <a:sym typeface="Helvetica Neue"/>
              </a:rPr>
              <a:t>[Insert output format, if relevant]</a:t>
            </a:r>
          </a:p>
          <a:p>
            <a:endParaRPr lang="en-US" sz="1200" dirty="0">
              <a:ea typeface="Helvetica Neue"/>
              <a:cs typeface="Helvetica Neue"/>
              <a:sym typeface="Helvetica Neue"/>
            </a:endParaRPr>
          </a:p>
          <a:p>
            <a:r>
              <a:rPr lang="en-US" sz="1200" b="1" u="sng" dirty="0">
                <a:ea typeface="Helvetica Neue"/>
                <a:cs typeface="Helvetica Neue"/>
                <a:sym typeface="Helvetica Neue"/>
              </a:rPr>
              <a:t>Price:</a:t>
            </a:r>
            <a:r>
              <a:rPr lang="en-US" sz="1200" u="sng" dirty="0">
                <a:ea typeface="Helvetica Neue"/>
                <a:cs typeface="Helvetica Neue"/>
                <a:sym typeface="Helvetica Neue"/>
              </a:rPr>
              <a:t> [Insert price]</a:t>
            </a:r>
          </a:p>
        </p:txBody>
      </p:sp>
      <p:sp>
        <p:nvSpPr>
          <p:cNvPr id="10" name="Google Shape;1413;p267">
            <a:extLst>
              <a:ext uri="{FF2B5EF4-FFF2-40B4-BE49-F238E27FC236}">
                <a16:creationId xmlns:a16="http://schemas.microsoft.com/office/drawing/2014/main" id="{36AB4307-3574-369B-4FEC-0B90EB19878E}"/>
              </a:ext>
            </a:extLst>
          </p:cNvPr>
          <p:cNvSpPr/>
          <p:nvPr/>
        </p:nvSpPr>
        <p:spPr>
          <a:xfrm rot="5400000">
            <a:off x="8855023" y="-941833"/>
            <a:ext cx="131723" cy="543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5F38147D-0909-5257-B630-7C55BAEC3BCF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333755611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72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