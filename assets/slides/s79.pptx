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0" r:id="rId8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83" Type="http://schemas.openxmlformats.org/officeDocument/2006/relationships/slide" Target="slides/slide79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[We move from today’s model to a new way of working / Insert action title]</a:t>
            </a:r>
          </a:p>
        </p:txBody>
      </p:sp>
      <p:sp>
        <p:nvSpPr>
          <p:cNvPr id="3" name="From header"/>
          <p:cNvSpPr txBox="1"/>
          <p:nvPr/>
        </p:nvSpPr>
        <p:spPr>
          <a:xfrm>
            <a:off x="557784" y="141732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C8C8C"/>
                </a:solidFill>
              </a:rPr>
              <a:t>Today</a:t>
            </a:r>
          </a:p>
        </p:txBody>
      </p:sp>
      <p:sp>
        <p:nvSpPr>
          <p:cNvPr id="4" name="To header"/>
          <p:cNvSpPr txBox="1"/>
          <p:nvPr/>
        </p:nvSpPr>
        <p:spPr>
          <a:xfrm>
            <a:off x="6748272" y="141732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Tomorrow</a:t>
            </a:r>
          </a:p>
        </p:txBody>
      </p:sp>
      <p:cxnSp>
        <p:nvCxnSpPr>
          <p:cNvPr id="5" name="From rule"/>
          <p:cNvCxnSpPr/>
          <p:nvPr/>
        </p:nvCxnSpPr>
        <p:spPr>
          <a:xfrm>
            <a:off x="557784" y="1828800"/>
            <a:ext cx="4892040" cy="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To rule"/>
          <p:cNvCxnSpPr/>
          <p:nvPr/>
        </p:nvCxnSpPr>
        <p:spPr>
          <a:xfrm>
            <a:off x="6748272" y="1828800"/>
            <a:ext cx="4892039" cy="0"/>
          </a:xfrm>
          <a:prstGeom prst="line">
            <a:avLst/>
          </a:prstGeom>
          <a:ln w="15875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om 1"/>
          <p:cNvSpPr txBox="1"/>
          <p:nvPr/>
        </p:nvSpPr>
        <p:spPr>
          <a:xfrm>
            <a:off x="557784" y="2011680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62626"/>
                </a:solidFill>
              </a:rPr>
              <a:t>[Current state 1]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C8C8C"/>
                </a:solidFill>
              </a:rPr>
              <a:t>[What it looks like and why it holds us back]</a:t>
            </a:r>
          </a:p>
        </p:txBody>
      </p:sp>
      <p:sp>
        <p:nvSpPr>
          <p:cNvPr id="8" name="Arrow 1"/>
          <p:cNvSpPr/>
          <p:nvPr/>
        </p:nvSpPr>
        <p:spPr>
          <a:xfrm>
            <a:off x="5870448" y="2176272"/>
            <a:ext cx="457200" cy="329184"/>
          </a:xfrm>
          <a:prstGeom prst="chevron">
            <a:avLst/>
          </a:prstGeom>
          <a:solidFill>
            <a:srgbClr val="B3C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o 1"/>
          <p:cNvSpPr txBox="1"/>
          <p:nvPr/>
        </p:nvSpPr>
        <p:spPr>
          <a:xfrm>
            <a:off x="6748272" y="2011680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25043"/>
                </a:solidFill>
              </a:rPr>
              <a:t>[Future state 1]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[What changes and the benefit it brings]</a:t>
            </a:r>
          </a:p>
        </p:txBody>
      </p:sp>
      <p:cxnSp>
        <p:nvCxnSpPr>
          <p:cNvPr id="10" name="Row rule 1"/>
          <p:cNvCxnSpPr/>
          <p:nvPr/>
        </p:nvCxnSpPr>
        <p:spPr>
          <a:xfrm>
            <a:off x="557784" y="2926080"/>
            <a:ext cx="11082527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om 2"/>
          <p:cNvSpPr txBox="1"/>
          <p:nvPr/>
        </p:nvSpPr>
        <p:spPr>
          <a:xfrm>
            <a:off x="557784" y="3035808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62626"/>
                </a:solidFill>
              </a:rPr>
              <a:t>[Current state 2]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C8C8C"/>
                </a:solidFill>
              </a:rPr>
              <a:t>[What it looks like and why it holds us back]</a:t>
            </a:r>
          </a:p>
        </p:txBody>
      </p:sp>
      <p:sp>
        <p:nvSpPr>
          <p:cNvPr id="12" name="Arrow 2"/>
          <p:cNvSpPr/>
          <p:nvPr/>
        </p:nvSpPr>
        <p:spPr>
          <a:xfrm>
            <a:off x="5870448" y="3200400"/>
            <a:ext cx="457200" cy="329184"/>
          </a:xfrm>
          <a:prstGeom prst="chevron">
            <a:avLst/>
          </a:prstGeom>
          <a:solidFill>
            <a:srgbClr val="B3C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o 2"/>
          <p:cNvSpPr txBox="1"/>
          <p:nvPr/>
        </p:nvSpPr>
        <p:spPr>
          <a:xfrm>
            <a:off x="6748272" y="3035808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25043"/>
                </a:solidFill>
              </a:rPr>
              <a:t>[Future state 2]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[What changes and the benefit it brings]</a:t>
            </a:r>
          </a:p>
        </p:txBody>
      </p:sp>
      <p:cxnSp>
        <p:nvCxnSpPr>
          <p:cNvPr id="14" name="Row rule 2"/>
          <p:cNvCxnSpPr/>
          <p:nvPr/>
        </p:nvCxnSpPr>
        <p:spPr>
          <a:xfrm>
            <a:off x="557784" y="3950208"/>
            <a:ext cx="11082527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om 3"/>
          <p:cNvSpPr txBox="1"/>
          <p:nvPr/>
        </p:nvSpPr>
        <p:spPr>
          <a:xfrm>
            <a:off x="557784" y="4059936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62626"/>
                </a:solidFill>
              </a:rPr>
              <a:t>[Current state 3]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C8C8C"/>
                </a:solidFill>
              </a:rPr>
              <a:t>[What it looks like and why it holds us back]</a:t>
            </a:r>
          </a:p>
        </p:txBody>
      </p:sp>
      <p:sp>
        <p:nvSpPr>
          <p:cNvPr id="16" name="Arrow 3"/>
          <p:cNvSpPr/>
          <p:nvPr/>
        </p:nvSpPr>
        <p:spPr>
          <a:xfrm>
            <a:off x="5870448" y="4224528"/>
            <a:ext cx="457200" cy="329184"/>
          </a:xfrm>
          <a:prstGeom prst="chevron">
            <a:avLst/>
          </a:prstGeom>
          <a:solidFill>
            <a:srgbClr val="B3C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o 3"/>
          <p:cNvSpPr txBox="1"/>
          <p:nvPr/>
        </p:nvSpPr>
        <p:spPr>
          <a:xfrm>
            <a:off x="6748272" y="4059936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25043"/>
                </a:solidFill>
              </a:rPr>
              <a:t>[Future state 3]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[What changes and the benefit it brings]</a:t>
            </a:r>
          </a:p>
        </p:txBody>
      </p:sp>
      <p:cxnSp>
        <p:nvCxnSpPr>
          <p:cNvPr id="18" name="Row rule 3"/>
          <p:cNvCxnSpPr/>
          <p:nvPr/>
        </p:nvCxnSpPr>
        <p:spPr>
          <a:xfrm>
            <a:off x="557784" y="4974336"/>
            <a:ext cx="11082527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om 4"/>
          <p:cNvSpPr txBox="1"/>
          <p:nvPr/>
        </p:nvSpPr>
        <p:spPr>
          <a:xfrm>
            <a:off x="557784" y="5084064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62626"/>
                </a:solidFill>
              </a:rPr>
              <a:t>[Current state 4]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8C8C8C"/>
                </a:solidFill>
              </a:rPr>
              <a:t>[What it looks like and why it holds us back]</a:t>
            </a:r>
          </a:p>
        </p:txBody>
      </p:sp>
      <p:sp>
        <p:nvSpPr>
          <p:cNvPr id="20" name="Arrow 4"/>
          <p:cNvSpPr/>
          <p:nvPr/>
        </p:nvSpPr>
        <p:spPr>
          <a:xfrm>
            <a:off x="5870448" y="5248656"/>
            <a:ext cx="457200" cy="329184"/>
          </a:xfrm>
          <a:prstGeom prst="chevron">
            <a:avLst/>
          </a:prstGeom>
          <a:solidFill>
            <a:srgbClr val="B3C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o 4"/>
          <p:cNvSpPr txBox="1"/>
          <p:nvPr/>
        </p:nvSpPr>
        <p:spPr>
          <a:xfrm>
            <a:off x="6748272" y="5084064"/>
            <a:ext cx="4892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25043"/>
                </a:solidFill>
              </a:rPr>
              <a:t>[Future state 4]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62626"/>
                </a:solidFill>
              </a:rPr>
              <a:t>[What changes and the benefit it brings]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