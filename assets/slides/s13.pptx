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1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gnatag1.xml" ContentType="application/vnd.openxmlformats-officedocument.presentationml.tag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4"/>
  </p:sldMasterIdLst>
  <p:notesMasterIdLst>
    <p:notesMasterId r:id="rId97"/>
  </p:notesMasterIdLst>
  <p:handoutMasterIdLst>
    <p:handoutMasterId r:id="rId98"/>
  </p:handoutMasterIdLst>
  <p:sldIdLst>
    <p:sldId id="2147473402" r:id="rId17"/>
  </p:sldIdLst>
  <p:sldSz cx="12192000" cy="6858000"/>
  <p:notesSz cx="6858000" cy="9144000"/>
  <p:custDataLst>
    <p:tags r:id="rId99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02"/>
    <p:restoredTop sz="93710"/>
  </p:normalViewPr>
  <p:slideViewPr>
    <p:cSldViewPr snapToGrid="0" showGuides="1">
      <p:cViewPr>
        <p:scale>
          <a:sx n="96" d="100"/>
          <a:sy n="96" d="100"/>
        </p:scale>
        <p:origin x="1212" y="252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102" Type="http://schemas.openxmlformats.org/officeDocument/2006/relationships/theme" Target="theme/theme1.xml"/><Relationship Id="rId17" Type="http://schemas.openxmlformats.org/officeDocument/2006/relationships/slide" Target="slides/slide13.xml"/><Relationship Id="rId103" Type="http://schemas.openxmlformats.org/officeDocument/2006/relationships/tableStyles" Target="tableStyles.xml"/><Relationship Id="rId1" Type="http://schemas.openxmlformats.org/officeDocument/2006/relationships/customXml" Target="../customXml/item1.xml"/><Relationship Id="rId99" Type="http://schemas.openxmlformats.org/officeDocument/2006/relationships/tags" Target="tags/tag1.xml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00" Type="http://schemas.openxmlformats.org/officeDocument/2006/relationships/presProps" Target="presProps.xml"/><Relationship Id="rId98" Type="http://schemas.openxmlformats.org/officeDocument/2006/relationships/handoutMaster" Target="handoutMasters/handoutMaster1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10/14/2026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+mn-lt"/>
              </a:defRPr>
            </a:lvl1pPr>
          </a:lstStyle>
          <a:p>
            <a:fld id="{ADF2B39A-E3F6-634C-B40F-EA6B645C08D7}" type="datetimeFigureOut">
              <a:rPr lang="en-DK" smtClean="0"/>
              <a:pPr/>
              <a:t>10/14/2026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+mn-lt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0.xml"/><Relationship Id="rId4" Type="http://schemas.openxmlformats.org/officeDocument/2006/relationships/tags" Target="../tags/tag49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281940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42" Type="http://schemas.openxmlformats.org/officeDocument/2006/relationships/tags" Target="../tags/tag11.xml"/><Relationship Id="rId47" Type="http://schemas.openxmlformats.org/officeDocument/2006/relationships/tags" Target="../tags/tag16.xml"/><Relationship Id="rId63" Type="http://schemas.openxmlformats.org/officeDocument/2006/relationships/tags" Target="../tags/tag32.xml"/><Relationship Id="rId68" Type="http://schemas.openxmlformats.org/officeDocument/2006/relationships/tags" Target="../tags/tag37.xml"/><Relationship Id="rId2" Type="http://schemas.openxmlformats.org/officeDocument/2006/relationships/slideLayout" Target="../slideLayouts/slideLayout2.xml"/><Relationship Id="rId32" Type="http://schemas.openxmlformats.org/officeDocument/2006/relationships/theme" Target="../theme/theme1.xml"/><Relationship Id="rId37" Type="http://schemas.openxmlformats.org/officeDocument/2006/relationships/tags" Target="../tags/tag6.xml"/><Relationship Id="rId40" Type="http://schemas.openxmlformats.org/officeDocument/2006/relationships/tags" Target="../tags/tag9.xml"/><Relationship Id="rId45" Type="http://schemas.openxmlformats.org/officeDocument/2006/relationships/tags" Target="../tags/tag14.xml"/><Relationship Id="rId53" Type="http://schemas.openxmlformats.org/officeDocument/2006/relationships/tags" Target="../tags/tag22.xml"/><Relationship Id="rId58" Type="http://schemas.openxmlformats.org/officeDocument/2006/relationships/tags" Target="../tags/tag27.xml"/><Relationship Id="rId66" Type="http://schemas.openxmlformats.org/officeDocument/2006/relationships/tags" Target="../tags/tag35.xml"/><Relationship Id="rId61" Type="http://schemas.openxmlformats.org/officeDocument/2006/relationships/tags" Target="../tags/tag30.xml"/><Relationship Id="rId35" Type="http://schemas.openxmlformats.org/officeDocument/2006/relationships/tags" Target="../tags/tag4.xml"/><Relationship Id="rId43" Type="http://schemas.openxmlformats.org/officeDocument/2006/relationships/tags" Target="../tags/tag12.xml"/><Relationship Id="rId48" Type="http://schemas.openxmlformats.org/officeDocument/2006/relationships/tags" Target="../tags/tag17.xml"/><Relationship Id="rId56" Type="http://schemas.openxmlformats.org/officeDocument/2006/relationships/tags" Target="../tags/tag25.xml"/><Relationship Id="rId64" Type="http://schemas.openxmlformats.org/officeDocument/2006/relationships/tags" Target="../tags/tag33.xml"/><Relationship Id="rId69" Type="http://schemas.openxmlformats.org/officeDocument/2006/relationships/tags" Target="../tags/tag38.xml"/><Relationship Id="rId51" Type="http://schemas.openxmlformats.org/officeDocument/2006/relationships/tags" Target="../tags/tag20.xml"/><Relationship Id="rId72" Type="http://schemas.openxmlformats.org/officeDocument/2006/relationships/tags" Target="../tags/tag41.xml"/><Relationship Id="rId33" Type="http://schemas.openxmlformats.org/officeDocument/2006/relationships/tags" Target="../tags/tag2.xml"/><Relationship Id="rId38" Type="http://schemas.openxmlformats.org/officeDocument/2006/relationships/tags" Target="../tags/tag7.xml"/><Relationship Id="rId46" Type="http://schemas.openxmlformats.org/officeDocument/2006/relationships/tags" Target="../tags/tag15.xml"/><Relationship Id="rId59" Type="http://schemas.openxmlformats.org/officeDocument/2006/relationships/tags" Target="../tags/tag28.xml"/><Relationship Id="rId67" Type="http://schemas.openxmlformats.org/officeDocument/2006/relationships/tags" Target="../tags/tag36.xml"/><Relationship Id="rId41" Type="http://schemas.openxmlformats.org/officeDocument/2006/relationships/tags" Target="../tags/tag10.xml"/><Relationship Id="rId54" Type="http://schemas.openxmlformats.org/officeDocument/2006/relationships/tags" Target="../tags/tag23.xml"/><Relationship Id="rId62" Type="http://schemas.openxmlformats.org/officeDocument/2006/relationships/tags" Target="../tags/tag31.xml"/><Relationship Id="rId70" Type="http://schemas.openxmlformats.org/officeDocument/2006/relationships/tags" Target="../tags/tag39.xml"/><Relationship Id="rId36" Type="http://schemas.openxmlformats.org/officeDocument/2006/relationships/tags" Target="../tags/tag5.xml"/><Relationship Id="rId49" Type="http://schemas.openxmlformats.org/officeDocument/2006/relationships/tags" Target="../tags/tag18.xml"/><Relationship Id="rId57" Type="http://schemas.openxmlformats.org/officeDocument/2006/relationships/tags" Target="../tags/tag26.xml"/><Relationship Id="rId44" Type="http://schemas.openxmlformats.org/officeDocument/2006/relationships/tags" Target="../tags/tag13.xml"/><Relationship Id="rId52" Type="http://schemas.openxmlformats.org/officeDocument/2006/relationships/tags" Target="../tags/tag21.xml"/><Relationship Id="rId60" Type="http://schemas.openxmlformats.org/officeDocument/2006/relationships/tags" Target="../tags/tag29.xml"/><Relationship Id="rId65" Type="http://schemas.openxmlformats.org/officeDocument/2006/relationships/tags" Target="../tags/tag34.xml"/><Relationship Id="rId73" Type="http://schemas.openxmlformats.org/officeDocument/2006/relationships/image" Target="../media/image1.png"/><Relationship Id="rId39" Type="http://schemas.openxmlformats.org/officeDocument/2006/relationships/tags" Target="../tags/tag8.xml"/><Relationship Id="rId34" Type="http://schemas.openxmlformats.org/officeDocument/2006/relationships/tags" Target="../tags/tag3.xml"/><Relationship Id="rId50" Type="http://schemas.openxmlformats.org/officeDocument/2006/relationships/tags" Target="../tags/tag19.xml"/><Relationship Id="rId55" Type="http://schemas.openxmlformats.org/officeDocument/2006/relationships/tags" Target="../tags/tag24.xml"/><Relationship Id="rId71" Type="http://schemas.openxmlformats.org/officeDocument/2006/relationships/tags" Target="../tags/tag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554736" y="281940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bg1">
                    <a:lumMod val="75000"/>
                  </a:schemeClr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1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73" name="GNA footer logo" descr="GNA logo"/>
          <p:cNvPicPr>
            <a:picLocks noChangeAspect="1"/>
          </p:cNvPicPr>
          <p:nvPr userDrawn="1"/>
        </p:nvPicPr>
        <p:blipFill>
          <a:blip r:embed="rId73"/>
          <a:stretch>
            <a:fillRect/>
          </a:stretch>
        </p:blipFill>
        <p:spPr>
          <a:xfrm>
            <a:off x="10934816" y="6490411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7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, 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13.xml.rels><?xml version="1.0" encoding="UTF-8" standalone="yes"?>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2.xml"/><Relationship Id="rId4" Type="http://schemas.openxmlformats.org/officeDocument/2006/relationships/image" Target="../media/image16.emf"/><Relationship Id="rIdGna1" Type="http://schemas.openxmlformats.org/officeDocument/2006/relationships/tags" Target="../tags/gnatag1.xml"/></Relationships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2F5813C0-49EB-6CA1-D737-EE48C6CDD6C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2F5813C0-49EB-6CA1-D737-EE48C6CDD6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E579D8B-4611-B928-953C-F7CC010CE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 of our proposal</a:t>
            </a:r>
            <a:endParaRPr lang="en-DK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2863DE6-46AB-EACA-35DC-EBCFA4F0BBD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Google Shape;878;p247">
            <a:extLst>
              <a:ext uri="{FF2B5EF4-FFF2-40B4-BE49-F238E27FC236}">
                <a16:creationId xmlns:a16="http://schemas.microsoft.com/office/drawing/2014/main" id="{DB6C6E1F-9D19-6254-117F-4163C22D482B}"/>
              </a:ext>
            </a:extLst>
          </p:cNvPr>
          <p:cNvSpPr txBox="1"/>
          <p:nvPr/>
        </p:nvSpPr>
        <p:spPr>
          <a:xfrm>
            <a:off x="560926" y="1715102"/>
            <a:ext cx="3526178" cy="4080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r>
              <a:rPr lang="en" sz="1600" b="1">
                <a:solidFill>
                  <a:schemeClr val="bg1"/>
                </a:solidFill>
                <a:ea typeface="Helvetica Neue"/>
                <a:cs typeface="Helvetica Neue"/>
                <a:sym typeface="Helvetica Neue"/>
              </a:rPr>
              <a:t>Objectives</a:t>
            </a:r>
            <a:endParaRPr sz="1600" b="1">
              <a:solidFill>
                <a:schemeClr val="bg1"/>
              </a:solidFill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" name="Google Shape;879;p247">
            <a:extLst>
              <a:ext uri="{FF2B5EF4-FFF2-40B4-BE49-F238E27FC236}">
                <a16:creationId xmlns:a16="http://schemas.microsoft.com/office/drawing/2014/main" id="{94D14C98-12C7-DAF0-5B6B-46CE5E54690F}"/>
              </a:ext>
            </a:extLst>
          </p:cNvPr>
          <p:cNvSpPr txBox="1"/>
          <p:nvPr/>
        </p:nvSpPr>
        <p:spPr>
          <a:xfrm>
            <a:off x="4330398" y="1715102"/>
            <a:ext cx="3526178" cy="4080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r>
              <a:rPr lang="en" sz="1600" b="1">
                <a:solidFill>
                  <a:schemeClr val="bg1"/>
                </a:solidFill>
                <a:ea typeface="Helvetica Neue"/>
                <a:cs typeface="Helvetica Neue"/>
                <a:sym typeface="Helvetica Neue"/>
              </a:rPr>
              <a:t>Solution</a:t>
            </a:r>
            <a:endParaRPr sz="1600" b="1">
              <a:solidFill>
                <a:schemeClr val="bg1"/>
              </a:solidFill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" name="Google Shape;880;p247">
            <a:extLst>
              <a:ext uri="{FF2B5EF4-FFF2-40B4-BE49-F238E27FC236}">
                <a16:creationId xmlns:a16="http://schemas.microsoft.com/office/drawing/2014/main" id="{257F2E51-C532-9D44-FFE5-E326D32CF800}"/>
              </a:ext>
            </a:extLst>
          </p:cNvPr>
          <p:cNvSpPr txBox="1"/>
          <p:nvPr/>
        </p:nvSpPr>
        <p:spPr>
          <a:xfrm>
            <a:off x="8099868" y="1715102"/>
            <a:ext cx="3526178" cy="4080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r>
              <a:rPr lang="en" sz="1600" b="1">
                <a:solidFill>
                  <a:schemeClr val="bg1"/>
                </a:solidFill>
                <a:ea typeface="Helvetica Neue"/>
                <a:cs typeface="Helvetica Neue"/>
                <a:sym typeface="Helvetica Neue"/>
              </a:rPr>
              <a:t>Outcomes</a:t>
            </a:r>
            <a:endParaRPr sz="1600" b="1">
              <a:solidFill>
                <a:schemeClr val="bg1"/>
              </a:solidFill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1" name="Google Shape;889;p247">
            <a:extLst>
              <a:ext uri="{FF2B5EF4-FFF2-40B4-BE49-F238E27FC236}">
                <a16:creationId xmlns:a16="http://schemas.microsoft.com/office/drawing/2014/main" id="{F5AEA601-1978-C5CD-C00C-F72CC2BC6666}"/>
              </a:ext>
            </a:extLst>
          </p:cNvPr>
          <p:cNvCxnSpPr>
            <a:cxnSpLocks/>
          </p:cNvCxnSpPr>
          <p:nvPr/>
        </p:nvCxnSpPr>
        <p:spPr>
          <a:xfrm>
            <a:off x="7965790" y="1816190"/>
            <a:ext cx="0" cy="4023360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" name="Google Shape;890;p247">
            <a:extLst>
              <a:ext uri="{FF2B5EF4-FFF2-40B4-BE49-F238E27FC236}">
                <a16:creationId xmlns:a16="http://schemas.microsoft.com/office/drawing/2014/main" id="{33952191-BA25-FE80-BEC8-231B2F276557}"/>
              </a:ext>
            </a:extLst>
          </p:cNvPr>
          <p:cNvSpPr/>
          <p:nvPr/>
        </p:nvSpPr>
        <p:spPr>
          <a:xfrm>
            <a:off x="7814585" y="3665936"/>
            <a:ext cx="327273" cy="32386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latin typeface="+mn-lt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" name="Google Shape;891;p247">
            <a:extLst>
              <a:ext uri="{FF2B5EF4-FFF2-40B4-BE49-F238E27FC236}">
                <a16:creationId xmlns:a16="http://schemas.microsoft.com/office/drawing/2014/main" id="{2A8E07F6-7ABC-5842-27E9-25C4EF4F35E7}"/>
              </a:ext>
            </a:extLst>
          </p:cNvPr>
          <p:cNvSpPr/>
          <p:nvPr/>
        </p:nvSpPr>
        <p:spPr>
          <a:xfrm>
            <a:off x="7933274" y="3738806"/>
            <a:ext cx="108000" cy="178128"/>
          </a:xfrm>
          <a:prstGeom prst="chevron">
            <a:avLst>
              <a:gd name="adj" fmla="val 150000"/>
            </a:avLst>
          </a:prstGeom>
          <a:solidFill>
            <a:schemeClr val="tx1"/>
          </a:solidFill>
          <a:ln w="19050" cap="flat" cmpd="sng">
            <a:solidFill>
              <a:schemeClr val="bg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latin typeface="+mn-lt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" name="Google Shape;881;p247">
            <a:extLst>
              <a:ext uri="{FF2B5EF4-FFF2-40B4-BE49-F238E27FC236}">
                <a16:creationId xmlns:a16="http://schemas.microsoft.com/office/drawing/2014/main" id="{3C9F58AB-7526-BC81-D118-3BD47109A108}"/>
              </a:ext>
            </a:extLst>
          </p:cNvPr>
          <p:cNvSpPr txBox="1"/>
          <p:nvPr/>
        </p:nvSpPr>
        <p:spPr>
          <a:xfrm>
            <a:off x="560926" y="2268393"/>
            <a:ext cx="3526178" cy="3766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91440" rIns="91440" bIns="91440" anchor="t" anchorCtr="0">
            <a:noAutofit/>
          </a:bodyPr>
          <a:lstStyle/>
          <a:p>
            <a:pPr marL="285750" indent="-285750">
              <a:lnSpc>
                <a:spcPct val="90000"/>
              </a:lnSpc>
              <a:spcAft>
                <a:spcPts val="600"/>
              </a:spcAft>
              <a:buClr>
                <a:srgbClr val="3F3F3F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400">
                <a:ea typeface="Helvetica Neue"/>
                <a:cs typeface="Helvetica Neue"/>
                <a:sym typeface="Helvetica Neue"/>
              </a:rPr>
              <a:t>[Insert main objectives of project from client/company perspective. If proposal is answer to </a:t>
            </a:r>
            <a:r>
              <a:rPr lang="en-US" sz="1400" err="1">
                <a:ea typeface="Helvetica Neue"/>
                <a:cs typeface="Helvetica Neue"/>
                <a:sym typeface="Helvetica Neue"/>
              </a:rPr>
              <a:t>RfP</a:t>
            </a:r>
            <a:r>
              <a:rPr lang="en-US" sz="1400">
                <a:ea typeface="Helvetica Neue"/>
                <a:cs typeface="Helvetica Neue"/>
                <a:sym typeface="Helvetica Neue"/>
              </a:rPr>
              <a:t>, then clearly reiterate objectives stated in </a:t>
            </a:r>
            <a:r>
              <a:rPr lang="en-US" sz="1400" err="1">
                <a:ea typeface="Helvetica Neue"/>
                <a:cs typeface="Helvetica Neue"/>
                <a:sym typeface="Helvetica Neue"/>
              </a:rPr>
              <a:t>RfP</a:t>
            </a:r>
            <a:r>
              <a:rPr lang="en-US" sz="1400">
                <a:ea typeface="Helvetica Neue"/>
                <a:cs typeface="Helvetica Neue"/>
                <a:sym typeface="Helvetica Neue"/>
              </a:rPr>
              <a:t>]</a:t>
            </a: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Clr>
                <a:srgbClr val="3F3F3F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400">
                <a:ea typeface="Helvetica Neue"/>
                <a:cs typeface="Helvetica Neue"/>
                <a:sym typeface="Helvetica Neue"/>
              </a:rPr>
              <a:t>[Insert main objectives]</a:t>
            </a: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Clr>
                <a:srgbClr val="3F3F3F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400">
                <a:ea typeface="Helvetica Neue"/>
                <a:cs typeface="Helvetica Neue"/>
                <a:sym typeface="Helvetica Neue"/>
              </a:rPr>
              <a:t>…</a:t>
            </a:r>
          </a:p>
        </p:txBody>
      </p:sp>
      <p:sp>
        <p:nvSpPr>
          <p:cNvPr id="15" name="Google Shape;882;p247">
            <a:extLst>
              <a:ext uri="{FF2B5EF4-FFF2-40B4-BE49-F238E27FC236}">
                <a16:creationId xmlns:a16="http://schemas.microsoft.com/office/drawing/2014/main" id="{07CDF677-049D-BA8E-5904-51DEB7D0C304}"/>
              </a:ext>
            </a:extLst>
          </p:cNvPr>
          <p:cNvSpPr txBox="1"/>
          <p:nvPr/>
        </p:nvSpPr>
        <p:spPr>
          <a:xfrm>
            <a:off x="4330397" y="2268394"/>
            <a:ext cx="3526178" cy="3766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91440" rIns="91440" bIns="91440" anchor="t" anchorCtr="0">
            <a:noAutofit/>
          </a:bodyPr>
          <a:lstStyle/>
          <a:p>
            <a:pPr marL="227013" indent="-227013">
              <a:spcAft>
                <a:spcPts val="600"/>
              </a:spcAft>
              <a:buClr>
                <a:srgbClr val="3F3F3F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ea typeface="Helvetica Neue"/>
                <a:cs typeface="Helvetica Neue"/>
                <a:sym typeface="Helvetica Neue"/>
              </a:rPr>
              <a:t>[Insert main components of solution]</a:t>
            </a:r>
          </a:p>
          <a:p>
            <a:pPr marL="227013" indent="-227013">
              <a:spcAft>
                <a:spcPts val="600"/>
              </a:spcAft>
              <a:buClr>
                <a:srgbClr val="3F3F3F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ea typeface="Helvetica Neue"/>
                <a:cs typeface="Helvetica Neue"/>
                <a:sym typeface="Helvetica Neue"/>
              </a:rPr>
              <a:t>[Insert main components of solution]</a:t>
            </a:r>
          </a:p>
          <a:p>
            <a:pPr marL="227013" indent="-227013">
              <a:spcAft>
                <a:spcPts val="600"/>
              </a:spcAft>
              <a:buClr>
                <a:srgbClr val="3F3F3F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ea typeface="Helvetica Neue"/>
                <a:cs typeface="Helvetica Neue"/>
                <a:sym typeface="Helvetica Neue"/>
              </a:rPr>
              <a:t>…</a:t>
            </a:r>
          </a:p>
          <a:p>
            <a:pPr marL="227013" indent="-227013">
              <a:spcAft>
                <a:spcPts val="600"/>
              </a:spcAft>
              <a:buClr>
                <a:srgbClr val="3F3F3F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ea typeface="Helvetica Neue"/>
                <a:cs typeface="Helvetica Neue"/>
                <a:sym typeface="Helvetica Neue"/>
              </a:rPr>
              <a:t>[Insert project time frame]</a:t>
            </a:r>
          </a:p>
        </p:txBody>
      </p:sp>
      <p:sp>
        <p:nvSpPr>
          <p:cNvPr id="16" name="Google Shape;883;p247">
            <a:extLst>
              <a:ext uri="{FF2B5EF4-FFF2-40B4-BE49-F238E27FC236}">
                <a16:creationId xmlns:a16="http://schemas.microsoft.com/office/drawing/2014/main" id="{12745C6B-30EC-70FE-95BA-7C4B986FC7E0}"/>
              </a:ext>
            </a:extLst>
          </p:cNvPr>
          <p:cNvSpPr txBox="1"/>
          <p:nvPr/>
        </p:nvSpPr>
        <p:spPr>
          <a:xfrm>
            <a:off x="8099868" y="2268394"/>
            <a:ext cx="3526178" cy="3766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91440" rIns="91440" bIns="91440" anchor="t" anchorCtr="0">
            <a:noAutofit/>
          </a:bodyPr>
          <a:lstStyle/>
          <a:p>
            <a:pPr marL="227013" indent="-227013">
              <a:spcAft>
                <a:spcPts val="600"/>
              </a:spcAft>
              <a:buClr>
                <a:srgbClr val="3F3F3F"/>
              </a:buClr>
              <a:buSzPct val="100000"/>
              <a:buFont typeface="Arial" panose="020B0604020202020204" pitchFamily="34" charset="0"/>
              <a:buChar char="•"/>
            </a:pPr>
            <a:r>
              <a:rPr lang="en" sz="1400">
                <a:ea typeface="Helvetica Neue"/>
                <a:cs typeface="Helvetica Neue"/>
                <a:sym typeface="Helvetica Neue"/>
              </a:rPr>
              <a:t>[Insert main outcomes of project e.g. a clear recommendation to x]</a:t>
            </a:r>
          </a:p>
          <a:p>
            <a:pPr marL="227013" indent="-227013">
              <a:spcAft>
                <a:spcPts val="600"/>
              </a:spcAft>
              <a:buClr>
                <a:srgbClr val="3F3F3F"/>
              </a:buClr>
              <a:buSzPct val="100000"/>
              <a:buFont typeface="Arial" panose="020B0604020202020204" pitchFamily="34" charset="0"/>
              <a:buChar char="•"/>
            </a:pPr>
            <a:r>
              <a:rPr lang="en" sz="1400">
                <a:ea typeface="Helvetica Neue"/>
                <a:cs typeface="Helvetica Neue"/>
                <a:sym typeface="Helvetica Neue"/>
              </a:rPr>
              <a:t>[Insert main outcomes of project]</a:t>
            </a:r>
          </a:p>
          <a:p>
            <a:pPr marL="227013" indent="-227013">
              <a:spcAft>
                <a:spcPts val="600"/>
              </a:spcAft>
              <a:buClr>
                <a:srgbClr val="3F3F3F"/>
              </a:buClr>
              <a:buSzPct val="100000"/>
              <a:buFont typeface="Arial" panose="020B0604020202020204" pitchFamily="34" charset="0"/>
              <a:buChar char="•"/>
            </a:pPr>
            <a:r>
              <a:rPr lang="en" sz="1400">
                <a:ea typeface="Helvetica Neue"/>
                <a:cs typeface="Helvetica Neue"/>
                <a:sym typeface="Helvetica Neue"/>
              </a:rPr>
              <a:t>…</a:t>
            </a:r>
            <a:endParaRPr sz="1400"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8" name="Google Shape;885;p247">
            <a:extLst>
              <a:ext uri="{FF2B5EF4-FFF2-40B4-BE49-F238E27FC236}">
                <a16:creationId xmlns:a16="http://schemas.microsoft.com/office/drawing/2014/main" id="{01B3D7FE-A1BF-24B1-FDA4-2A85F0877262}"/>
              </a:ext>
            </a:extLst>
          </p:cNvPr>
          <p:cNvCxnSpPr>
            <a:cxnSpLocks/>
          </p:cNvCxnSpPr>
          <p:nvPr/>
        </p:nvCxnSpPr>
        <p:spPr>
          <a:xfrm>
            <a:off x="4196319" y="1816190"/>
            <a:ext cx="0" cy="4023360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9" name="Google Shape;886;p247">
            <a:extLst>
              <a:ext uri="{FF2B5EF4-FFF2-40B4-BE49-F238E27FC236}">
                <a16:creationId xmlns:a16="http://schemas.microsoft.com/office/drawing/2014/main" id="{33617007-237E-9347-AFF8-244CA8A048F8}"/>
              </a:ext>
            </a:extLst>
          </p:cNvPr>
          <p:cNvSpPr/>
          <p:nvPr/>
        </p:nvSpPr>
        <p:spPr>
          <a:xfrm>
            <a:off x="4045114" y="3665936"/>
            <a:ext cx="327273" cy="32386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latin typeface="+mn-lt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" name="Google Shape;887;p247">
            <a:extLst>
              <a:ext uri="{FF2B5EF4-FFF2-40B4-BE49-F238E27FC236}">
                <a16:creationId xmlns:a16="http://schemas.microsoft.com/office/drawing/2014/main" id="{8407C799-C42A-4BF1-AA4E-1A4531685C15}"/>
              </a:ext>
            </a:extLst>
          </p:cNvPr>
          <p:cNvSpPr/>
          <p:nvPr/>
        </p:nvSpPr>
        <p:spPr>
          <a:xfrm>
            <a:off x="4163803" y="3738806"/>
            <a:ext cx="108000" cy="178128"/>
          </a:xfrm>
          <a:prstGeom prst="chevron">
            <a:avLst>
              <a:gd name="adj" fmla="val 150000"/>
            </a:avLst>
          </a:prstGeom>
          <a:solidFill>
            <a:schemeClr val="tx1"/>
          </a:solidFill>
          <a:ln w="19050" cap="flat" cmpd="sng">
            <a:solidFill>
              <a:schemeClr val="bg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latin typeface="+mn-lt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Gna1"/>
    </p:custDataLst>
    <p:extLst>
      <p:ext uri="{BB962C8B-B14F-4D97-AF65-F5344CB8AC3E}">
        <p14:creationId xmlns:p14="http://schemas.microsoft.com/office/powerpoint/2010/main" val="1948709166"/>
      </p:ext>
    </p:extLst>
  </p:cSld>
  <p:clrMapOvr>
    <a:masterClrMapping/>
  </p:clrMapOvr>
</p:sld>
</file>

<file path=ppt/tags/gna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13"/>
  <p:tag name="GNA_TEMPLATE_VERSION" val="1.0.0"/>
</p:tagLst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lideworks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GNA">
        <a:dk1>
          <a:srgbClr val="262626"/>
        </a:dk1>
        <a:lt1>
          <a:srgbClr val="FFFFFF"/>
        </a:lt1>
        <a:dk2>
          <a:srgbClr val="025043"/>
        </a:dk2>
        <a:lt2>
          <a:srgbClr val="F2F2F2"/>
        </a:lt2>
        <a:accent1>
          <a:srgbClr val="025043"/>
        </a:accent1>
        <a:accent2>
          <a:srgbClr val="5B9188"/>
        </a:accent2>
        <a:accent3>
          <a:srgbClr val="013A31"/>
        </a:accent3>
        <a:accent4>
          <a:srgbClr val="3D7A6F"/>
        </a:accent4>
        <a:accent5>
          <a:srgbClr val="B3CBC7"/>
        </a:accent5>
        <a:accent6>
          <a:srgbClr val="8C8C8C"/>
        </a:accent6>
        <a:hlink>
          <a:srgbClr val="025043"/>
        </a:hlink>
        <a:folHlink>
          <a:srgbClr val="5B918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0aec0d-fb61-4acf-853d-3d881a397377" xsi:nil="true"/>
    <lcf76f155ced4ddcb4097134ff3c332f xmlns="66bf5647-6c8d-4b39-99f0-6ce728158f6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8D02B34048E548B67E62DA37CF413A" ma:contentTypeVersion="10" ma:contentTypeDescription="Create a new document." ma:contentTypeScope="" ma:versionID="e579bd832814c7a6bb933bd8daeee1e4">
  <xsd:schema xmlns:xsd="http://www.w3.org/2001/XMLSchema" xmlns:xs="http://www.w3.org/2001/XMLSchema" xmlns:p="http://schemas.microsoft.com/office/2006/metadata/properties" xmlns:ns2="66bf5647-6c8d-4b39-99f0-6ce728158f6a" xmlns:ns3="220aec0d-fb61-4acf-853d-3d881a397377" targetNamespace="http://schemas.microsoft.com/office/2006/metadata/properties" ma:root="true" ma:fieldsID="c4231b6b052a71c45522500c216b5ea1" ns2:_="" ns3:_="">
    <xsd:import namespace="66bf5647-6c8d-4b39-99f0-6ce728158f6a"/>
    <xsd:import namespace="220aec0d-fb61-4acf-853d-3d881a3973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bf5647-6c8d-4b39-99f0-6ce728158f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eebc322-b823-451c-94d1-7dcd1c9c37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0aec0d-fb61-4acf-853d-3d881a39737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25ff44e-f5ad-4a5b-a1bc-30ed6eb29c5b}" ma:internalName="TaxCatchAll" ma:showField="CatchAllData" ma:web="220aec0d-fb61-4acf-853d-3d881a3973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4A8DEC-88BE-43F8-B6AA-48FEB665AF64}">
  <ds:schemaRefs>
    <ds:schemaRef ds:uri="http://schemas.microsoft.com/office/2006/metadata/properties"/>
    <ds:schemaRef ds:uri="http://schemas.microsoft.com/office/infopath/2007/PartnerControls"/>
    <ds:schemaRef ds:uri="220aec0d-fb61-4acf-853d-3d881a397377"/>
    <ds:schemaRef ds:uri="66bf5647-6c8d-4b39-99f0-6ce728158f6a"/>
  </ds:schemaRefs>
</ds:datastoreItem>
</file>

<file path=customXml/itemProps2.xml><?xml version="1.0" encoding="utf-8"?>
<ds:datastoreItem xmlns:ds="http://schemas.openxmlformats.org/officeDocument/2006/customXml" ds:itemID="{99C80F86-4E44-4A09-BB4B-210515F543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bf5647-6c8d-4b39-99f0-6ce728158f6a"/>
    <ds:schemaRef ds:uri="220aec0d-fb61-4acf-853d-3d881a3973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3AF9A27-60CA-4ED3-80AD-18744299AF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7601</TotalTime>
  <Words>10316</Words>
  <Application>Microsoft Office PowerPoint</Application>
  <PresentationFormat>Widescreen</PresentationFormat>
  <Paragraphs>1874</Paragraphs>
  <Slides>1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5" baseType="lpstr">
      <vt:lpstr>ＭＳ Ｐゴシック</vt:lpstr>
      <vt:lpstr>Arial</vt:lpstr>
      <vt:lpstr>Calibri</vt:lpstr>
      <vt:lpstr>Georgia</vt:lpstr>
      <vt:lpstr>Gotham Bold</vt:lpstr>
      <vt:lpstr>Helvetica Neue</vt:lpstr>
      <vt:lpstr>Lora</vt:lpstr>
      <vt:lpstr>Segoe UI</vt:lpstr>
      <vt:lpstr>Times New Roman</vt:lpstr>
      <vt:lpstr>Verdana</vt:lpstr>
      <vt:lpstr>Wingdings</vt:lpstr>
      <vt:lpstr>Slideworks</vt:lpstr>
      <vt:lpstr>think-cell Slide</vt:lpstr>
      <vt:lpstr>Every GNA slide makes one point, stated in its title</vt:lpstr>
      <vt:lpstr>The GNA palette is teal, white and grey, with tints in between</vt:lpstr>
      <vt:lpstr>Lora carries every word; size and weight create the hierarchy</vt:lpstr>
      <vt:lpstr>[Title of document]</vt:lpstr>
      <vt:lpstr>[Title of document]</vt:lpstr>
      <vt:lpstr>Content</vt:lpstr>
      <vt:lpstr>Content </vt:lpstr>
      <vt:lpstr>[Section]</vt:lpstr>
      <vt:lpstr>PowerPoint Presentation</vt:lpstr>
      <vt:lpstr>Executive summary</vt:lpstr>
      <vt:lpstr>Executive summary</vt:lpstr>
      <vt:lpstr>Executive summary</vt:lpstr>
      <vt:lpstr>Summary of our proposal</vt:lpstr>
      <vt:lpstr>The ambition is [insert client ambition, if relevant]</vt:lpstr>
      <vt:lpstr>We believe the time to act is now</vt:lpstr>
      <vt:lpstr>[Client] faces several challenges leading to key question: [insert]</vt:lpstr>
      <vt:lpstr>This project will answer three key questions resulting in [insert desired impact]</vt:lpstr>
      <vt:lpstr>The project is expected to result in [insert quantitative or qualitative outcome]</vt:lpstr>
      <vt:lpstr>[Column chart for comparison with takeaways / Insert action title]</vt:lpstr>
      <vt:lpstr>[Column chart with historic and forecast figures / Insert action title]</vt:lpstr>
      <vt:lpstr>[Grouped column chart with takeaways / Insert action title]</vt:lpstr>
      <vt:lpstr>[Bar chart with takeaways / Insert action title]</vt:lpstr>
      <vt:lpstr>[Line graph / Insert action title]</vt:lpstr>
      <vt:lpstr>[Line chart with two scenarios / Insert action title]</vt:lpstr>
      <vt:lpstr>[Waterfall chart / Insert action title]</vt:lpstr>
      <vt:lpstr>[Waterfall chart with highlights/ Insert action title]</vt:lpstr>
      <vt:lpstr>[Scatter chart with quadrants/ Insert action title]</vt:lpstr>
      <vt:lpstr>[Single doughnut chart / Insert action title]</vt:lpstr>
      <vt:lpstr>[Bar chart with line graph / Insert action title]</vt:lpstr>
      <vt:lpstr>[Four category Harvey Ball slide / Insert action title]</vt:lpstr>
      <vt:lpstr>[Five category Harvey Ball slide / Insert action title]</vt:lpstr>
      <vt:lpstr>[Three key trends slide / Insert action title]</vt:lpstr>
      <vt:lpstr>[Four key trends slide / Insert action title]</vt:lpstr>
      <vt:lpstr>[Five key areas slide / Insert action title]</vt:lpstr>
      <vt:lpstr>[Assessment or status overview / Insert action title]</vt:lpstr>
      <vt:lpstr>[Option evaluation slide / Insert action title]</vt:lpstr>
      <vt:lpstr>[Option evaluation slide for build vs. buy (or other dimensions) / Insert action title]</vt:lpstr>
      <vt:lpstr>[Competitor overview / Insert action title]</vt:lpstr>
      <vt:lpstr>[Competitor matrix slide / Insert action title]</vt:lpstr>
      <vt:lpstr>[Issue tree / Insert action title]</vt:lpstr>
      <vt:lpstr>[Decision tree / Insert action title]</vt:lpstr>
      <vt:lpstr>[Three state process slide / Insert action title]</vt:lpstr>
      <vt:lpstr>[Hypothesis overview slide / Insert action title]</vt:lpstr>
      <vt:lpstr>[Three key strategic areas slide / Insert action title]</vt:lpstr>
      <vt:lpstr>[Initiatives or sub-points slide / Insert action title]</vt:lpstr>
      <vt:lpstr>[Findings and recommendations summary / Insert action title]</vt:lpstr>
      <vt:lpstr>[Challenges and solutions summary / Insert action title]</vt:lpstr>
      <vt:lpstr>[Maturity or level slide / Insert action title]</vt:lpstr>
      <vt:lpstr>Prioritization of [features/components/segments]</vt:lpstr>
      <vt:lpstr>We believe in four guiding principles for a strong [insert]</vt:lpstr>
      <vt:lpstr>SWOT analysis</vt:lpstr>
      <vt:lpstr>Porter’s Five Forces</vt:lpstr>
      <vt:lpstr>Business Model Canvas</vt:lpstr>
      <vt:lpstr>[Process overview / Insert action title]</vt:lpstr>
      <vt:lpstr>[Circular process overview / Insert action title]</vt:lpstr>
      <vt:lpstr>We propose a four-step approach</vt:lpstr>
      <vt:lpstr>[Project] will evolve through four main phases</vt:lpstr>
      <vt:lpstr>[Project title] process expected to run [xx weeks/months]</vt:lpstr>
      <vt:lpstr>This project will focus on [insert scope]</vt:lpstr>
      <vt:lpstr>There are three main project deliverables</vt:lpstr>
      <vt:lpstr>High-level timeline for next [insert timeframe]</vt:lpstr>
      <vt:lpstr>[Roadmap / Insert action title]</vt:lpstr>
      <vt:lpstr>[Simple timeline / Insert action title]</vt:lpstr>
      <vt:lpstr>Risks mainly in [risk area 1] and [risk area 2]</vt:lpstr>
      <vt:lpstr>[Organizational chart / Insert action title]</vt:lpstr>
      <vt:lpstr>[Project team or functions / Insert action title]</vt:lpstr>
      <vt:lpstr>Project will be led by [insert] and supported by [insert]</vt:lpstr>
      <vt:lpstr>Our team</vt:lpstr>
      <vt:lpstr>[Insert name]</vt:lpstr>
      <vt:lpstr>Team allocation and investment</vt:lpstr>
      <vt:lpstr>Fee structure</vt:lpstr>
      <vt:lpstr>Commercial proposal</vt:lpstr>
      <vt:lpstr>GNA is uniquely positioned and committed to being a partner for [Client]</vt:lpstr>
      <vt:lpstr>Selected reference cases</vt:lpstr>
      <vt:lpstr>[Insert case headline]</vt:lpstr>
      <vt:lpstr>[One number frames the story / Insert action title]</vt:lpstr>
      <vt:lpstr>[Four measures show where we stand / Insert action title]</vt:lpstr>
      <vt:lpstr>[What we heard / Insert action title]</vt:lpstr>
      <vt:lpstr>[We move from today’s model to a new way of working / Insert action title]</vt:lpstr>
      <vt:lpstr>[Meeting name], [date]: agenda</vt:lpstr>
      <vt:lpstr>[Six ideas worth testing / Insert action title]</vt:lpstr>
      <vt:lpstr>[Start with the quick wins and fund one big bet / Insert action title]</vt:lpstr>
      <vt:lpstr>[We recommend option B because it balances value and risk / Insert action title]</vt:lpstr>
      <vt:lpstr>[Project name] status, week of [date]</vt:lpstr>
      <vt:lpstr>[Roles and responsibilities / Insert action title]</vt:lpstr>
      <vt:lpstr>Action tracker</vt:lpstr>
      <vt:lpstr>[Four principles guide how we work / Insert action title]</vt:lpstr>
      <vt:lpstr>[Meeting name], [date]: summary</vt:lpstr>
      <vt:lpstr>[Five milestones take us from kick-off to launch / Insert action title]</vt:lpstr>
      <vt:lpstr>Immediate next steps</vt:lpstr>
      <vt:lpstr>Next steps: Proposed way forward</vt:lpstr>
      <vt:lpstr>Thank you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GNA Presentation Template</dc:title>
  <dc:subject>Consulting</dc:subject>
  <dc:creator>Gheen &amp; Noyes Advisory</dc:creator>
  <cp:keywords>project management, business, consulting</cp:keywords>
  <dc:description>Copyright of Slideworks.io. Any unauthorized distribution prohibited. See our full terms and conditions at https://slideworks.io/terms </dc:description>
  <cp:lastModifiedBy>Cooper Gheen</cp:lastModifiedBy>
  <cp:revision>314</cp:revision>
  <dcterms:created xsi:type="dcterms:W3CDTF">2025-08-27T08:42:55Z</dcterms:created>
  <dcterms:modified xsi:type="dcterms:W3CDTF">2026-10-14T23:53:13Z</dcterms:modified>
  <cp:category>Management consulting, presentation design, business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0x010100758D02B34048E548B67E62DA37CF413A</vt:lpwstr>
  </property>
  <property fmtid="{D5CDD505-2E9C-101B-9397-08002B2CF9AE}" pid="3" name="MediaServiceImageTags">
    <vt:lpwstr/>
  </property>
</Properties>
</file>