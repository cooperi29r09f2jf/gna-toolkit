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518" r:id="rId5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55" Type="http://schemas.openxmlformats.org/officeDocument/2006/relationships/slide" Target="slides/slide5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51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9305037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03538-6937-7092-F4D2-615DC66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SWOT analysis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02B9905-7897-5A2C-970A-F4E918D2BD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630160" y="100540"/>
            <a:ext cx="4007104" cy="123111"/>
          </a:xfrm>
        </p:spPr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9FBDD6-FFB8-1A87-BCB9-E81C063BE4F9}"/>
              </a:ext>
            </a:extLst>
          </p:cNvPr>
          <p:cNvSpPr/>
          <p:nvPr/>
        </p:nvSpPr>
        <p:spPr>
          <a:xfrm>
            <a:off x="467805" y="1345079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n-lt"/>
              </a:rPr>
              <a:t>Strengths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C59F9-2262-8AD8-CF54-6DBEF30F7DB9}"/>
              </a:ext>
            </a:extLst>
          </p:cNvPr>
          <p:cNvSpPr/>
          <p:nvPr/>
        </p:nvSpPr>
        <p:spPr>
          <a:xfrm>
            <a:off x="6164565" y="1345079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Weaknesses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AED2C-7762-9201-5923-9705AECBC393}"/>
              </a:ext>
            </a:extLst>
          </p:cNvPr>
          <p:cNvSpPr/>
          <p:nvPr/>
        </p:nvSpPr>
        <p:spPr>
          <a:xfrm>
            <a:off x="467805" y="3867126"/>
            <a:ext cx="5490000" cy="346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+mn-lt"/>
              </a:rPr>
              <a:t>Opportunities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A4147E-5E80-C126-06E0-8E9943ECBEB5}"/>
              </a:ext>
            </a:extLst>
          </p:cNvPr>
          <p:cNvSpPr/>
          <p:nvPr/>
        </p:nvSpPr>
        <p:spPr>
          <a:xfrm>
            <a:off x="6164565" y="3867126"/>
            <a:ext cx="5490000" cy="346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Threats</a:t>
            </a:r>
          </a:p>
        </p:txBody>
      </p:sp>
      <p:sp>
        <p:nvSpPr>
          <p:cNvPr id="8" name="Oval 40">
            <a:extLst>
              <a:ext uri="{FF2B5EF4-FFF2-40B4-BE49-F238E27FC236}">
                <a16:creationId xmlns:a16="http://schemas.microsoft.com/office/drawing/2014/main" id="{522F08DB-7D8A-8CEE-8706-B5DF15204B8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strength</a:t>
            </a: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strength</a:t>
            </a: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strength</a:t>
            </a: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]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9" name="Oval 40">
            <a:extLst>
              <a:ext uri="{FF2B5EF4-FFF2-40B4-BE49-F238E27FC236}">
                <a16:creationId xmlns:a16="http://schemas.microsoft.com/office/drawing/2014/main" id="{36B9EB55-72A0-B265-AE9D-F7404D9DC7B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1733296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weakness]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weakness]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weakness]</a:t>
            </a:r>
          </a:p>
          <a:p>
            <a:pPr marL="225425" marR="0" lvl="0" indent="-17145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10" name="Oval 40">
            <a:extLst>
              <a:ext uri="{FF2B5EF4-FFF2-40B4-BE49-F238E27FC236}">
                <a16:creationId xmlns:a16="http://schemas.microsoft.com/office/drawing/2014/main" id="{8F45A77B-44C1-79A5-0635-7D16EDEFD36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7806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opportunity]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opportunity]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[Description of opportunity]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  <p:sp>
        <p:nvSpPr>
          <p:cNvPr id="11" name="Oval 40">
            <a:extLst>
              <a:ext uri="{FF2B5EF4-FFF2-40B4-BE49-F238E27FC236}">
                <a16:creationId xmlns:a16="http://schemas.microsoft.com/office/drawing/2014/main" id="{9906B0DC-44F7-D7C0-3A34-645E03D6E1D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164565" y="4255344"/>
            <a:ext cx="5490000" cy="19677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round/>
            <a:headEnd/>
            <a:tailEnd/>
          </a:ln>
          <a:effectLst/>
        </p:spPr>
        <p:txBody>
          <a:bodyPr wrap="square" lIns="91440" tIns="91440" rIns="91440" bIns="91440" anchor="t"/>
          <a:lstStyle/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[Description of threat]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[Description of threat]</a:t>
            </a:r>
          </a:p>
          <a:p>
            <a:pPr marL="225425" indent="-171450">
              <a:spcBef>
                <a:spcPts val="3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lang="en-US" sz="1200" kern="1200" dirty="0">
                <a:solidFill>
                  <a:schemeClr val="tx2">
                    <a:lumMod val="10000"/>
                  </a:schemeClr>
                </a:solidFill>
                <a:ea typeface="+mn-ea"/>
                <a:cs typeface="+mn-cs"/>
              </a:rPr>
              <a:t>[Description of threat]</a:t>
            </a:r>
          </a:p>
          <a:p>
            <a:pPr marL="225425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…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880201508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