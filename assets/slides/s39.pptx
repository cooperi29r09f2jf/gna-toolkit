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3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302" r:id="rId4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43" Type="http://schemas.openxmlformats.org/officeDocument/2006/relationships/slide" Target="slides/slide39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2.xml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46881030115137E-2"/>
          <c:y val="3.9206779930002919E-2"/>
          <c:w val="0.87105332508120525"/>
          <c:h val="0.7951261888615717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Pt>
            <c:idx val="7"/>
            <c:marker>
              <c:symbol val="circle"/>
              <c:size val="7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1C96-42FB-8C41-D092B22019AC}"/>
              </c:ext>
            </c:extLst>
          </c:dPt>
          <c:dLbls>
            <c:dLbl>
              <c:idx val="0"/>
              <c:layout>
                <c:manualLayout>
                  <c:x val="-7.0813672902882957E-2"/>
                  <c:y val="3.0639461206589683E-2"/>
                </c:manualLayout>
              </c:layout>
              <c:tx>
                <c:rich>
                  <a:bodyPr/>
                  <a:lstStyle/>
                  <a:p>
                    <a:fld id="{D29B07CA-7F8E-4670-AB2C-C7B30D3406E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1C96-42FB-8C41-D092B22019AC}"/>
                </c:ext>
              </c:extLst>
            </c:dLbl>
            <c:dLbl>
              <c:idx val="1"/>
              <c:layout>
                <c:manualLayout>
                  <c:x val="-6.3567747326713445E-3"/>
                  <c:y val="-3.0677195489828158E-3"/>
                </c:manualLayout>
              </c:layout>
              <c:tx>
                <c:rich>
                  <a:bodyPr/>
                  <a:lstStyle/>
                  <a:p>
                    <a:fld id="{210E280F-5A57-4CEF-A90F-23FA8FC5EB2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C96-42FB-8C41-D092B22019A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280EB5E-8E82-4EF9-AD8D-F7826559E55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1C96-42FB-8C41-D092B22019A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7399818-1290-453F-88F1-D9D5724ED37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1C96-42FB-8C41-D092B22019A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E8210CE-D4D6-4EA2-B088-F04746FD9F5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1C96-42FB-8C41-D092B22019A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CDC6144B-960D-42AF-B2C0-F209122168C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1C96-42FB-8C41-D092B22019A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554BB3DE-8446-42C2-9638-C1341E781D8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C96-42FB-8C41-D092B22019AC}"/>
                </c:ext>
              </c:extLst>
            </c:dLbl>
            <c:dLbl>
              <c:idx val="7"/>
              <c:tx>
                <c:rich>
                  <a:bodyPr rot="0" spcFirstLastPara="1" vertOverflow="clip" horzOverflow="clip" vert="horz" wrap="square" lIns="36576" tIns="18288" rIns="36576" bIns="18288" anchor="ctr" anchorCtr="1">
                    <a:sp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6A0B912-E197-4820-B8BB-43ABE3390F73}" type="CELLRANGE">
                      <a:rPr lang="en-US"/>
                      <a:pPr>
                        <a:defRPr/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1C96-42FB-8C41-D092B22019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Sheet1!$A$2:$A$9</c:f>
              <c:numCache>
                <c:formatCode>General</c:formatCode>
                <c:ptCount val="8"/>
                <c:pt idx="0">
                  <c:v>24</c:v>
                </c:pt>
                <c:pt idx="1">
                  <c:v>25</c:v>
                </c:pt>
                <c:pt idx="2">
                  <c:v>5</c:v>
                </c:pt>
                <c:pt idx="3">
                  <c:v>18</c:v>
                </c:pt>
                <c:pt idx="4">
                  <c:v>12</c:v>
                </c:pt>
                <c:pt idx="5">
                  <c:v>23</c:v>
                </c:pt>
                <c:pt idx="6">
                  <c:v>20</c:v>
                </c:pt>
                <c:pt idx="7">
                  <c:v>7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8</c:v>
                </c:pt>
                <c:pt idx="2">
                  <c:v>7</c:v>
                </c:pt>
                <c:pt idx="3">
                  <c:v>4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9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Sheet1!$C$2:$C$9</c15:f>
                <c15:dlblRangeCache>
                  <c:ptCount val="8"/>
                  <c:pt idx="0">
                    <c:v>Competitor 1</c:v>
                  </c:pt>
                  <c:pt idx="1">
                    <c:v>Competitor 2</c:v>
                  </c:pt>
                  <c:pt idx="2">
                    <c:v>Competitor 3</c:v>
                  </c:pt>
                  <c:pt idx="3">
                    <c:v>Competitor 4</c:v>
                  </c:pt>
                  <c:pt idx="4">
                    <c:v>Competitor 5</c:v>
                  </c:pt>
                  <c:pt idx="5">
                    <c:v>Competitor 6</c:v>
                  </c:pt>
                  <c:pt idx="6">
                    <c:v>Competitor 7</c:v>
                  </c:pt>
                  <c:pt idx="7">
                    <c:v>Company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1C96-42FB-8C41-D092B2201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0173744"/>
        <c:axId val="1640178320"/>
      </c:scatterChart>
      <c:valAx>
        <c:axId val="1640173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/>
                  <a:t>Market share</a:t>
                </a:r>
              </a:p>
            </c:rich>
          </c:tx>
          <c:layout>
            <c:manualLayout>
              <c:xMode val="edge"/>
              <c:yMode val="edge"/>
              <c:x val="0.45353135103736814"/>
              <c:y val="0.935134294344090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\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178320"/>
        <c:crosses val="autoZero"/>
        <c:crossBetween val="midCat"/>
      </c:valAx>
      <c:valAx>
        <c:axId val="1640178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/>
                  <a:t>Revenue growth</a:t>
                </a:r>
              </a:p>
            </c:rich>
          </c:tx>
          <c:layout>
            <c:manualLayout>
              <c:xMode val="edge"/>
              <c:yMode val="edge"/>
              <c:x val="0"/>
              <c:y val="0.263574739833652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\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173744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0.53273</cdr:x>
      <cdr:y>0.04059</cdr:y>
    </cdr:from>
    <cdr:to>
      <cdr:x>0.53273</cdr:x>
      <cdr:y>0.83781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58ED0D37-6A5A-F395-0C76-C554A6CD652B}"/>
            </a:ext>
          </a:extLst>
        </cdr:cNvPr>
        <cdr:cNvCxnSpPr/>
      </cdr:nvCxnSpPr>
      <cdr:spPr>
        <a:xfrm xmlns:a="http://schemas.openxmlformats.org/drawingml/2006/main">
          <a:off x="3888934" y="150098"/>
          <a:ext cx="0" cy="2947860"/>
        </a:xfrm>
        <a:prstGeom xmlns:a="http://schemas.openxmlformats.org/drawingml/2006/main" prst="line">
          <a:avLst/>
        </a:prstGeom>
        <a:ln xmlns:a="http://schemas.openxmlformats.org/drawingml/2006/main" w="15875" cap="sq">
          <a:solidFill>
            <a:srgbClr val="000000"/>
          </a:solidFill>
          <a:prstDash val="dash"/>
          <a:miter lim="800000"/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0.09677</cdr:x>
      <cdr:y>0.43769</cdr:y>
    </cdr:from>
    <cdr:to>
      <cdr:x>0.96859</cdr:x>
      <cdr:y>0.43769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F80FBA78-A54A-A7F5-B29D-8D629C6D243A}"/>
            </a:ext>
          </a:extLst>
        </cdr:cNvPr>
        <cdr:cNvCxnSpPr/>
      </cdr:nvCxnSpPr>
      <cdr:spPr>
        <a:xfrm xmlns:a="http://schemas.openxmlformats.org/drawingml/2006/main" flipH="1">
          <a:off x="706436" y="1618414"/>
          <a:ext cx="6364224" cy="0"/>
        </a:xfrm>
        <a:prstGeom xmlns:a="http://schemas.openxmlformats.org/drawingml/2006/main" prst="line">
          <a:avLst/>
        </a:prstGeom>
        <a:ln xmlns:a="http://schemas.openxmlformats.org/drawingml/2006/main" w="15875" cap="sq">
          <a:solidFill>
            <a:srgbClr val="000000"/>
          </a:solidFill>
          <a:prstDash val="dash"/>
          <a:miter lim="800000"/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39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05165388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9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3.xml"/><Relationship Id="rId6" Type="http://schemas.openxmlformats.org/officeDocument/2006/relationships/chart" Target="../charts/chart10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3.bin"/><Relationship Id="rIdGna1" Type="http://schemas.openxmlformats.org/officeDocument/2006/relationships/tags" Target="../tags/gnatag1.xml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[Competitor matrix slide / Insert action title]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CAA30-35B2-7487-1AC7-FE41D1350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75C97C-8C78-3016-B33D-7EE334BC7A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A4DCD2D-89A9-A7ED-32DF-1E1D56613F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8775800"/>
              </p:ext>
            </p:extLst>
          </p:nvPr>
        </p:nvGraphicFramePr>
        <p:xfrm>
          <a:off x="550864" y="2487594"/>
          <a:ext cx="7299959" cy="3697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42864B4-F349-ADB6-BAE4-ECDFB5ECE807}"/>
              </a:ext>
            </a:extLst>
          </p:cNvPr>
          <p:cNvSpPr/>
          <p:nvPr/>
        </p:nvSpPr>
        <p:spPr>
          <a:xfrm>
            <a:off x="1400093" y="5281176"/>
            <a:ext cx="3510395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Laggards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CD7E08-F27A-2413-5C92-DB807B6A8CAA}"/>
              </a:ext>
            </a:extLst>
          </p:cNvPr>
          <p:cNvSpPr/>
          <p:nvPr/>
        </p:nvSpPr>
        <p:spPr>
          <a:xfrm>
            <a:off x="1400093" y="2732216"/>
            <a:ext cx="283262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Challengers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14ED70-B685-4304-10CA-255C3A4434DD}"/>
              </a:ext>
            </a:extLst>
          </p:cNvPr>
          <p:cNvSpPr/>
          <p:nvPr/>
        </p:nvSpPr>
        <p:spPr>
          <a:xfrm>
            <a:off x="4946650" y="5281176"/>
            <a:ext cx="2549992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Incumbents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834188-F6F2-2194-4C96-BBC61B888F56}"/>
              </a:ext>
            </a:extLst>
          </p:cNvPr>
          <p:cNvSpPr/>
          <p:nvPr/>
        </p:nvSpPr>
        <p:spPr>
          <a:xfrm>
            <a:off x="5499100" y="2732216"/>
            <a:ext cx="1997542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Market leaders</a:t>
            </a:r>
          </a:p>
        </p:txBody>
      </p:sp>
      <p:sp>
        <p:nvSpPr>
          <p:cNvPr id="10" name="Google Shape;507;p14">
            <a:extLst>
              <a:ext uri="{FF2B5EF4-FFF2-40B4-BE49-F238E27FC236}">
                <a16:creationId xmlns:a16="http://schemas.microsoft.com/office/drawing/2014/main" id="{1C77F557-FB9D-BC30-4046-1F955190116D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38;p14">
            <a:extLst>
              <a:ext uri="{FF2B5EF4-FFF2-40B4-BE49-F238E27FC236}">
                <a16:creationId xmlns:a16="http://schemas.microsoft.com/office/drawing/2014/main" id="{3BD30A2F-FA74-F50F-9352-C3B6E78A5AE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928C8-FE6C-9C0C-14CC-45DD2E495E6E}"/>
              </a:ext>
            </a:extLst>
          </p:cNvPr>
          <p:cNvSpPr txBox="1"/>
          <p:nvPr/>
        </p:nvSpPr>
        <p:spPr>
          <a:xfrm>
            <a:off x="554736" y="1733550"/>
            <a:ext cx="7296092" cy="47456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latin typeface="+mn-lt"/>
              </a:rPr>
              <a:t>[Description]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9131F-EB26-6C0E-72B4-87DF99E24071}"/>
              </a:ext>
            </a:extLst>
          </p:cNvPr>
          <p:cNvCxnSpPr>
            <a:cxnSpLocks/>
          </p:cNvCxnSpPr>
          <p:nvPr/>
        </p:nvCxnSpPr>
        <p:spPr>
          <a:xfrm>
            <a:off x="554736" y="2292428"/>
            <a:ext cx="72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3F9BF09-1337-0062-4D1A-F165D5D6F543}"/>
              </a:ext>
            </a:extLst>
          </p:cNvPr>
          <p:cNvSpPr txBox="1"/>
          <p:nvPr/>
        </p:nvSpPr>
        <p:spPr>
          <a:xfrm>
            <a:off x="8106032" y="1733550"/>
            <a:ext cx="3535105" cy="47456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[Key takeaways]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F01090-E0BE-F3AD-3DB2-33FF7A0404FD}"/>
              </a:ext>
            </a:extLst>
          </p:cNvPr>
          <p:cNvCxnSpPr>
            <a:cxnSpLocks/>
          </p:cNvCxnSpPr>
          <p:nvPr/>
        </p:nvCxnSpPr>
        <p:spPr>
          <a:xfrm>
            <a:off x="7997639" y="17335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B3B56DB-4835-63C3-AD38-73E2999E4031}"/>
              </a:ext>
            </a:extLst>
          </p:cNvPr>
          <p:cNvSpPr txBox="1"/>
          <p:nvPr/>
        </p:nvSpPr>
        <p:spPr>
          <a:xfrm>
            <a:off x="8240476" y="2551261"/>
            <a:ext cx="34006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latin typeface="+mn-lt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123FFCC-7CC0-8E8C-B077-635F53DF4379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BBEEAE7-A3B2-A02E-C793-E09E40B7131F}"/>
              </a:ext>
            </a:extLst>
          </p:cNvPr>
          <p:cNvSpPr/>
          <p:nvPr/>
        </p:nvSpPr>
        <p:spPr>
          <a:xfrm>
            <a:off x="2467674" y="3170385"/>
            <a:ext cx="1221922" cy="436880"/>
          </a:xfrm>
          <a:prstGeom prst="rect">
            <a:avLst/>
          </a:prstGeom>
          <a:noFill/>
          <a:ln w="28575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91131641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