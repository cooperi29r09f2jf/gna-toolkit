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31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405" r:id="rId20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6.xml.rels><?xml version="1.0" encoding="UTF-8" standalone="yes"?>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4.xml"/><Relationship Id="rId4" Type="http://schemas.openxmlformats.org/officeDocument/2006/relationships/image" Target="../media/image16.emf"/><Relationship Id="rIdGna1" Type="http://schemas.openxmlformats.org/officeDocument/2006/relationships/tags" Target="../tags/gnatag1.xml"/></Relationships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F5813C0-49EB-6CA1-D737-EE48C6CDD6C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F5813C0-49EB-6CA1-D737-EE48C6CDD6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E579D8B-4611-B928-953C-F7CC010CE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[Client] faces several challenges leading to key question: [insert]</a:t>
            </a:r>
            <a:endParaRPr lang="en-DK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0EFFD34F-9E2E-7B29-CF31-214DBFBE29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A59A27D-17EC-4AEA-A7C4-27FD0FFD642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Arrow: Pentagon 6">
            <a:extLst>
              <a:ext uri="{FF2B5EF4-FFF2-40B4-BE49-F238E27FC236}">
                <a16:creationId xmlns:a16="http://schemas.microsoft.com/office/drawing/2014/main" id="{7C1A64A1-3498-1F50-CB42-188B7AF99330}"/>
              </a:ext>
            </a:extLst>
          </p:cNvPr>
          <p:cNvSpPr/>
          <p:nvPr/>
        </p:nvSpPr>
        <p:spPr>
          <a:xfrm>
            <a:off x="554734" y="1744663"/>
            <a:ext cx="5303520" cy="450373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Situation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dirty="0">
              <a:solidFill>
                <a:schemeClr val="tx1"/>
              </a:solidFill>
              <a:latin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description of overall situation e.g.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[Client] has an established cash management business within its markets.]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descriptio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n]</a:t>
            </a:r>
            <a:endParaRPr lang="en-US" sz="1400" noProof="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[Inser</a:t>
            </a:r>
            <a:r>
              <a:rPr lang="en-US" sz="1400" dirty="0">
                <a:solidFill>
                  <a:schemeClr val="tx1"/>
                </a:solidFill>
                <a:latin typeface="+mn-lt"/>
              </a:rPr>
              <a:t>t high-level </a:t>
            </a:r>
            <a:r>
              <a:rPr lang="en-US" sz="1400" dirty="0" err="1">
                <a:solidFill>
                  <a:schemeClr val="tx1"/>
                </a:solidFill>
                <a:latin typeface="+mn-lt"/>
              </a:rPr>
              <a:t>descriptio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n]</a:t>
            </a:r>
            <a:endParaRPr lang="en-US" sz="1400" dirty="0">
              <a:solidFill>
                <a:schemeClr val="tx1"/>
              </a:solidFill>
              <a:latin typeface="+mn-lt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en-US" sz="1400" dirty="0">
                <a:solidFill>
                  <a:schemeClr val="tx1"/>
                </a:solidFill>
                <a:latin typeface="+mn-lt"/>
              </a:rPr>
              <a:t>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74BDBD-9CFF-C8AA-3EFC-C832D236482C}"/>
              </a:ext>
            </a:extLst>
          </p:cNvPr>
          <p:cNvSpPr txBox="1"/>
          <p:nvPr/>
        </p:nvSpPr>
        <p:spPr>
          <a:xfrm>
            <a:off x="6970918" y="2162198"/>
            <a:ext cx="4666346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70FD86-3555-1D67-C324-652AC8F4D285}"/>
              </a:ext>
            </a:extLst>
          </p:cNvPr>
          <p:cNvSpPr txBox="1"/>
          <p:nvPr/>
        </p:nvSpPr>
        <p:spPr>
          <a:xfrm>
            <a:off x="6970920" y="3023778"/>
            <a:ext cx="4666344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9A4AB7-DFD9-2B60-10D4-8CA4D42B641A}"/>
              </a:ext>
            </a:extLst>
          </p:cNvPr>
          <p:cNvSpPr txBox="1"/>
          <p:nvPr/>
        </p:nvSpPr>
        <p:spPr>
          <a:xfrm>
            <a:off x="6970920" y="3885359"/>
            <a:ext cx="4666344" cy="601127"/>
          </a:xfrm>
          <a:prstGeom prst="rect">
            <a:avLst/>
          </a:prstGeom>
          <a:noFill/>
          <a:ln w="6350">
            <a:noFill/>
            <a:prstDash val="sysDash"/>
          </a:ln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indent="-144000">
              <a:lnSpc>
                <a:spcPct val="93000"/>
              </a:lnSpc>
              <a:buSzPct val="100000"/>
              <a:buNone/>
              <a:defRPr sz="1100">
                <a:latin typeface="+mn-lt"/>
              </a:defRPr>
            </a:lvl1pPr>
            <a:lvl2pPr marL="0" lvl="1" indent="0">
              <a:lnSpc>
                <a:spcPct val="93000"/>
              </a:lnSpc>
              <a:buSzPct val="100000"/>
              <a:buChar char="​"/>
              <a:defRPr sz="1100">
                <a:latin typeface="+mn-lt"/>
              </a:defRPr>
            </a:lvl2pPr>
            <a:lvl3pPr marL="144000" lvl="2">
              <a:lnSpc>
                <a:spcPct val="93000"/>
              </a:lnSpc>
              <a:buSzPct val="100000"/>
              <a:defRPr sz="1100">
                <a:latin typeface="+mn-lt"/>
              </a:defRPr>
            </a:lvl3pPr>
            <a:lvl4pPr marL="288000" lvl="3">
              <a:lnSpc>
                <a:spcPct val="93000"/>
              </a:lnSpc>
              <a:buSzPct val="100000"/>
              <a:defRPr sz="1100">
                <a:latin typeface="+mn-lt"/>
              </a:defRPr>
            </a:lvl4pPr>
            <a:lvl5pPr marL="432000" lvl="4" indent="-144000">
              <a:lnSpc>
                <a:spcPct val="93000"/>
              </a:lnSpc>
              <a:buSzPct val="100000"/>
              <a:buChar char="•"/>
              <a:defRPr sz="1100" b="0">
                <a:latin typeface="+mn-lt"/>
              </a:defRPr>
            </a:lvl5pPr>
          </a:lstStyle>
          <a:p>
            <a:pPr marL="0" marR="0" lvl="0" indent="-144000" algn="l" defTabSz="914400" rtl="0" eaLnBrk="1" fontAlgn="auto" latinLnBrk="0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Times New Roman" panose="02020603050405020304" pitchFamily="18" charset="0"/>
                <a:cs typeface="+mn-cs"/>
              </a:rPr>
              <a:t>[Insert challenge]</a:t>
            </a:r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ACC63742-C77A-4046-3746-CEC51C516F41}"/>
              </a:ext>
            </a:extLst>
          </p:cNvPr>
          <p:cNvSpPr/>
          <p:nvPr/>
        </p:nvSpPr>
        <p:spPr>
          <a:xfrm>
            <a:off x="6505198" y="2309277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B5B9F8A-0494-E14C-AA6D-82CBACBCC91A}"/>
              </a:ext>
            </a:extLst>
          </p:cNvPr>
          <p:cNvSpPr/>
          <p:nvPr/>
        </p:nvSpPr>
        <p:spPr>
          <a:xfrm>
            <a:off x="6505198" y="3170857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37FB461A-CB38-1E4D-95CD-06ED7F0BAFD1}"/>
              </a:ext>
            </a:extLst>
          </p:cNvPr>
          <p:cNvSpPr/>
          <p:nvPr/>
        </p:nvSpPr>
        <p:spPr>
          <a:xfrm>
            <a:off x="6505198" y="4032438"/>
            <a:ext cx="306968" cy="306968"/>
          </a:xfrm>
          <a:prstGeom prst="ellipse">
            <a:avLst/>
          </a:prstGeom>
          <a:solidFill>
            <a:schemeClr val="accent1"/>
          </a:solidFill>
          <a:ln w="12700" cap="rnd">
            <a:solidFill>
              <a:schemeClr val="bg1"/>
            </a:solidFill>
            <a:prstDash val="solid"/>
            <a:round/>
          </a:ln>
        </p:spPr>
        <p:txBody>
          <a:bodyPr lIns="0" r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24C67CCA-F8DA-ACF6-E5B7-AAA86E450020}"/>
              </a:ext>
            </a:extLst>
          </p:cNvPr>
          <p:cNvSpPr/>
          <p:nvPr/>
        </p:nvSpPr>
        <p:spPr>
          <a:xfrm rot="10800000">
            <a:off x="8455152" y="4702499"/>
            <a:ext cx="1060704" cy="190501"/>
          </a:xfrm>
          <a:prstGeom prst="triangl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GB" sz="1600" err="1">
              <a:solidFill>
                <a:schemeClr val="tx1"/>
              </a:solidFill>
            </a:endParaRPr>
          </a:p>
        </p:txBody>
      </p:sp>
      <p:sp>
        <p:nvSpPr>
          <p:cNvPr id="19" name="Arrow: Pentagon 6">
            <a:extLst>
              <a:ext uri="{FF2B5EF4-FFF2-40B4-BE49-F238E27FC236}">
                <a16:creationId xmlns:a16="http://schemas.microsoft.com/office/drawing/2014/main" id="{3EC9ABCB-E892-47D0-59B5-C8823BC26EBD}"/>
              </a:ext>
            </a:extLst>
          </p:cNvPr>
          <p:cNvSpPr/>
          <p:nvPr/>
        </p:nvSpPr>
        <p:spPr>
          <a:xfrm>
            <a:off x="6333744" y="1744664"/>
            <a:ext cx="5303520" cy="373154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Challe</a:t>
            </a:r>
            <a:r>
              <a:rPr lang="en-US" sz="1400" b="1" noProof="1">
                <a:solidFill>
                  <a:schemeClr val="tx1"/>
                </a:solidFill>
                <a:latin typeface="+mn-lt"/>
              </a:rPr>
              <a:t>nges</a:t>
            </a:r>
            <a:endParaRPr kumimoji="0" lang="en-US" sz="14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" name="Arrow: Pentagon 6">
            <a:extLst>
              <a:ext uri="{FF2B5EF4-FFF2-40B4-BE49-F238E27FC236}">
                <a16:creationId xmlns:a16="http://schemas.microsoft.com/office/drawing/2014/main" id="{CC6E5FDF-C270-28DD-0EE5-11A83B93B0AF}"/>
              </a:ext>
            </a:extLst>
          </p:cNvPr>
          <p:cNvSpPr/>
          <p:nvPr/>
        </p:nvSpPr>
        <p:spPr>
          <a:xfrm>
            <a:off x="6333744" y="5086967"/>
            <a:ext cx="5303520" cy="1161433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108000" rIns="91440" bIns="108000" rtlCol="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Key question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400" b="1" dirty="0">
              <a:solidFill>
                <a:schemeClr val="tx1"/>
              </a:solidFill>
              <a:latin typeface="+mn-lt"/>
            </a:endParaRPr>
          </a:p>
          <a:p>
            <a:pPr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[Insert key question/objective of project]</a:t>
            </a:r>
          </a:p>
        </p:txBody>
      </p:sp>
      <p:sp>
        <p:nvSpPr>
          <p:cNvPr id="4" name="Google Shape;507;p14">
            <a:extLst>
              <a:ext uri="{FF2B5EF4-FFF2-40B4-BE49-F238E27FC236}">
                <a16:creationId xmlns:a16="http://schemas.microsoft.com/office/drawing/2014/main" id="{26C1178B-5DB0-5E74-E3AC-99F546938187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latin typeface="+mn-lt"/>
                <a:ea typeface="Arial"/>
                <a:cs typeface="Arial"/>
                <a:sym typeface="Arial"/>
              </a:rPr>
              <a:t>Source: </a:t>
            </a:r>
            <a:r>
              <a:rPr lang="en-GB" sz="900">
                <a:latin typeface="+mn-lt"/>
                <a:ea typeface="Arial"/>
                <a:cs typeface="Arial"/>
                <a:sym typeface="Arial"/>
              </a:rPr>
              <a:t>xx</a:t>
            </a:r>
            <a:endParaRPr sz="900" b="0" i="0" u="none" strike="noStrike" cap="none"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414490182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16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