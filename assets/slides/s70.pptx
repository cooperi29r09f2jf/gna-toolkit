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6" r:id="rId7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74" Type="http://schemas.openxmlformats.org/officeDocument/2006/relationships/slide" Target="slides/slide70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5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Team allocation and investment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ECE9E1C-722E-E449-A5F8-59B116826B15}"/>
              </a:ext>
            </a:extLst>
          </p:cNvPr>
          <p:cNvSpPr txBox="1">
            <a:spLocks/>
          </p:cNvSpPr>
          <p:nvPr/>
        </p:nvSpPr>
        <p:spPr>
          <a:xfrm>
            <a:off x="552262" y="1540145"/>
            <a:ext cx="8324110" cy="46701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73152" tIns="73152" rIns="73152" bIns="73152" rtlCol="0" anchor="ctr" anchorCtr="0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" name="Content Placeholder 7">
            <a:extLst>
              <a:ext uri="{FF2B5EF4-FFF2-40B4-BE49-F238E27FC236}">
                <a16:creationId xmlns:a16="http://schemas.microsoft.com/office/drawing/2014/main" id="{3F812EF3-6988-C65B-597E-C8EFA0F9D931}"/>
              </a:ext>
            </a:extLst>
          </p:cNvPr>
          <p:cNvSpPr txBox="1">
            <a:spLocks/>
          </p:cNvSpPr>
          <p:nvPr/>
        </p:nvSpPr>
        <p:spPr>
          <a:xfrm>
            <a:off x="658756" y="2272283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58" name="Content Placeholder 7">
            <a:extLst>
              <a:ext uri="{FF2B5EF4-FFF2-40B4-BE49-F238E27FC236}">
                <a16:creationId xmlns:a16="http://schemas.microsoft.com/office/drawing/2014/main" id="{54EA2C72-C773-F50B-6A24-C6FF8467810F}"/>
              </a:ext>
            </a:extLst>
          </p:cNvPr>
          <p:cNvSpPr txBox="1">
            <a:spLocks/>
          </p:cNvSpPr>
          <p:nvPr/>
        </p:nvSpPr>
        <p:spPr>
          <a:xfrm>
            <a:off x="658756" y="3084404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60" name="Content Placeholder 7">
            <a:extLst>
              <a:ext uri="{FF2B5EF4-FFF2-40B4-BE49-F238E27FC236}">
                <a16:creationId xmlns:a16="http://schemas.microsoft.com/office/drawing/2014/main" id="{E50BD28A-9380-1F08-B7B0-225312DBA7F7}"/>
              </a:ext>
            </a:extLst>
          </p:cNvPr>
          <p:cNvSpPr txBox="1">
            <a:spLocks/>
          </p:cNvSpPr>
          <p:nvPr/>
        </p:nvSpPr>
        <p:spPr>
          <a:xfrm>
            <a:off x="658756" y="3896525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62" name="Content Placeholder 7">
            <a:extLst>
              <a:ext uri="{FF2B5EF4-FFF2-40B4-BE49-F238E27FC236}">
                <a16:creationId xmlns:a16="http://schemas.microsoft.com/office/drawing/2014/main" id="{01199DB5-1B2B-232D-3F82-1C66CC33B39B}"/>
              </a:ext>
            </a:extLst>
          </p:cNvPr>
          <p:cNvSpPr txBox="1">
            <a:spLocks/>
          </p:cNvSpPr>
          <p:nvPr/>
        </p:nvSpPr>
        <p:spPr>
          <a:xfrm>
            <a:off x="658756" y="4708646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465" name="Content Placeholder 7">
            <a:extLst>
              <a:ext uri="{FF2B5EF4-FFF2-40B4-BE49-F238E27FC236}">
                <a16:creationId xmlns:a16="http://schemas.microsoft.com/office/drawing/2014/main" id="{4A59CD3A-7617-E2F5-C197-A009A89A01DC}"/>
              </a:ext>
            </a:extLst>
          </p:cNvPr>
          <p:cNvSpPr txBox="1">
            <a:spLocks/>
          </p:cNvSpPr>
          <p:nvPr/>
        </p:nvSpPr>
        <p:spPr>
          <a:xfrm>
            <a:off x="658756" y="5520768"/>
            <a:ext cx="1558642" cy="59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name]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title]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Rate: xxx/day</a:t>
            </a:r>
          </a:p>
        </p:txBody>
      </p:sp>
      <p:sp>
        <p:nvSpPr>
          <p:cNvPr id="470" name="Content Placeholder 7">
            <a:extLst>
              <a:ext uri="{FF2B5EF4-FFF2-40B4-BE49-F238E27FC236}">
                <a16:creationId xmlns:a16="http://schemas.microsoft.com/office/drawing/2014/main" id="{EBB25132-5ED7-2047-4E8B-924005BF7781}"/>
              </a:ext>
            </a:extLst>
          </p:cNvPr>
          <p:cNvSpPr txBox="1">
            <a:spLocks/>
          </p:cNvSpPr>
          <p:nvPr/>
        </p:nvSpPr>
        <p:spPr>
          <a:xfrm>
            <a:off x="658756" y="1744376"/>
            <a:ext cx="603455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Name</a:t>
            </a:r>
          </a:p>
        </p:txBody>
      </p:sp>
      <p:sp>
        <p:nvSpPr>
          <p:cNvPr id="50" name="Content Placeholder 7">
            <a:extLst>
              <a:ext uri="{FF2B5EF4-FFF2-40B4-BE49-F238E27FC236}">
                <a16:creationId xmlns:a16="http://schemas.microsoft.com/office/drawing/2014/main" id="{C9FA8794-F95B-8EA6-FBBB-24869C5EACA8}"/>
              </a:ext>
            </a:extLst>
          </p:cNvPr>
          <p:cNvSpPr txBox="1">
            <a:spLocks/>
          </p:cNvSpPr>
          <p:nvPr/>
        </p:nvSpPr>
        <p:spPr>
          <a:xfrm>
            <a:off x="7223047" y="2377376"/>
            <a:ext cx="1554480" cy="3818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As required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(~2 days/month)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4D448433-4511-081E-C08F-025382061AF5}"/>
              </a:ext>
            </a:extLst>
          </p:cNvPr>
          <p:cNvSpPr txBox="1">
            <a:spLocks/>
          </p:cNvSpPr>
          <p:nvPr/>
        </p:nvSpPr>
        <p:spPr>
          <a:xfrm>
            <a:off x="7223048" y="3189497"/>
            <a:ext cx="1554480" cy="381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Average 20%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(1 day/week)</a:t>
            </a:r>
          </a:p>
        </p:txBody>
      </p:sp>
      <p:sp>
        <p:nvSpPr>
          <p:cNvPr id="52" name="Content Placeholder 7">
            <a:extLst>
              <a:ext uri="{FF2B5EF4-FFF2-40B4-BE49-F238E27FC236}">
                <a16:creationId xmlns:a16="http://schemas.microsoft.com/office/drawing/2014/main" id="{D8C35D60-0DEF-2A27-2B8F-62737182EC2C}"/>
              </a:ext>
            </a:extLst>
          </p:cNvPr>
          <p:cNvSpPr txBox="1">
            <a:spLocks/>
          </p:cNvSpPr>
          <p:nvPr/>
        </p:nvSpPr>
        <p:spPr>
          <a:xfrm>
            <a:off x="7223048" y="4106710"/>
            <a:ext cx="1554480" cy="171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100%</a:t>
            </a:r>
          </a:p>
        </p:txBody>
      </p:sp>
      <p:sp>
        <p:nvSpPr>
          <p:cNvPr id="53" name="Content Placeholder 7">
            <a:extLst>
              <a:ext uri="{FF2B5EF4-FFF2-40B4-BE49-F238E27FC236}">
                <a16:creationId xmlns:a16="http://schemas.microsoft.com/office/drawing/2014/main" id="{A4E985DA-F921-41F5-2316-D094407A1B56}"/>
              </a:ext>
            </a:extLst>
          </p:cNvPr>
          <p:cNvSpPr txBox="1">
            <a:spLocks/>
          </p:cNvSpPr>
          <p:nvPr/>
        </p:nvSpPr>
        <p:spPr>
          <a:xfrm>
            <a:off x="7223048" y="4918831"/>
            <a:ext cx="1554480" cy="171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100%</a:t>
            </a:r>
          </a:p>
        </p:txBody>
      </p:sp>
      <p:sp>
        <p:nvSpPr>
          <p:cNvPr id="54" name="Content Placeholder 7">
            <a:extLst>
              <a:ext uri="{FF2B5EF4-FFF2-40B4-BE49-F238E27FC236}">
                <a16:creationId xmlns:a16="http://schemas.microsoft.com/office/drawing/2014/main" id="{43D5450B-241A-F348-F63F-97577730B49C}"/>
              </a:ext>
            </a:extLst>
          </p:cNvPr>
          <p:cNvSpPr txBox="1">
            <a:spLocks/>
          </p:cNvSpPr>
          <p:nvPr/>
        </p:nvSpPr>
        <p:spPr>
          <a:xfrm>
            <a:off x="7223048" y="5730953"/>
            <a:ext cx="1554480" cy="171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Ad hoc</a:t>
            </a:r>
          </a:p>
        </p:txBody>
      </p:sp>
      <p:sp>
        <p:nvSpPr>
          <p:cNvPr id="472" name="Content Placeholder 7">
            <a:extLst>
              <a:ext uri="{FF2B5EF4-FFF2-40B4-BE49-F238E27FC236}">
                <a16:creationId xmlns:a16="http://schemas.microsoft.com/office/drawing/2014/main" id="{BC69A8EE-AA5A-DE2D-F40E-6F87E6933085}"/>
              </a:ext>
            </a:extLst>
          </p:cNvPr>
          <p:cNvSpPr txBox="1">
            <a:spLocks/>
          </p:cNvSpPr>
          <p:nvPr/>
        </p:nvSpPr>
        <p:spPr>
          <a:xfrm>
            <a:off x="7223048" y="1744376"/>
            <a:ext cx="1554480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Weekly allocation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AFC560C7-9247-B720-1F10-DFA1919540BB}"/>
              </a:ext>
            </a:extLst>
          </p:cNvPr>
          <p:cNvSpPr txBox="1"/>
          <p:nvPr/>
        </p:nvSpPr>
        <p:spPr>
          <a:xfrm>
            <a:off x="9041430" y="1536701"/>
            <a:ext cx="2595834" cy="4673600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rgbClr val="2F363B"/>
                </a:solidFill>
              </a:defRPr>
            </a:lvl1pPr>
            <a:lvl2pPr marL="0" lvl="1" indent="0">
              <a:buSzPct val="100000"/>
              <a:buChar char="​"/>
              <a:defRPr sz="1100">
                <a:solidFill>
                  <a:srgbClr val="2F363B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" name="Content Placeholder 7">
            <a:extLst>
              <a:ext uri="{FF2B5EF4-FFF2-40B4-BE49-F238E27FC236}">
                <a16:creationId xmlns:a16="http://schemas.microsoft.com/office/drawing/2014/main" id="{C98E7EEB-1A1C-8232-FBF8-589F656417EC}"/>
              </a:ext>
            </a:extLst>
          </p:cNvPr>
          <p:cNvSpPr txBox="1">
            <a:spLocks/>
          </p:cNvSpPr>
          <p:nvPr/>
        </p:nvSpPr>
        <p:spPr>
          <a:xfrm>
            <a:off x="2450786" y="2291326"/>
            <a:ext cx="4662307" cy="5539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 </a:t>
            </a:r>
            <a:r>
              <a:rPr lang="en-GB" sz="1200" kern="0">
                <a:latin typeface="+mn-lt"/>
              </a:rPr>
              <a:t>e.g. 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Overall responsible for engagement]</a:t>
            </a:r>
          </a:p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59" name="Content Placeholder 7">
            <a:extLst>
              <a:ext uri="{FF2B5EF4-FFF2-40B4-BE49-F238E27FC236}">
                <a16:creationId xmlns:a16="http://schemas.microsoft.com/office/drawing/2014/main" id="{88BB7322-D124-9ABD-5A5F-D3E01C6EF177}"/>
              </a:ext>
            </a:extLst>
          </p:cNvPr>
          <p:cNvSpPr txBox="1">
            <a:spLocks/>
          </p:cNvSpPr>
          <p:nvPr/>
        </p:nvSpPr>
        <p:spPr>
          <a:xfrm>
            <a:off x="2450786" y="3195780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61" name="Content Placeholder 7">
            <a:extLst>
              <a:ext uri="{FF2B5EF4-FFF2-40B4-BE49-F238E27FC236}">
                <a16:creationId xmlns:a16="http://schemas.microsoft.com/office/drawing/2014/main" id="{3D1BC69E-76FC-3E24-BC0C-0C66AAAE8B06}"/>
              </a:ext>
            </a:extLst>
          </p:cNvPr>
          <p:cNvSpPr txBox="1">
            <a:spLocks/>
          </p:cNvSpPr>
          <p:nvPr/>
        </p:nvSpPr>
        <p:spPr>
          <a:xfrm>
            <a:off x="2450786" y="4007901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63" name="Content Placeholder 7">
            <a:extLst>
              <a:ext uri="{FF2B5EF4-FFF2-40B4-BE49-F238E27FC236}">
                <a16:creationId xmlns:a16="http://schemas.microsoft.com/office/drawing/2014/main" id="{0B0DA42C-2535-2754-E837-4E606CE35DC6}"/>
              </a:ext>
            </a:extLst>
          </p:cNvPr>
          <p:cNvSpPr txBox="1">
            <a:spLocks/>
          </p:cNvSpPr>
          <p:nvPr/>
        </p:nvSpPr>
        <p:spPr>
          <a:xfrm>
            <a:off x="2450786" y="4820022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466" name="Content Placeholder 7">
            <a:extLst>
              <a:ext uri="{FF2B5EF4-FFF2-40B4-BE49-F238E27FC236}">
                <a16:creationId xmlns:a16="http://schemas.microsoft.com/office/drawing/2014/main" id="{450D759C-5CAE-4D91-8634-00ABF9999F1F}"/>
              </a:ext>
            </a:extLst>
          </p:cNvPr>
          <p:cNvSpPr txBox="1">
            <a:spLocks/>
          </p:cNvSpPr>
          <p:nvPr/>
        </p:nvSpPr>
        <p:spPr>
          <a:xfrm>
            <a:off x="2450786" y="5632144"/>
            <a:ext cx="4662307" cy="3693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defTabSz="914400">
              <a:spcBef>
                <a:spcPts val="600"/>
              </a:spcBef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R="0" lvl="1" defTabSz="914400" fontAlgn="auto">
              <a:lnSpc>
                <a:spcPct val="93000"/>
              </a:lnSpc>
              <a:buClr>
                <a:srgbClr val="3D3935"/>
              </a:buClr>
              <a:buSzTx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+mn-lt"/>
                <a:cs typeface="Arial" pitchFamily="34" charset="0"/>
              </a:defRPr>
            </a:lvl2pPr>
            <a:lvl3pPr defTabSz="914400">
              <a:spcBef>
                <a:spcPts val="600"/>
              </a:spcBef>
              <a:buClr>
                <a:schemeClr val="tx1"/>
              </a:buClr>
              <a:buChar char="-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 defTabSz="914400">
              <a:spcBef>
                <a:spcPts val="600"/>
              </a:spcBef>
              <a:buClr>
                <a:schemeClr val="tx1"/>
              </a:buClr>
              <a:buChar char="»"/>
              <a:tabLst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 marL="576000" indent="-180000" defTabSz="914400">
              <a:spcBef>
                <a:spcPts val="600"/>
              </a:spcBef>
              <a:buClr>
                <a:schemeClr val="tx1"/>
              </a:buClr>
              <a:buChar char="·"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  <a:lvl6pPr marL="25146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</a:defRPr>
            </a:lvl8pPr>
            <a:lvl9pPr marL="3886200" indent="-228600" defTabSz="9144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173736" marR="0" lvl="1" indent="-173736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  <a:p>
            <a:pPr marL="173736" lvl="1" indent="-173736" defTabSz="742950">
              <a:lnSpc>
                <a:spcPct val="100000"/>
              </a:lnSpc>
              <a:buClrTx/>
              <a:buSzPct val="100000"/>
              <a:buFont typeface="Arial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responsibilities on project]</a:t>
            </a:r>
          </a:p>
        </p:txBody>
      </p:sp>
      <p:sp>
        <p:nvSpPr>
          <p:cNvPr id="468" name="Content Placeholder 7">
            <a:extLst>
              <a:ext uri="{FF2B5EF4-FFF2-40B4-BE49-F238E27FC236}">
                <a16:creationId xmlns:a16="http://schemas.microsoft.com/office/drawing/2014/main" id="{4136A188-2C5F-A326-4CBC-A318B56B1C26}"/>
              </a:ext>
            </a:extLst>
          </p:cNvPr>
          <p:cNvSpPr txBox="1">
            <a:spLocks/>
          </p:cNvSpPr>
          <p:nvPr/>
        </p:nvSpPr>
        <p:spPr>
          <a:xfrm>
            <a:off x="2450786" y="1744376"/>
            <a:ext cx="603455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Role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92E86A-DF11-CCCC-853A-B148E21F1EFA}"/>
              </a:ext>
            </a:extLst>
          </p:cNvPr>
          <p:cNvCxnSpPr>
            <a:cxnSpLocks/>
          </p:cNvCxnSpPr>
          <p:nvPr/>
        </p:nvCxnSpPr>
        <p:spPr>
          <a:xfrm>
            <a:off x="658756" y="2052247"/>
            <a:ext cx="1558642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239108-562C-AC17-0C35-8874DA707C3B}"/>
              </a:ext>
            </a:extLst>
          </p:cNvPr>
          <p:cNvCxnSpPr>
            <a:cxnSpLocks/>
          </p:cNvCxnSpPr>
          <p:nvPr/>
        </p:nvCxnSpPr>
        <p:spPr>
          <a:xfrm>
            <a:off x="2386422" y="2052247"/>
            <a:ext cx="4663440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310DB1-C841-B321-35AF-2C697DB4F5C7}"/>
              </a:ext>
            </a:extLst>
          </p:cNvPr>
          <p:cNvCxnSpPr>
            <a:cxnSpLocks/>
          </p:cNvCxnSpPr>
          <p:nvPr/>
        </p:nvCxnSpPr>
        <p:spPr>
          <a:xfrm>
            <a:off x="7218885" y="2052247"/>
            <a:ext cx="1558642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35945D6-4700-6571-35AA-5C6FB81ABC0A}"/>
              </a:ext>
            </a:extLst>
          </p:cNvPr>
          <p:cNvSpPr txBox="1">
            <a:spLocks/>
          </p:cNvSpPr>
          <p:nvPr/>
        </p:nvSpPr>
        <p:spPr>
          <a:xfrm>
            <a:off x="9127605" y="2291326"/>
            <a:ext cx="2423484" cy="21236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investment in the allocated team is xx/week.</a:t>
            </a:r>
          </a:p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Project expenses (e.g., travelling and accommodation) will be invoiced separately.</a:t>
            </a:r>
          </a:p>
          <a:p>
            <a:pPr marL="171450" lvl="1" indent="-171450" defTabSz="7429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project is expected to run for xx weeks, amounting to a maximum investment of xx, excl. expenses.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91E3D07F-EC11-BE98-8111-3526FABF006A}"/>
              </a:ext>
            </a:extLst>
          </p:cNvPr>
          <p:cNvSpPr txBox="1">
            <a:spLocks/>
          </p:cNvSpPr>
          <p:nvPr/>
        </p:nvSpPr>
        <p:spPr>
          <a:xfrm>
            <a:off x="9562107" y="1744376"/>
            <a:ext cx="1554480" cy="2003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Investment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DE0533-3741-558B-76E7-8DA46FA31304}"/>
              </a:ext>
            </a:extLst>
          </p:cNvPr>
          <p:cNvCxnSpPr>
            <a:cxnSpLocks/>
          </p:cNvCxnSpPr>
          <p:nvPr/>
        </p:nvCxnSpPr>
        <p:spPr>
          <a:xfrm>
            <a:off x="9127767" y="2052247"/>
            <a:ext cx="2423160" cy="0"/>
          </a:xfrm>
          <a:prstGeom prst="line">
            <a:avLst/>
          </a:prstGeom>
          <a:ln w="15875" cap="sq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AC863EC5-FA2A-F179-7E91-365F1E5D0B6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21078093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