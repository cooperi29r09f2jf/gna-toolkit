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9.xml" ContentType="application/vnd.openxmlformats-officedocument.presentationml.tags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27" r:id="rId2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1776183575266017E-3"/>
          <c:y val="3.6733272477581136E-3"/>
          <c:w val="0.99046714492742016"/>
          <c:h val="0.87899733158582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[Dimension 1]</c:v>
                </c:pt>
              </c:strCache>
            </c:strRef>
          </c:tx>
          <c:spPr>
            <a:solidFill>
              <a:srgbClr val="02504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+mn-lt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[Segment 1]</c:v>
                </c:pt>
                <c:pt idx="1">
                  <c:v>[Segment 2]</c:v>
                </c:pt>
                <c:pt idx="2">
                  <c:v>[Segment 3]</c:v>
                </c:pt>
                <c:pt idx="3">
                  <c:v>[Segment 4]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69</c:v>
                </c:pt>
                <c:pt idx="2">
                  <c:v>53</c:v>
                </c:pt>
                <c:pt idx="3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00-4CEE-B3EB-531A5C851A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[Dimension 3]</c:v>
                </c:pt>
              </c:strCache>
            </c:strRef>
          </c:tx>
          <c:spPr>
            <a:solidFill>
              <a:srgbClr val="5B918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+mn-lt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[Segment 1]</c:v>
                </c:pt>
                <c:pt idx="1">
                  <c:v>[Segment 2]</c:v>
                </c:pt>
                <c:pt idx="2">
                  <c:v>[Segment 3]</c:v>
                </c:pt>
                <c:pt idx="3">
                  <c:v>[Segment 4]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</c:v>
                </c:pt>
                <c:pt idx="1">
                  <c:v>56</c:v>
                </c:pt>
                <c:pt idx="2">
                  <c:v>49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C00-4CEE-B3EB-531A5C851A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[Dimension 2]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+mn-lt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[Segment 1]</c:v>
                </c:pt>
                <c:pt idx="1">
                  <c:v>[Segment 2]</c:v>
                </c:pt>
                <c:pt idx="2">
                  <c:v>[Segment 3]</c:v>
                </c:pt>
                <c:pt idx="3">
                  <c:v>[Segment 4]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</c:v>
                </c:pt>
                <c:pt idx="1">
                  <c:v>50</c:v>
                </c:pt>
                <c:pt idx="2">
                  <c:v>44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C00-4CEE-B3EB-531A5C851A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-25"/>
        <c:axId val="402380168"/>
        <c:axId val="281960872"/>
      </c:barChart>
      <c:catAx>
        <c:axId val="402380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vert="horz"/>
          <a:lstStyle/>
          <a:p>
            <a:pPr>
              <a:defRPr sz="1200"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281960872"/>
        <c:crosses val="autoZero"/>
        <c:auto val="1"/>
        <c:lblAlgn val="ctr"/>
        <c:lblOffset val="100"/>
        <c:noMultiLvlLbl val="0"/>
      </c:catAx>
      <c:valAx>
        <c:axId val="281960872"/>
        <c:scaling>
          <c:orientation val="minMax"/>
        </c:scaling>
        <c:delete val="0"/>
        <c:axPos val="l"/>
        <c:majorGridlines>
          <c:spPr>
            <a:ln>
              <a:solidFill>
                <a:srgbClr val="FFFFFF">
                  <a:lumMod val="75000"/>
                </a:srgbClr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>
                <a:latin typeface="+mn-lt"/>
                <a:ea typeface="Verdana" panose="020B06040305040402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40238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+mn-lt"/>
        </a:defRPr>
      </a:pPr>
      <a:endParaRPr lang="en-US"/>
    </a:p>
  </c:tx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9.xml"/><Relationship Id="rId5" Type="http://schemas.openxmlformats.org/officeDocument/2006/relationships/chart" Target="../charts/chart3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[Grouped column chart with takeaways / Insert action title]</a:t>
            </a:r>
            <a:endParaRPr lang="en-DK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810ED01-0746-627A-EB87-764F8AD09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446AC21-3788-49BC-B078-7C9652A2C8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11" name="Chart 1">
            <a:extLst>
              <a:ext uri="{FF2B5EF4-FFF2-40B4-BE49-F238E27FC236}">
                <a16:creationId xmlns:a16="http://schemas.microsoft.com/office/drawing/2014/main" id="{71E6209A-CE27-08ED-45CA-C3BDB10B2E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262729"/>
              </p:ext>
            </p:extLst>
          </p:nvPr>
        </p:nvGraphicFramePr>
        <p:xfrm>
          <a:off x="544010" y="2901967"/>
          <a:ext cx="7210789" cy="3241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ED117233-9862-A4FF-059B-ED7664786DAA}"/>
              </a:ext>
            </a:extLst>
          </p:cNvPr>
          <p:cNvSpPr>
            <a:spLocks/>
          </p:cNvSpPr>
          <p:nvPr/>
        </p:nvSpPr>
        <p:spPr>
          <a:xfrm>
            <a:off x="3930375" y="2450603"/>
            <a:ext cx="1053976" cy="1846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D7A6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[Dimension 1]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D3D0C9-9607-376D-7742-3DB0A8DA8FFF}"/>
              </a:ext>
            </a:extLst>
          </p:cNvPr>
          <p:cNvSpPr>
            <a:spLocks/>
          </p:cNvSpPr>
          <p:nvPr/>
        </p:nvSpPr>
        <p:spPr>
          <a:xfrm>
            <a:off x="3654235" y="2435214"/>
            <a:ext cx="219456" cy="215444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tIns="108000" bIns="108000" rtlCol="0" anchor="t"/>
          <a:lstStyle/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BC05A2-EC11-A35E-32E8-3B8FE568181A}"/>
              </a:ext>
            </a:extLst>
          </p:cNvPr>
          <p:cNvSpPr>
            <a:spLocks/>
          </p:cNvSpPr>
          <p:nvPr/>
        </p:nvSpPr>
        <p:spPr>
          <a:xfrm>
            <a:off x="5315599" y="2450603"/>
            <a:ext cx="1053976" cy="1846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D7A6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[Dimension 2]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AFC680-9128-8BDE-3B41-CBF971E288B0}"/>
              </a:ext>
            </a:extLst>
          </p:cNvPr>
          <p:cNvSpPr>
            <a:spLocks/>
          </p:cNvSpPr>
          <p:nvPr/>
        </p:nvSpPr>
        <p:spPr>
          <a:xfrm>
            <a:off x="5039459" y="2435214"/>
            <a:ext cx="219456" cy="215444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tIns="108000" bIns="108000" rtlCol="0" anchor="t"/>
          <a:lstStyle/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31ADAA-0D7B-A5CB-3B91-7BC15D601770}"/>
              </a:ext>
            </a:extLst>
          </p:cNvPr>
          <p:cNvSpPr>
            <a:spLocks/>
          </p:cNvSpPr>
          <p:nvPr/>
        </p:nvSpPr>
        <p:spPr>
          <a:xfrm>
            <a:off x="6700823" y="2450603"/>
            <a:ext cx="1053976" cy="1846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3D7A6F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[Dimension 3]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EC284B-D6F8-EACA-026F-E4FA263305BC}"/>
              </a:ext>
            </a:extLst>
          </p:cNvPr>
          <p:cNvSpPr>
            <a:spLocks/>
          </p:cNvSpPr>
          <p:nvPr/>
        </p:nvSpPr>
        <p:spPr>
          <a:xfrm>
            <a:off x="6424683" y="2435214"/>
            <a:ext cx="219456" cy="215444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tIns="108000" bIns="108000" rtlCol="0" anchor="t"/>
          <a:lstStyle/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6952-4E66-BC9F-E833-3B9F9EF56577}"/>
              </a:ext>
            </a:extLst>
          </p:cNvPr>
          <p:cNvSpPr txBox="1"/>
          <p:nvPr/>
        </p:nvSpPr>
        <p:spPr>
          <a:xfrm>
            <a:off x="558609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[Description]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8D9ED5-98B3-0DB5-1908-8792957E5B61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7C93AB-5F9D-952A-A840-423DBF0E6A37}"/>
              </a:ext>
            </a:extLst>
          </p:cNvPr>
          <p:cNvSpPr txBox="1"/>
          <p:nvPr/>
        </p:nvSpPr>
        <p:spPr>
          <a:xfrm>
            <a:off x="558609" y="2404437"/>
            <a:ext cx="194863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[Unit]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865E2-6FB8-4F04-95CA-B8A4EAAE1D7E}"/>
              </a:ext>
            </a:extLst>
          </p:cNvPr>
          <p:cNvSpPr txBox="1"/>
          <p:nvPr/>
        </p:nvSpPr>
        <p:spPr>
          <a:xfrm>
            <a:off x="8106032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[Key takeaways/main conclusion]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296A66-7A3D-671D-A4A6-B15CE0EAA5A2}"/>
              </a:ext>
            </a:extLst>
          </p:cNvPr>
          <p:cNvCxnSpPr>
            <a:cxnSpLocks/>
          </p:cNvCxnSpPr>
          <p:nvPr/>
        </p:nvCxnSpPr>
        <p:spPr>
          <a:xfrm>
            <a:off x="7980920" y="16573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910C99-834A-4F60-702A-4C29B2014DD5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5A8A993-07C5-DB8D-113C-4798C5DBE8AD}"/>
              </a:ext>
            </a:extLst>
          </p:cNvPr>
          <p:cNvSpPr txBox="1"/>
          <p:nvPr/>
        </p:nvSpPr>
        <p:spPr>
          <a:xfrm>
            <a:off x="8240476" y="2551261"/>
            <a:ext cx="34006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latin typeface="+mn-lt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sp>
        <p:nvSpPr>
          <p:cNvPr id="8" name="Google Shape;507;p14">
            <a:extLst>
              <a:ext uri="{FF2B5EF4-FFF2-40B4-BE49-F238E27FC236}">
                <a16:creationId xmlns:a16="http://schemas.microsoft.com/office/drawing/2014/main" id="{05F214AD-7DD9-C2C5-3151-58DB71D4CB1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2" name="Google Shape;538;p14">
            <a:extLst>
              <a:ext uri="{FF2B5EF4-FFF2-40B4-BE49-F238E27FC236}">
                <a16:creationId xmlns:a16="http://schemas.microsoft.com/office/drawing/2014/main" id="{1E6C6E1E-2E54-0B9C-59B8-0BEDDC96B42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05626747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3.xml><?xml version="1.0" encoding="utf-8"?>
<a:themeOverride xmlns:a="http://schemas.openxmlformats.org/drawingml/2006/main">
  <a:clrScheme name="GNA">
    <a:dk1>
      <a:srgbClr val="262626"/>
    </a:dk1>
    <a:lt1>
      <a:srgbClr val="FFFFFF"/>
    </a:lt1>
    <a:dk2>
      <a:srgbClr val="025043"/>
    </a:dk2>
    <a:lt2>
      <a:srgbClr val="F2F2F2"/>
    </a:lt2>
    <a:accent1>
      <a:srgbClr val="025043"/>
    </a:accent1>
    <a:accent2>
      <a:srgbClr val="5B9188"/>
    </a:accent2>
    <a:accent3>
      <a:srgbClr val="013A31"/>
    </a:accent3>
    <a:accent4>
      <a:srgbClr val="3D7A6F"/>
    </a:accent4>
    <a:accent5>
      <a:srgbClr val="B3CBC7"/>
    </a:accent5>
    <a:accent6>
      <a:srgbClr val="8C8C8C"/>
    </a:accent6>
    <a:hlink>
      <a:srgbClr val="025043"/>
    </a:hlink>
    <a:folHlink>
      <a:srgbClr val="5B9188"/>
    </a:folHlink>
  </a:clrScheme>
  <a:fontScheme name="GNA Lora">
    <a:majorFont>
      <a:latin typeface="Lora"/>
      <a:ea typeface=""/>
      <a:cs typeface=""/>
    </a:majorFont>
    <a:minorFont>
      <a:latin typeface="Lora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