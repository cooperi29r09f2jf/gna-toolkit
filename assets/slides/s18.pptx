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07" r:id="rId22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22" Type="http://schemas.openxmlformats.org/officeDocument/2006/relationships/slide" Target="slides/slide18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6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The project is expected to result in [insert quantitative or qualitative outcome]</a:t>
            </a:r>
            <a:endParaRPr lang="en-DK"/>
          </a:p>
        </p:txBody>
      </p:sp>
      <p:sp>
        <p:nvSpPr>
          <p:cNvPr id="201" name="Subtitle 200">
            <a:extLst>
              <a:ext uri="{FF2B5EF4-FFF2-40B4-BE49-F238E27FC236}">
                <a16:creationId xmlns:a16="http://schemas.microsoft.com/office/drawing/2014/main" id="{B1585371-1774-495A-597C-143FE4F8A8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4" name="Text Placeholder 203">
            <a:extLst>
              <a:ext uri="{FF2B5EF4-FFF2-40B4-BE49-F238E27FC236}">
                <a16:creationId xmlns:a16="http://schemas.microsoft.com/office/drawing/2014/main" id="{1CE9E1AB-0BD3-DBB2-A7C9-3AC8C909D4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94">
            <a:extLst>
              <a:ext uri="{FF2B5EF4-FFF2-40B4-BE49-F238E27FC236}">
                <a16:creationId xmlns:a16="http://schemas.microsoft.com/office/drawing/2014/main" id="{441B7565-B8EE-8BFC-001F-F2FB8BFC4DE0}"/>
              </a:ext>
            </a:extLst>
          </p:cNvPr>
          <p:cNvSpPr>
            <a:spLocks/>
          </p:cNvSpPr>
          <p:nvPr/>
        </p:nvSpPr>
        <p:spPr bwMode="auto">
          <a:xfrm>
            <a:off x="2465599" y="2614516"/>
            <a:ext cx="94349" cy="64912"/>
          </a:xfrm>
          <a:custGeom>
            <a:avLst/>
            <a:gdLst>
              <a:gd name="T0" fmla="*/ 125 w 125"/>
              <a:gd name="T1" fmla="*/ 86 h 86"/>
              <a:gd name="T2" fmla="*/ 63 w 125"/>
              <a:gd name="T3" fmla="*/ 0 h 86"/>
              <a:gd name="T4" fmla="*/ 0 w 125"/>
              <a:gd name="T5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5" h="86">
                <a:moveTo>
                  <a:pt x="125" y="86"/>
                </a:moveTo>
                <a:lnTo>
                  <a:pt x="63" y="0"/>
                </a:lnTo>
                <a:lnTo>
                  <a:pt x="0" y="86"/>
                </a:lnTo>
              </a:path>
            </a:pathLst>
          </a:custGeom>
          <a:noFill/>
          <a:ln w="12700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indent="0" algn="l" defTabSz="7429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7429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0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7429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0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7429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000" b="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4pPr>
            <a:lvl5pPr marL="0" indent="0" algn="l" defTabSz="7429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b="1" kern="1200" cap="none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5pPr>
            <a:lvl6pPr marL="0" indent="0" algn="l" defTabSz="7429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b="1" kern="1200" cap="none" baseline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6pPr>
            <a:lvl7pPr marL="144000" indent="-144000" algn="l" defTabSz="7429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000" kern="1200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7429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  <a:defRPr sz="10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8pPr>
            <a:lvl9pPr marL="0" indent="0" algn="l" defTabSz="742950" rtl="0" eaLnBrk="1" latinLnBrk="0" hangingPunct="1">
              <a:lnSpc>
                <a:spcPct val="8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4800" kern="1200" cap="none" baseline="0">
                <a:solidFill>
                  <a:srgbClr val="1F2023"/>
                </a:solidFill>
                <a:latin typeface="Impact" panose="020B080603090205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​"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4" name="Content Placeholder 7">
            <a:extLst>
              <a:ext uri="{FF2B5EF4-FFF2-40B4-BE49-F238E27FC236}">
                <a16:creationId xmlns:a16="http://schemas.microsoft.com/office/drawing/2014/main" id="{DD083B10-6283-2D8B-BC7B-6C30EA54D3C8}"/>
              </a:ext>
            </a:extLst>
          </p:cNvPr>
          <p:cNvSpPr txBox="1">
            <a:spLocks/>
          </p:cNvSpPr>
          <p:nvPr/>
        </p:nvSpPr>
        <p:spPr>
          <a:xfrm>
            <a:off x="4340046" y="2551260"/>
            <a:ext cx="7296090" cy="5486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1F2023"/>
              </a:buClr>
              <a:buSz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Overall impact: 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comment on overall outcome of project e.g. Expected impact of 20-30% bottom line growth split across three main drivers]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Arial" pitchFamily="34" charset="0"/>
            </a:endParaRPr>
          </a:p>
        </p:txBody>
      </p:sp>
      <p:sp>
        <p:nvSpPr>
          <p:cNvPr id="45" name="Content Placeholder 7">
            <a:extLst>
              <a:ext uri="{FF2B5EF4-FFF2-40B4-BE49-F238E27FC236}">
                <a16:creationId xmlns:a16="http://schemas.microsoft.com/office/drawing/2014/main" id="{D1B6D430-4D77-2FC5-1392-6D8B3BE16928}"/>
              </a:ext>
            </a:extLst>
          </p:cNvPr>
          <p:cNvSpPr txBox="1">
            <a:spLocks/>
          </p:cNvSpPr>
          <p:nvPr/>
        </p:nvSpPr>
        <p:spPr>
          <a:xfrm>
            <a:off x="4340046" y="3383838"/>
            <a:ext cx="7296092" cy="124557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Business impact: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25043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main assumptions </a:t>
            </a:r>
            <a:r>
              <a:rPr lang="en-US" sz="1200" dirty="0">
                <a:latin typeface="+mn-lt"/>
              </a:rPr>
              <a:t>or notes around where revenue or savings are expected to come from (if relevant) e.g. from improved client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 performance, financial performance, process performance, as well as ranges of expected outcomes 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25043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sz="1200" dirty="0">
                <a:latin typeface="+mn-lt"/>
              </a:rPr>
              <a:t>[If relevant, include other non-quantitative business outcomes e.g.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compliance with external requirements or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othe</a:t>
            </a:r>
            <a:r>
              <a:rPr lang="en-US" sz="1200" dirty="0">
                <a:latin typeface="+mn-lt"/>
              </a:rPr>
              <a:t>r intangible benefits]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25043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…</a:t>
            </a:r>
          </a:p>
        </p:txBody>
      </p:sp>
      <p:sp>
        <p:nvSpPr>
          <p:cNvPr id="47" name="Content Placeholder 7">
            <a:extLst>
              <a:ext uri="{FF2B5EF4-FFF2-40B4-BE49-F238E27FC236}">
                <a16:creationId xmlns:a16="http://schemas.microsoft.com/office/drawing/2014/main" id="{DA837C96-1788-6D6F-F653-BF8AE618F7D0}"/>
              </a:ext>
            </a:extLst>
          </p:cNvPr>
          <p:cNvSpPr txBox="1">
            <a:spLocks/>
          </p:cNvSpPr>
          <p:nvPr/>
        </p:nvSpPr>
        <p:spPr>
          <a:xfrm>
            <a:off x="4340046" y="4913353"/>
            <a:ext cx="7296090" cy="124403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Organizational impact: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25043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</a:t>
            </a:r>
            <a:r>
              <a:rPr lang="en-US" sz="1200">
                <a:latin typeface="+mn-lt"/>
              </a:rPr>
              <a:t>t main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assumptions </a:t>
            </a:r>
            <a:r>
              <a:rPr lang="en-US" sz="1200">
                <a:latin typeface="+mn-lt"/>
              </a:rPr>
              <a:t>or notes around expected or desired impact along relevant dimensions e.g. </a:t>
            </a:r>
            <a:r>
              <a:rPr kumimoji="0" lang="en-US" sz="12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best practices applied, organizational capabilities demonstrated, technological capabilities demonstrated, competence, knowledge and abilities of employees etc</a:t>
            </a:r>
            <a:r>
              <a:rPr lang="en-US" sz="1200">
                <a:latin typeface="+mn-lt"/>
              </a:rPr>
              <a:t>.]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25043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…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25043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sz="1200">
                <a:latin typeface="+mn-lt"/>
              </a:rPr>
              <a:t>…</a:t>
            </a:r>
            <a:endParaRPr kumimoji="0" lang="en-US" sz="1200" b="0" i="0" u="none" strike="noStrike" kern="1200" cap="none" spc="0" normalizeH="0" baseline="0">
              <a:ln>
                <a:noFill/>
              </a:ln>
              <a:effectLst/>
              <a:uLnTx/>
              <a:uFillTx/>
              <a:latin typeface="+mn-lt"/>
            </a:endParaRPr>
          </a:p>
        </p:txBody>
      </p:sp>
      <p:sp>
        <p:nvSpPr>
          <p:cNvPr id="50" name="Content Placeholder 7">
            <a:extLst>
              <a:ext uri="{FF2B5EF4-FFF2-40B4-BE49-F238E27FC236}">
                <a16:creationId xmlns:a16="http://schemas.microsoft.com/office/drawing/2014/main" id="{3016AE07-BD6D-F66A-2527-EC2BF5B5B25D}"/>
              </a:ext>
            </a:extLst>
          </p:cNvPr>
          <p:cNvSpPr txBox="1">
            <a:spLocks/>
          </p:cNvSpPr>
          <p:nvPr/>
        </p:nvSpPr>
        <p:spPr>
          <a:xfrm>
            <a:off x="554736" y="5608743"/>
            <a:ext cx="3533989" cy="5486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vert="horz" wrap="square" lIns="72000" tIns="72000" rIns="73152" bIns="72000" rtlCol="0" anchor="ctr" anchorCtr="1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[Underlying behavioral change]</a:t>
            </a:r>
          </a:p>
        </p:txBody>
      </p:sp>
      <p:sp>
        <p:nvSpPr>
          <p:cNvPr id="51" name="Content Placeholder 7">
            <a:extLst>
              <a:ext uri="{FF2B5EF4-FFF2-40B4-BE49-F238E27FC236}">
                <a16:creationId xmlns:a16="http://schemas.microsoft.com/office/drawing/2014/main" id="{E466C3DB-8AAF-63AF-9FAC-51D2185749A0}"/>
              </a:ext>
            </a:extLst>
          </p:cNvPr>
          <p:cNvSpPr txBox="1">
            <a:spLocks/>
          </p:cNvSpPr>
          <p:nvPr/>
        </p:nvSpPr>
        <p:spPr>
          <a:xfrm>
            <a:off x="564261" y="4590173"/>
            <a:ext cx="1097804" cy="546869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vert="horz" wrap="square" lIns="72000" tIns="72000" rIns="73152" bIns="72000" rtlCol="0" anchor="ctr" anchorCtr="1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[Org. </a:t>
            </a:r>
            <a:b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</a:b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impact A]</a:t>
            </a:r>
          </a:p>
        </p:txBody>
      </p:sp>
      <p:sp>
        <p:nvSpPr>
          <p:cNvPr id="52" name="Content Placeholder 7">
            <a:extLst>
              <a:ext uri="{FF2B5EF4-FFF2-40B4-BE49-F238E27FC236}">
                <a16:creationId xmlns:a16="http://schemas.microsoft.com/office/drawing/2014/main" id="{800A78D7-61B6-D1C5-DCEB-74D15C0B9284}"/>
              </a:ext>
            </a:extLst>
          </p:cNvPr>
          <p:cNvSpPr txBox="1">
            <a:spLocks/>
          </p:cNvSpPr>
          <p:nvPr/>
        </p:nvSpPr>
        <p:spPr>
          <a:xfrm>
            <a:off x="1777591" y="4590173"/>
            <a:ext cx="1097804" cy="546869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vert="horz" wrap="square" lIns="72000" tIns="72000" rIns="73152" bIns="72000" rtlCol="0" anchor="ctr" anchorCtr="1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[Org. </a:t>
            </a:r>
            <a:b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</a:b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impact B]</a:t>
            </a:r>
          </a:p>
        </p:txBody>
      </p:sp>
      <p:sp>
        <p:nvSpPr>
          <p:cNvPr id="53" name="Content Placeholder 7">
            <a:extLst>
              <a:ext uri="{FF2B5EF4-FFF2-40B4-BE49-F238E27FC236}">
                <a16:creationId xmlns:a16="http://schemas.microsoft.com/office/drawing/2014/main" id="{83B81BBB-417E-E514-BBEE-D4E233DF0C1A}"/>
              </a:ext>
            </a:extLst>
          </p:cNvPr>
          <p:cNvSpPr txBox="1">
            <a:spLocks/>
          </p:cNvSpPr>
          <p:nvPr/>
        </p:nvSpPr>
        <p:spPr>
          <a:xfrm>
            <a:off x="553620" y="2551260"/>
            <a:ext cx="3535105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72000" tIns="72000" rIns="73152" bIns="72000" rtlCol="0" anchor="ctr" anchorCtr="1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Overall expected impact: xx [currency]</a:t>
            </a:r>
          </a:p>
        </p:txBody>
      </p:sp>
      <p:sp>
        <p:nvSpPr>
          <p:cNvPr id="54" name="Content Placeholder 7">
            <a:extLst>
              <a:ext uri="{FF2B5EF4-FFF2-40B4-BE49-F238E27FC236}">
                <a16:creationId xmlns:a16="http://schemas.microsoft.com/office/drawing/2014/main" id="{C12FF7A8-57EB-D00C-013D-E163B558614E}"/>
              </a:ext>
            </a:extLst>
          </p:cNvPr>
          <p:cNvSpPr txBox="1">
            <a:spLocks/>
          </p:cNvSpPr>
          <p:nvPr/>
        </p:nvSpPr>
        <p:spPr>
          <a:xfrm>
            <a:off x="564261" y="3571602"/>
            <a:ext cx="1097804" cy="5468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72000" tIns="72000" rIns="73152" bIns="72000" rtlCol="0" anchor="ctr" anchorCtr="1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1200">
                <a:solidFill>
                  <a:schemeClr val="bg1"/>
                </a:solidFill>
                <a:latin typeface="+mn-lt"/>
              </a:rPr>
              <a:t>[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Business impact A]</a:t>
            </a:r>
          </a:p>
        </p:txBody>
      </p:sp>
      <p:sp>
        <p:nvSpPr>
          <p:cNvPr id="55" name="Content Placeholder 7">
            <a:extLst>
              <a:ext uri="{FF2B5EF4-FFF2-40B4-BE49-F238E27FC236}">
                <a16:creationId xmlns:a16="http://schemas.microsoft.com/office/drawing/2014/main" id="{D48C5511-F5D9-2267-9EC1-EAD6D767A135}"/>
              </a:ext>
            </a:extLst>
          </p:cNvPr>
          <p:cNvSpPr txBox="1">
            <a:spLocks/>
          </p:cNvSpPr>
          <p:nvPr/>
        </p:nvSpPr>
        <p:spPr>
          <a:xfrm>
            <a:off x="2990921" y="3571602"/>
            <a:ext cx="1097804" cy="5468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72000" tIns="72000" rIns="73152" bIns="72000" rtlCol="0" anchor="ctr" anchorCtr="1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[Business impact C]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EB78B26-EA7D-E4BB-660A-473E1F340630}"/>
              </a:ext>
            </a:extLst>
          </p:cNvPr>
          <p:cNvCxnSpPr>
            <a:cxnSpLocks/>
          </p:cNvCxnSpPr>
          <p:nvPr/>
        </p:nvCxnSpPr>
        <p:spPr>
          <a:xfrm>
            <a:off x="4340046" y="3241869"/>
            <a:ext cx="7296090" cy="0"/>
          </a:xfrm>
          <a:prstGeom prst="line">
            <a:avLst/>
          </a:prstGeom>
          <a:ln w="9525" cap="rnd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B753635-F09D-0735-3DF5-1E36901A7F2A}"/>
              </a:ext>
            </a:extLst>
          </p:cNvPr>
          <p:cNvSpPr txBox="1"/>
          <p:nvPr/>
        </p:nvSpPr>
        <p:spPr>
          <a:xfrm>
            <a:off x="4341172" y="1780461"/>
            <a:ext cx="7296092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Assumptions and considerations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D9D846-F1A0-B38D-0E22-B10F8E1B3399}"/>
              </a:ext>
            </a:extLst>
          </p:cNvPr>
          <p:cNvCxnSpPr>
            <a:cxnSpLocks/>
          </p:cNvCxnSpPr>
          <p:nvPr/>
        </p:nvCxnSpPr>
        <p:spPr>
          <a:xfrm>
            <a:off x="4340064" y="2292428"/>
            <a:ext cx="72972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AA80CCE-BEC9-0097-301D-B67809096B93}"/>
              </a:ext>
            </a:extLst>
          </p:cNvPr>
          <p:cNvSpPr txBox="1"/>
          <p:nvPr/>
        </p:nvSpPr>
        <p:spPr>
          <a:xfrm>
            <a:off x="554736" y="1780461"/>
            <a:ext cx="3535105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High-level business case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15C81A-762C-65EE-3668-08D705BEEE43}"/>
              </a:ext>
            </a:extLst>
          </p:cNvPr>
          <p:cNvCxnSpPr>
            <a:cxnSpLocks/>
          </p:cNvCxnSpPr>
          <p:nvPr/>
        </p:nvCxnSpPr>
        <p:spPr>
          <a:xfrm>
            <a:off x="4214952" y="1657350"/>
            <a:ext cx="1" cy="45000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2157DA-BE56-F257-1354-54B42799E268}"/>
              </a:ext>
            </a:extLst>
          </p:cNvPr>
          <p:cNvCxnSpPr>
            <a:cxnSpLocks/>
          </p:cNvCxnSpPr>
          <p:nvPr/>
        </p:nvCxnSpPr>
        <p:spPr>
          <a:xfrm>
            <a:off x="554736" y="2292428"/>
            <a:ext cx="353510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5E0B09F-6E61-4493-8D51-C3CA341FF7E1}"/>
              </a:ext>
            </a:extLst>
          </p:cNvPr>
          <p:cNvSpPr txBox="1">
            <a:spLocks/>
          </p:cNvSpPr>
          <p:nvPr/>
        </p:nvSpPr>
        <p:spPr>
          <a:xfrm>
            <a:off x="1777591" y="3571602"/>
            <a:ext cx="1097804" cy="5468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72000" tIns="72000" rIns="73152" bIns="72000" rtlCol="0" anchor="ctr" anchorCtr="1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[Business impact B]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73CC85-D776-9994-C3DC-1A5A4E012B72}"/>
              </a:ext>
            </a:extLst>
          </p:cNvPr>
          <p:cNvCxnSpPr>
            <a:cxnSpLocks/>
          </p:cNvCxnSpPr>
          <p:nvPr/>
        </p:nvCxnSpPr>
        <p:spPr>
          <a:xfrm flipV="1">
            <a:off x="2321731" y="5137042"/>
            <a:ext cx="4762" cy="471701"/>
          </a:xfrm>
          <a:prstGeom prst="straightConnector1">
            <a:avLst/>
          </a:prstGeom>
          <a:ln w="6350" cap="sq">
            <a:solidFill>
              <a:srgbClr val="0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CE88586-8BE5-1C92-A4DF-CF8E9B07C87E}"/>
              </a:ext>
            </a:extLst>
          </p:cNvPr>
          <p:cNvCxnSpPr>
            <a:cxnSpLocks/>
            <a:stCxn id="52" idx="0"/>
            <a:endCxn id="12" idx="2"/>
          </p:cNvCxnSpPr>
          <p:nvPr/>
        </p:nvCxnSpPr>
        <p:spPr>
          <a:xfrm flipV="1">
            <a:off x="2326493" y="4118471"/>
            <a:ext cx="0" cy="471702"/>
          </a:xfrm>
          <a:prstGeom prst="straightConnector1">
            <a:avLst/>
          </a:prstGeom>
          <a:ln w="6350" cap="sq">
            <a:solidFill>
              <a:srgbClr val="0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7CBF36E-20B3-C32A-9BCC-B8F2EAC3AB14}"/>
              </a:ext>
            </a:extLst>
          </p:cNvPr>
          <p:cNvCxnSpPr>
            <a:cxnSpLocks/>
          </p:cNvCxnSpPr>
          <p:nvPr/>
        </p:nvCxnSpPr>
        <p:spPr>
          <a:xfrm flipV="1">
            <a:off x="1110782" y="5137042"/>
            <a:ext cx="4762" cy="471701"/>
          </a:xfrm>
          <a:prstGeom prst="straightConnector1">
            <a:avLst/>
          </a:prstGeom>
          <a:ln w="6350" cap="sq">
            <a:solidFill>
              <a:srgbClr val="0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95392EE-3E8A-787C-4892-461F41A560CB}"/>
              </a:ext>
            </a:extLst>
          </p:cNvPr>
          <p:cNvCxnSpPr>
            <a:cxnSpLocks/>
            <a:stCxn id="51" idx="0"/>
            <a:endCxn id="54" idx="2"/>
          </p:cNvCxnSpPr>
          <p:nvPr/>
        </p:nvCxnSpPr>
        <p:spPr>
          <a:xfrm flipV="1">
            <a:off x="1113163" y="4118471"/>
            <a:ext cx="0" cy="471702"/>
          </a:xfrm>
          <a:prstGeom prst="straightConnector1">
            <a:avLst/>
          </a:prstGeom>
          <a:ln w="6350" cap="sq">
            <a:solidFill>
              <a:srgbClr val="0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C997D37-F4AA-3650-C32A-BCDA41893BF4}"/>
              </a:ext>
            </a:extLst>
          </p:cNvPr>
          <p:cNvCxnSpPr>
            <a:cxnSpLocks/>
          </p:cNvCxnSpPr>
          <p:nvPr/>
        </p:nvCxnSpPr>
        <p:spPr>
          <a:xfrm flipH="1" flipV="1">
            <a:off x="2321173" y="3099900"/>
            <a:ext cx="5320" cy="471702"/>
          </a:xfrm>
          <a:prstGeom prst="straightConnector1">
            <a:avLst/>
          </a:prstGeom>
          <a:ln w="6350" cap="sq">
            <a:solidFill>
              <a:srgbClr val="0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9AC16ABC-09EC-2CEB-BE1C-8D11D188532A}"/>
              </a:ext>
            </a:extLst>
          </p:cNvPr>
          <p:cNvCxnSpPr>
            <a:cxnSpLocks/>
          </p:cNvCxnSpPr>
          <p:nvPr/>
        </p:nvCxnSpPr>
        <p:spPr>
          <a:xfrm flipH="1" flipV="1">
            <a:off x="3537163" y="3099900"/>
            <a:ext cx="5320" cy="471702"/>
          </a:xfrm>
          <a:prstGeom prst="straightConnector1">
            <a:avLst/>
          </a:prstGeom>
          <a:ln w="6350" cap="sq">
            <a:solidFill>
              <a:srgbClr val="0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4314A87-9664-0CAB-B650-8AF5EC11D5A5}"/>
              </a:ext>
            </a:extLst>
          </p:cNvPr>
          <p:cNvCxnSpPr>
            <a:cxnSpLocks/>
          </p:cNvCxnSpPr>
          <p:nvPr/>
        </p:nvCxnSpPr>
        <p:spPr>
          <a:xfrm flipH="1" flipV="1">
            <a:off x="1110503" y="3099900"/>
            <a:ext cx="5320" cy="471702"/>
          </a:xfrm>
          <a:prstGeom prst="straightConnector1">
            <a:avLst/>
          </a:prstGeom>
          <a:ln w="6350" cap="sq">
            <a:solidFill>
              <a:srgbClr val="0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B84DE21D-E239-DBA7-A40C-17CA69209D52}"/>
              </a:ext>
            </a:extLst>
          </p:cNvPr>
          <p:cNvCxnSpPr>
            <a:cxnSpLocks/>
          </p:cNvCxnSpPr>
          <p:nvPr/>
        </p:nvCxnSpPr>
        <p:spPr>
          <a:xfrm>
            <a:off x="4340046" y="4771385"/>
            <a:ext cx="7296090" cy="0"/>
          </a:xfrm>
          <a:prstGeom prst="line">
            <a:avLst/>
          </a:prstGeom>
          <a:ln w="9525" cap="rnd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42DAC959-B1C0-10B6-DFD1-310CD3594221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214872394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18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